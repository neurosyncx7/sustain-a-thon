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rial Bold" charset="1" panose="020B0704020202020204"/>
      <p:regular r:id="rId17"/>
    </p:embeddedFont>
    <p:embeddedFont>
      <p:font typeface="Calibri (MS) Italics" charset="1" panose="020F05020202040A0204"/>
      <p:regular r:id="rId18"/>
    </p:embeddedFont>
    <p:embeddedFont>
      <p:font typeface="Calibri (MS) Bold" charset="1" panose="020F0702030404030204"/>
      <p:regular r:id="rId19"/>
    </p:embeddedFont>
    <p:embeddedFont>
      <p:font typeface="Arial"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notesMaster" Target="notesMasters/notesMaster1.xml"/><Relationship Id="rId15" Type="http://schemas.openxmlformats.org/officeDocument/2006/relationships/theme" Target="theme/theme2.xml"/><Relationship Id="rId16" Type="http://schemas.openxmlformats.org/officeDocument/2006/relationships/notesSlide" Target="notesSlides/notesSlide1.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Slide" Target="notesSlides/notesSlide2.xml"/><Relationship Id="rId21" Type="http://schemas.openxmlformats.org/officeDocument/2006/relationships/font" Target="fonts/font21.fntdata"/><Relationship Id="rId22" Type="http://schemas.openxmlformats.org/officeDocument/2006/relationships/notesSlide" Target="notesSlides/notesSlide3.xml"/><Relationship Id="rId23" Type="http://schemas.openxmlformats.org/officeDocument/2006/relationships/notesSlide" Target="notesSlides/notesSlide4.xml"/><Relationship Id="rId24" Type="http://schemas.openxmlformats.org/officeDocument/2006/relationships/notesSlide" Target="notesSlides/notesSlide5.xml"/><Relationship Id="rId25" Type="http://schemas.openxmlformats.org/officeDocument/2006/relationships/notesSlide" Target="notesSlides/notesSlide6.xml"/><Relationship Id="rId26" Type="http://schemas.openxmlformats.org/officeDocument/2006/relationships/notesSlide" Target="notesSlides/notesSlide7.xml"/><Relationship Id="rId27" Type="http://schemas.openxmlformats.org/officeDocument/2006/relationships/notesSlide" Target="notesSlides/not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B3A7A"/>
                </a:solidFill>
                <a:latin typeface="Arial"/>
              </a:rPr>
              <a:t>Clear methane pixels over India per day, by month</a:t>
            </a:r>
          </a:p>
        </c:rich>
      </c:tx>
      <c:layout/>
      <c:overlay val="0"/>
    </c:title>
    <c:autoTitleDeleted val="0"/>
    <c:plotArea>
      <c:barChart>
        <c:barDir val="col"/>
        <c:grouping val="clustered"/>
        <c:ser>
          <c:idx val="0"/>
          <c:order val="0"/>
          <c:tx>
            <c:strRef>
              <c:f>Sheet1!$B$1</c:f>
              <c:strCache>
                <c:ptCount val="1"/>
                <c:pt idx="0">
                  <c:v>Clear pixels per day</c:v>
                </c:pt>
              </c:strCache>
            </c:strRef>
          </c:tx>
          <c:spPr>
            <a:solidFill>
              <a:srgbClr val="1E6FD9"/>
            </a:solidFill>
          </c:spPr>
          <c:dPt>
            <c:idx val="5"/>
            <c:spPr>
              <a:solidFill>
                <a:srgbClr val="E0662B"/>
              </a:solidFill>
            </c:spPr>
          </c:dPt>
          <c:dPt>
            <c:idx val="6"/>
            <c:spPr>
              <a:solidFill>
                <a:srgbClr val="E0662B"/>
              </a:solidFill>
            </c:spPr>
          </c:dPt>
          <c:dPt>
            <c:idx val="7"/>
            <c:spPr>
              <a:solidFill>
                <a:srgbClr val="E0662B"/>
              </a:solidFill>
            </c:spPr>
          </c:dPt>
          <c:dPt>
            <c:idx val="8"/>
            <c:spPr>
              <a:solidFill>
                <a:srgbClr val="E0662B"/>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24659</c:v>
                </c:pt>
                <c:pt idx="1">
                  <c:v>26473</c:v>
                </c:pt>
                <c:pt idx="2">
                  <c:v>20843</c:v>
                </c:pt>
                <c:pt idx="3">
                  <c:v>14770</c:v>
                </c:pt>
                <c:pt idx="4">
                  <c:v>8555</c:v>
                </c:pt>
                <c:pt idx="5">
                  <c:v>3027</c:v>
                </c:pt>
                <c:pt idx="6">
                  <c:v>600</c:v>
                </c:pt>
                <c:pt idx="7">
                  <c:v>916</c:v>
                </c:pt>
                <c:pt idx="8">
                  <c:v>3471</c:v>
                </c:pt>
                <c:pt idx="9">
                  <c:v>14459</c:v>
                </c:pt>
                <c:pt idx="10">
                  <c:v>26535</c:v>
                </c:pt>
                <c:pt idx="11">
                  <c:v>26554</c:v>
                </c:pt>
              </c:numCache>
            </c:numRef>
          </c:val>
        </c:ser>
        <c:dLbls>
          <c:numFmt formatCode="#,##0" sourceLinked="0"/>
          <c:txPr>
            <a:bodyPr/>
            <a:lstStyle/>
            <a:p>
              <a:pPr>
                <a:defRPr sz="1100">
                  <a:solidFill>
                    <a:srgbClr val="5B6B8C"/>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5DEEE"/>
            </a:solidFill>
          </a:ln>
        </c:spPr>
        <c:txPr>
          <a:bodyPr/>
          <a:lstStyle/>
          <a:p>
            <a:pPr>
              <a:defRPr sz="13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400">
          <a:solidFill>
            <a:srgbClr val="1F293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B3A7A"/>
                </a:solidFill>
                <a:latin typeface="Arial"/>
              </a:rPr>
              <a:t>Detection floor, t CH₄/h (1σ), step by step</a:t>
            </a:r>
          </a:p>
        </c:rich>
      </c:tx>
      <c:layout/>
      <c:overlay val="0"/>
    </c:title>
    <c:autoTitleDeleted val="0"/>
    <c:plotArea>
      <c:barChart>
        <c:barDir val="bar"/>
        <c:grouping val="clustered"/>
        <c:ser>
          <c:idx val="0"/>
          <c:order val="0"/>
          <c:tx>
            <c:strRef>
              <c:f>Sheet1!$B$1</c:f>
              <c:strCache>
                <c:ptCount val="1"/>
                <c:pt idx="0">
                  <c:v>Floor</c:v>
                </c:pt>
              </c:strCache>
            </c:strRef>
          </c:tx>
          <c:spPr>
            <a:solidFill>
              <a:srgbClr val="D5DEEE"/>
            </a:solidFill>
          </c:spPr>
          <c:dPt>
            <c:idx val="0"/>
            <c:spPr>
              <a:solidFill>
                <a:srgbClr val="F9CE26"/>
              </a:solidFill>
            </c:spPr>
          </c:dPt>
          <c:dPt>
            <c:idx val="1"/>
            <c:spPr>
              <a:solidFill>
                <a:srgbClr val="1E6FD9"/>
              </a:solidFill>
            </c:spPr>
          </c:dPt>
          <c:dPt>
            <c:idx val="2"/>
            <c:spPr>
              <a:solidFill>
                <a:srgbClr val="1E6FD9"/>
              </a:solidFill>
            </c:spPr>
          </c:dPt>
          <c:dPt>
            <c:idx val="3"/>
            <c:spPr>
              <a:solidFill>
                <a:srgbClr val="1E6FD9"/>
              </a:solidFill>
            </c:spPr>
          </c:dPt>
          <c:dPt>
            <c:idx val="4"/>
            <c:spPr>
              <a:solidFill>
                <a:srgbClr val="1E6FD9"/>
              </a:solidFill>
            </c:spPr>
          </c:dPt>
          <c:cat>
            <c:strRef>
              <c:f>Sheet1!$A$2:$A$8</c:f>
              <c:strCache>
                <c:ptCount val="7"/>
                <c:pt idx="0">
                  <c:v>+ KPW</c:v>
                </c:pt>
                <c:pt idx="1">
                  <c:v>+ ABD</c:v>
                </c:pt>
                <c:pt idx="2">
                  <c:v>+ Footprint drizzle</c:v>
                </c:pt>
                <c:pt idx="3">
                  <c:v>+ Wind rotation</c:v>
                </c:pt>
                <c:pt idx="4">
                  <c:v>+ Monsoon &amp; noise</c:v>
                </c:pt>
                <c:pt idx="5">
                  <c:v>+ Plane background</c:v>
                </c:pt>
                <c:pt idx="6">
                  <c:v>Raw</c:v>
                </c:pt>
              </c:strCache>
            </c:strRef>
          </c:cat>
          <c:val>
            <c:numRef>
              <c:f>Sheet1!$B$2:$B$8</c:f>
              <c:numCache>
                <c:formatCode>General</c:formatCode>
                <c:ptCount val="7"/>
                <c:pt idx="0">
                  <c:v>4.8</c:v>
                </c:pt>
                <c:pt idx="1">
                  <c:v>5.0</c:v>
                </c:pt>
                <c:pt idx="2">
                  <c:v>5.4</c:v>
                </c:pt>
                <c:pt idx="3">
                  <c:v>5.9</c:v>
                </c:pt>
                <c:pt idx="4">
                  <c:v>6.9</c:v>
                </c:pt>
                <c:pt idx="5">
                  <c:v>7.1</c:v>
                </c:pt>
                <c:pt idx="6">
                  <c:v>7.3</c:v>
                </c:pt>
              </c:numCache>
            </c:numRef>
          </c:val>
        </c:ser>
        <c:dLbls>
          <c:numFmt formatCode="0.0" sourceLinked="0"/>
          <c:txPr>
            <a:bodyPr/>
            <a:lstStyle/>
            <a:p>
              <a:pPr>
                <a:defRPr sz="1300" b="1">
                  <a:solidFill>
                    <a:srgbClr val="1B3A7A"/>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5DEEE"/>
            </a:solidFill>
          </a:ln>
        </c:spPr>
        <c:txPr>
          <a:bodyPr/>
          <a:lstStyle/>
          <a:p>
            <a:pPr>
              <a:defRPr sz="1200"/>
            </a:pPr>
          </a:p>
        </c:txPr>
        <c:crossAx val="-2113994440"/>
        <c:crosses val="autoZero"/>
        <c:auto val="1"/>
        <c:lblAlgn val="ctr"/>
        <c:lblOffset val="100"/>
        <c:noMultiLvlLbl val="0"/>
      </c:catAx>
      <c:valAx>
        <c:axId val="-2113994440"/>
        <c:scaling>
          <c:max val="8.6"/>
          <c:min val="0.0"/>
        </c:scaling>
        <c:delete/>
        <c:axPos val="b"/>
        <c:majorTickMark val="out"/>
        <c:minorTickMark val="none"/>
        <c:tickLblPos val="nextTo"/>
        <c:crossAx val="-2068027336"/>
        <c:crosses val="autoZero"/>
      </c:valAx>
    </c:plotArea>
    <c:dispBlanksAs val="gap"/>
  </c:chart>
  <c:txPr>
    <a:bodyPr/>
    <a:lstStyle/>
    <a:p>
      <a:pPr>
        <a:defRPr sz="1300">
          <a:solidFill>
            <a:srgbClr val="1F2937"/>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B3A7A"/>
                </a:solidFill>
                <a:latin typeface="Arial"/>
              </a:rPr>
              <a:t>Confirmed in India: t CH₄/h (median)</a:t>
            </a:r>
          </a:p>
        </c:rich>
      </c:tx>
      <c:layout/>
      <c:overlay val="0"/>
    </c:title>
    <c:autoTitleDeleted val="0"/>
    <c:plotArea>
      <c:barChart>
        <c:barDir val="bar"/>
        <c:grouping val="clustered"/>
        <c:ser>
          <c:idx val="0"/>
          <c:order val="0"/>
          <c:tx>
            <c:strRef>
              <c:f>Sheet1!$B$1</c:f>
              <c:strCache>
                <c:ptCount val="1"/>
                <c:pt idx="0">
                  <c:v>t/h</c:v>
                </c:pt>
              </c:strCache>
            </c:strRef>
          </c:tx>
          <c:spPr>
            <a:solidFill>
              <a:srgbClr val="1B3A7A"/>
            </a:solidFill>
          </c:spPr>
          <c:dPt>
            <c:idx val="0"/>
            <c:spPr>
              <a:solidFill>
                <a:srgbClr val="1E6FD9"/>
              </a:solidFill>
            </c:spPr>
          </c:dPt>
          <c:dPt>
            <c:idx val="4"/>
            <c:spPr>
              <a:solidFill>
                <a:srgbClr val="5B6B8C"/>
              </a:solidFill>
            </c:spPr>
          </c:dPt>
          <c:cat>
            <c:strRef>
              <c:f>Sheet1!$A$2:$A$8</c:f>
              <c:strCache>
                <c:ptCount val="7"/>
                <c:pt idx="0">
                  <c:v>Lead near Rajkot*</c:v>
                </c:pt>
                <c:pt idx="1">
                  <c:v>Pirana, Ahmedabad</c:v>
                </c:pt>
                <c:pt idx="2">
                  <c:v>Jawaharnagar, Hyderabad</c:v>
                </c:pt>
                <c:pt idx="3">
                  <c:v>Khajod, Surat</c:v>
                </c:pt>
                <c:pt idx="4">
                  <c:v>Jharia coal field</c:v>
                </c:pt>
                <c:pt idx="5">
                  <c:v>Ghazipur, Delhi</c:v>
                </c:pt>
                <c:pt idx="6">
                  <c:v>Deonar, Mumbai</c:v>
                </c:pt>
              </c:strCache>
            </c:strRef>
          </c:cat>
          <c:val>
            <c:numRef>
              <c:f>Sheet1!$B$2:$B$8</c:f>
              <c:numCache>
                <c:formatCode>General</c:formatCode>
                <c:ptCount val="7"/>
                <c:pt idx="0">
                  <c:v>13.5</c:v>
                </c:pt>
                <c:pt idx="1">
                  <c:v>14.9</c:v>
                </c:pt>
                <c:pt idx="2">
                  <c:v>18.1</c:v>
                </c:pt>
                <c:pt idx="3">
                  <c:v>21.0</c:v>
                </c:pt>
                <c:pt idx="4">
                  <c:v>21.8</c:v>
                </c:pt>
                <c:pt idx="5">
                  <c:v>30.1</c:v>
                </c:pt>
                <c:pt idx="6">
                  <c:v>67.2</c:v>
                </c:pt>
              </c:numCache>
            </c:numRef>
          </c:val>
        </c:ser>
        <c:dLbls>
          <c:numFmt formatCode="0.0" sourceLinked="0"/>
          <c:txPr>
            <a:bodyPr/>
            <a:lstStyle/>
            <a:p>
              <a:pPr>
                <a:defRPr sz="1300" b="1">
                  <a:solidFill>
                    <a:srgbClr val="1B3A7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EEE"/>
            </a:solidFill>
          </a:ln>
        </c:spPr>
        <c:txPr>
          <a:bodyPr/>
          <a:lstStyle/>
          <a:p>
            <a:pPr>
              <a:defRPr sz="1300"/>
            </a:pPr>
          </a:p>
        </c:txPr>
        <c:crossAx val="-2113994440"/>
        <c:crosses val="autoZero"/>
        <c:auto val="1"/>
        <c:lblAlgn val="ctr"/>
        <c:lblOffset val="100"/>
        <c:noMultiLvlLbl val="0"/>
      </c:catAx>
      <c:valAx>
        <c:axId val="-2113994440"/>
        <c:scaling>
          <c:max val="80.0"/>
          <c:min val="0.0"/>
        </c:scaling>
        <c:delete/>
        <c:axPos val="b"/>
        <c:majorTickMark val="out"/>
        <c:minorTickMark val="none"/>
        <c:tickLblPos val="nextTo"/>
        <c:crossAx val="-2068027336"/>
        <c:crosses val="autoZero"/>
      </c:valAx>
    </c:plotArea>
    <c:dispBlanksAs val="gap"/>
  </c:chart>
  <c:txPr>
    <a:bodyPr/>
    <a:lstStyle/>
    <a:p>
      <a:pPr>
        <a:defRPr sz="1300">
          <a:solidFill>
            <a:srgbClr val="1F2937"/>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B3A7A"/>
                </a:solidFill>
                <a:latin typeface="Arial"/>
              </a:rPr>
              <a:t>Revenue estimate, ₹ crore</a:t>
            </a:r>
          </a:p>
        </c:rich>
      </c:tx>
      <c:layout/>
      <c:overlay val="0"/>
    </c:title>
    <c:autoTitleDeleted val="0"/>
    <c:plotArea>
      <c:barChart>
        <c:barDir val="col"/>
        <c:grouping val="stacked"/>
        <c:ser>
          <c:idx val="0"/>
          <c:order val="0"/>
          <c:tx>
            <c:strRef>
              <c:f>Sheet1!$B$1</c:f>
              <c:strCache>
                <c:ptCount val="1"/>
                <c:pt idx="0">
                  <c:v>Partner boards</c:v>
                </c:pt>
              </c:strCache>
            </c:strRef>
          </c:tx>
          <c:spPr>
            <a:solidFill>
              <a:srgbClr val="1B3A7A"/>
            </a:solidFill>
          </c:spPr>
          <c:cat>
            <c:strRef>
              <c:f>Sheet1!$A$2:$A$4</c:f>
              <c:strCache>
                <c:ptCount val="3"/>
                <c:pt idx="0">
                  <c:v>Y1 · ₹0.98 Cr</c:v>
                </c:pt>
                <c:pt idx="1">
                  <c:v>Y2 · ₹3.4 Cr</c:v>
                </c:pt>
                <c:pt idx="2">
                  <c:v>Y3 · ₹8.0 Cr</c:v>
                </c:pt>
              </c:strCache>
            </c:strRef>
          </c:cat>
          <c:val>
            <c:numRef>
              <c:f>Sheet1!$B$2:$B$4</c:f>
              <c:numCache>
                <c:formatCode>General</c:formatCode>
                <c:ptCount val="3"/>
                <c:pt idx="0">
                  <c:v>0.48</c:v>
                </c:pt>
                <c:pt idx="1">
                  <c:v>1.2</c:v>
                </c:pt>
                <c:pt idx="2">
                  <c:v>2.0</c:v>
                </c:pt>
              </c:numCache>
            </c:numRef>
          </c:val>
        </c:ser>
        <c:ser>
          <c:idx val="1"/>
          <c:order val="1"/>
          <c:tx>
            <c:strRef>
              <c:f>Sheet1!$C$1</c:f>
              <c:strCache>
                <c:ptCount val="1"/>
                <c:pt idx="0">
                  <c:v>City dumpsites</c:v>
                </c:pt>
              </c:strCache>
            </c:strRef>
          </c:tx>
          <c:spPr>
            <a:solidFill>
              <a:srgbClr val="1E6FD9"/>
            </a:solidFill>
          </c:spPr>
          <c:cat>
            <c:strRef>
              <c:f>Sheet1!$A$2:$A$4</c:f>
              <c:strCache>
                <c:ptCount val="3"/>
                <c:pt idx="0">
                  <c:v>Y1 · ₹0.98 Cr</c:v>
                </c:pt>
                <c:pt idx="1">
                  <c:v>Y2 · ₹3.4 Cr</c:v>
                </c:pt>
                <c:pt idx="2">
                  <c:v>Y3 · ₹8.0 Cr</c:v>
                </c:pt>
              </c:strCache>
            </c:strRef>
          </c:cat>
          <c:val>
            <c:numRef>
              <c:f>Sheet1!$C$2:$C$4</c:f>
              <c:numCache>
                <c:formatCode>General</c:formatCode>
                <c:ptCount val="3"/>
                <c:pt idx="0">
                  <c:v>0.3</c:v>
                </c:pt>
                <c:pt idx="1">
                  <c:v>1.2</c:v>
                </c:pt>
                <c:pt idx="2">
                  <c:v>3.0</c:v>
                </c:pt>
              </c:numCache>
            </c:numRef>
          </c:val>
        </c:ser>
        <c:ser>
          <c:idx val="2"/>
          <c:order val="2"/>
          <c:tx>
            <c:strRef>
              <c:f>Sheet1!$D$1</c:f>
              <c:strCache>
                <c:ptCount val="1"/>
                <c:pt idx="0">
                  <c:v>Verification</c:v>
                </c:pt>
              </c:strCache>
            </c:strRef>
          </c:tx>
          <c:spPr>
            <a:solidFill>
              <a:srgbClr val="F9CE26"/>
            </a:solidFill>
          </c:spPr>
          <c:cat>
            <c:strRef>
              <c:f>Sheet1!$A$2:$A$4</c:f>
              <c:strCache>
                <c:ptCount val="3"/>
                <c:pt idx="0">
                  <c:v>Y1 · ₹0.98 Cr</c:v>
                </c:pt>
                <c:pt idx="1">
                  <c:v>Y2 · ₹3.4 Cr</c:v>
                </c:pt>
                <c:pt idx="2">
                  <c:v>Y3 · ₹8.0 Cr</c:v>
                </c:pt>
              </c:strCache>
            </c:strRef>
          </c:cat>
          <c:val>
            <c:numRef>
              <c:f>Sheet1!$D$2:$D$4</c:f>
              <c:numCache>
                <c:formatCode>General</c:formatCode>
                <c:ptCount val="3"/>
                <c:pt idx="0">
                  <c:v>0.2</c:v>
                </c:pt>
                <c:pt idx="1">
                  <c:v>1.0</c:v>
                </c:pt>
                <c:pt idx="2">
                  <c:v>3.0</c:v>
                </c:pt>
              </c:numCache>
            </c:numRef>
          </c:val>
        </c:ser>
        <c:gapWidth val="55"/>
        <c:overlap val="10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300">
          <a:solidFill>
            <a:srgbClr val="1F2937"/>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B3A7A"/>
                </a:solidFill>
                <a:latin typeface="Arial"/>
              </a:rPr>
              <a:t>How small a leak we catch (plumes injected into real data, OBC)</a:t>
            </a:r>
          </a:p>
        </c:rich>
      </c:tx>
      <c:layout/>
      <c:overlay val="0"/>
    </c:title>
    <c:autoTitleDeleted val="0"/>
    <c:plotArea>
      <c:barChart>
        <c:barDir val="col"/>
        <c:grouping val="clustered"/>
        <c:ser>
          <c:idx val="0"/>
          <c:order val="0"/>
          <c:tx>
            <c:strRef>
              <c:f>Sheet1!$B$1</c:f>
              <c:strCache>
                <c:ptCount val="1"/>
                <c:pt idx="0">
                  <c:v>P(detect)</c:v>
                </c:pt>
              </c:strCache>
            </c:strRef>
          </c:tx>
          <c:spPr>
            <a:solidFill>
              <a:srgbClr val="1E6FD9"/>
            </a:solidFill>
          </c:spPr>
          <c:dPt>
            <c:idx val="0"/>
            <c:spPr>
              <a:solidFill>
                <a:srgbClr val="E0662B"/>
              </a:solidFill>
            </c:spPr>
          </c:dPt>
          <c:dPt>
            <c:idx val="1"/>
            <c:spPr>
              <a:solidFill>
                <a:srgbClr val="F9CE26"/>
              </a:solidFill>
            </c:spPr>
          </c:dPt>
          <c:cat>
            <c:strRef>
              <c:f>Sheet1!$A$2:$A$5</c:f>
              <c:strCache>
                <c:ptCount val="4"/>
                <c:pt idx="0">
                  <c:v>5 t/h</c:v>
                </c:pt>
                <c:pt idx="1">
                  <c:v>10 t/h</c:v>
                </c:pt>
                <c:pt idx="2">
                  <c:v>20 t/h</c:v>
                </c:pt>
                <c:pt idx="3">
                  <c:v>40 t/h</c:v>
                </c:pt>
              </c:strCache>
            </c:strRef>
          </c:cat>
          <c:val>
            <c:numRef>
              <c:f>Sheet1!$B$2:$B$5</c:f>
              <c:numCache>
                <c:formatCode>General</c:formatCode>
                <c:ptCount val="4"/>
                <c:pt idx="0">
                  <c:v>0.08</c:v>
                </c:pt>
                <c:pt idx="1">
                  <c:v>0.46</c:v>
                </c:pt>
                <c:pt idx="2">
                  <c:v>1.0</c:v>
                </c:pt>
                <c:pt idx="3">
                  <c:v>1.0</c:v>
                </c:pt>
              </c:numCache>
            </c:numRef>
          </c:val>
        </c:ser>
        <c:dLbls>
          <c:numFmt formatCode="0%" sourceLinked="0"/>
          <c:txPr>
            <a:bodyPr/>
            <a:lstStyle/>
            <a:p>
              <a:pPr>
                <a:defRPr sz="1300" b="1">
                  <a:solidFill>
                    <a:srgbClr val="1B3A7A"/>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2"/>
          <c:min val="0.0"/>
        </c:scaling>
        <c:delete/>
        <c:axPos val="l"/>
        <c:majorTickMark val="out"/>
        <c:minorTickMark val="none"/>
        <c:tickLblPos val="nextTo"/>
        <c:crossAx val="-2068027336"/>
        <c:crosses val="autoZero"/>
      </c:valAx>
    </c:plotArea>
    <c:dispBlanksAs val="gap"/>
  </c:chart>
  <c:txPr>
    <a:bodyPr/>
    <a:lstStyle/>
    <a:p>
      <a:pPr>
        <a:defRPr sz="1300">
          <a:solidFill>
            <a:srgbClr val="1F293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L. Vishwa · about 0:30</a:t>
            </a:r>
          </a:p>
          <a:p/>
          <a:p>
            <a:r>
              <a:t>Good morning, everyone. We are Team Prahari, team ID ST-911. I'm Vishwa, and with me are Vikranth and Yateesh.</a:t>
            </a:r>
          </a:p>
          <a:p/>
          <a:p>
            <a:r>
              <a:t>Our problem statement is PS-13-S3: finding India's methane super-emitters from orbit.</a:t>
            </a:r>
          </a:p>
          <a:p/>
          <a:p>
            <a:r>
              <a:t>We call our project Vāyu Lekha. It means "the air ledger". In one line: it finds India's biggest methane leaks from free satellite data, proves each one with statistics, and ranks them by how much warming we can stop for every rupee spent.</a:t>
            </a:r>
          </a:p>
          <a:p/>
          <a:p>
            <a:r>
              <a:t>One thing before we start: this is not a mock-up. It is running right now, on real satellite data, and we'll show you.</a:t>
            </a:r>
          </a:p>
          <a:p/>
          <a:p>
            <a:r>
              <a:t>On screen: Stay on the title slide while you introduce the team. Point to each teammate as you say their name.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L. Vishwa · about 1:00</a:t>
            </a:r>
          </a:p>
          <a:p/>
          <a:p>
            <a:r>
              <a:t>So why methane?</a:t>
            </a:r>
          </a:p>
          <a:p/>
          <a:p>
            <a:r>
              <a:t>Tonne for tonne, methane traps about 80 times more heat than carbon dioxide over twenty years. The IEA says it's behind roughly 30 percent of all the warming since the Industrial Revolution. And India released about 30 million tonnes of it in 2023. That's second in the world, after China.</a:t>
            </a:r>
          </a:p>
          <a:p/>
          <a:p>
            <a:r>
              <a:t>There's good news hidden in that. Methane only stays in the air for about 12 years. So if we cut it today, we feel it within our own lifetime.</a:t>
            </a:r>
          </a:p>
          <a:p/>
          <a:p>
            <a:r>
              <a:t>But when we tried to find out where India's methane actually comes from, we hit three walls.</a:t>
            </a:r>
          </a:p>
          <a:p/>
          <a:p>
            <a:r>
              <a:t>One: India reports methane as one national number. There's no public list that says: this landfill, this coal field, this many tonnes.</a:t>
            </a:r>
          </a:p>
          <a:p/>
          <a:p>
            <a:r>
              <a:t>Two: the satellites exist, but raw satellite data is not an answer. Look at this chart. It's our own count from 2,597 satellite files. In December we get about 26 thousand clear pixels a day over India. In July, about 600. The monsoon simply hides the country. Bright deserts and haze fool the instrument too.</a:t>
            </a:r>
          </a:p>
          <a:p/>
          <a:p>
            <a:r>
              <a:t>Three: if you point at a site and say "you are leaking", you had better be right. One bright pixel is not proof.</a:t>
            </a:r>
          </a:p>
          <a:p/>
          <a:p>
            <a:r>
              <a:t>And this matters most for landfills. We have 2,438 old dumpsites, and waste methane is expected to nearly quadruple by 2030.</a:t>
            </a:r>
          </a:p>
          <a:p/>
          <a:p>
            <a:r>
              <a:t>On screen: Point at the orange monsoon bars when you say "about 600". Hand over: "Vikranth will show you what we built."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Vikranth Jayasarathy · about 1:15</a:t>
            </a:r>
          </a:p>
          <a:p/>
          <a:p>
            <a:r>
              <a:t>Here is our answer in one sentence: Vāyu Lekha turns every clear Sentinel-5P pass over India into a checked, ranked list of the methane sources worth fixing first. It refreshes every three hours, and anyone can read it.</a:t>
            </a:r>
          </a:p>
          <a:p/>
          <a:p>
            <a:r>
              <a:t>We told the story through Jantar Mantar in Jaipur. Those instruments were built to read the sky, so we made each one a step of our pipeline.</a:t>
            </a:r>
          </a:p>
          <a:p/>
          <a:p>
            <a:r>
              <a:t>Step one, ingest. Every three hours a job picks up the newest satellite pass and checks each file's checksum against the official Copernicus catalogue. If it doesn't match, we throw it away.</a:t>
            </a:r>
          </a:p>
          <a:p/>
          <a:p>
            <a:r>
              <a:t>Step two, clean. Bright ground and haze bend the methane reading. We remove that, and we trust each pass according to how noisy it is.</a:t>
            </a:r>
          </a:p>
          <a:p/>
          <a:p>
            <a:r>
              <a:t>Step three, seasons. We don't guess the monsoon months. We leave them out and say so. And we subtract the background from rice paddies and the region around each site.</a:t>
            </a:r>
          </a:p>
          <a:p/>
          <a:p>
            <a:r>
              <a:t>Step four, find. We use the continuity equation. In simple words: if more methane leaves a place than arrives, something there is emitting.</a:t>
            </a:r>
          </a:p>
          <a:p/>
          <a:p>
            <a:r>
              <a:t>Step five, measure. We turn every satellite pass to face its own wind, stack hundreds of them, and calibrate the rate in tonnes per hour.</a:t>
            </a:r>
          </a:p>
          <a:p/>
          <a:p>
            <a:r>
              <a:t>Step six, decide. A strict statistical gate, an independent check, and then a ranking by warming avoided per rupee.</a:t>
            </a:r>
          </a:p>
          <a:p/>
          <a:p>
            <a:r>
              <a:t>Each feature answers one of the three problems Vishwa showed you: a site-level ledger instead of a national total; a method that reads through cloud, bias and noise; and proof before blame.</a:t>
            </a:r>
          </a:p>
          <a:p/>
          <a:p>
            <a:r>
              <a:t>And the size of it: 2,597 verified files, 17.3 million clear pixels, three and a half years of data, 54 places tested, 12 confirmed, and 7 of them in India.</a:t>
            </a:r>
          </a:p>
          <a:p/>
          <a:p>
            <a:r>
              <a:t>On screen: Move your hand left to right across the six pictures as you go through the steps. Finish on the orange "12 confirmed · 7 in India".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Vikranth Jayasarathy · about 2:30</a:t>
            </a:r>
          </a:p>
          <a:p/>
          <a:p>
            <a:r>
              <a:t>The data flows left to right. Satellite methane and carbon monoxide from Copernicus, wind from ERA5, facilities from OpenStreetMap, and exchange rates from the European Central Bank. GitHub Actions pulls and verifies the data. Our Python code does the science. It writes versioned files, and the website only reads those files. So what you see on screen is exactly what the pipeline computed. Nothing is typed in by hand.</a:t>
            </a:r>
          </a:p>
          <a:p/>
          <a:p>
            <a:r>
              <a:t>We designed 19 algorithms. For each one we wrote down a pass mark before we ran it on real data. Ten passed, and those ten run on every refresh. Five failed, and we publish the failures too. Let me explain four of them.</a:t>
            </a:r>
          </a:p>
          <a:p/>
          <a:p>
            <a:r>
              <a:t>First, the core: flux divergence, with wind rotation and footprint drizzle. The satellite takes a picture of methane in the air. Methane from a landfill drifts with the wind, so on every day the plume points a different way. We rotate each day's picture so the wind always blows the same direction, then stack them. A real source stays in one place and adds up. Noise points everywhere and cancels out. Drizzle means each pixel is spread over the real patch of ground it saw, not dropped into one grid box. The chart on the right shows each step on the same six known sites. Raw data can only pick out a leak of about 7.3 tonnes an hour. Turning to the wind brings that to 5.9. That's the biggest single jump. Drizzle brings it to 5.4, and it's the step that lifts every known emitter above three sigma.</a:t>
            </a:r>
          </a:p>
          <a:p/>
          <a:p>
            <a:r>
              <a:t>Second, KPW. This one comes from Indian mathematics. The satellite's orbit repeats every 16 days, 227 orbits. So a landfill does not sit in the same spot of its pixel every day. Sometimes it's near the edge, sometimes in the middle. If one position happens to get more clear days, the stack gets smeared toward it. Working out which orbit lands the site on which spot is a whole-number puzzle, and Āryabhaṭa solved exactly this kind of puzzle in 499 CE with his method called Kuṭṭaka, the pulveriser. KPW sorts every pass into nine spots and weighs them so each spot counts the same. The result: average significance went from 4.06 to 4.37, and the smallest detectable leak dropped from 4.96 to 4.76 tonnes an hour. To be exact about it: we measure the spot directly on every pass, and we use Kuṭṭaka to plan which future orbits will fill the gaps.</a:t>
            </a:r>
          </a:p>
          <a:p/>
          <a:p>
            <a:r>
              <a:t>Third, OBC, our calibration. How do you check your numbers when there's no meter on the landfill? We take real satellite data, add a fake plume of a known size, run the whole pipeline, and see what comes out. We get back 99.2 percent of what we put in, with an R-squared of 0.9999. That also tells us our honest limit: we catch a 10 tonne-per-hour leak about half the time, and 20 tonnes an hour every time.</a:t>
            </a:r>
          </a:p>
          <a:p/>
          <a:p>
            <a:r>
              <a:t>Fourth, the gate. When you test 54 places, a few will look significant just by luck. The Benjamini-Yekutieli method keeps the expected share of false entries under 5 percent, even when sites are related to each other. We tested it with 36 fake sites. The statistics alone let 2 through. Add our independent check, and only 1 of 36 got through, while 4 of 5 real emitters were confirmed.</a:t>
            </a:r>
          </a:p>
          <a:p/>
          <a:p>
            <a:r>
              <a:t>The other six are on the slide: noise weighting, bias removal, the carbon monoxide leg, the CO-to-methane fingerprint, the warming-per-rupee ranking, and tasking, which we'll come back to.</a:t>
            </a:r>
          </a:p>
          <a:p/>
          <a:p>
            <a:r>
              <a:t>On screen: Point at the flow row first, then the yellow KPW card, then the ladder chart. If time is short (Round 2), explain only the core method and KPW, and say "the rest are on the slide and in our repository".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Yateesh · about 1:30 (live) / 0:45 (recording)</a:t>
            </a:r>
          </a:p>
          <a:p/>
          <a:p>
            <a:r>
              <a:t>Now let me show you the product. [Switch to the browser, full screen.]</a:t>
            </a:r>
          </a:p>
          <a:p/>
          <a:p>
            <a:r>
              <a:t>This is the opening screen: Jantar Mantar under the real night sky. Top right, you can see when the last satellite pass over India was processed. The headline says 7 of 35 places tested in India are confirmed.</a:t>
            </a:r>
          </a:p>
          <a:p/>
          <a:p>
            <a:r>
              <a:t>[Scroll through two or three stages.] Each stage is one step of the pipeline, and the small tags under the title are the algorithms running at that step.</a:t>
            </a:r>
          </a:p>
          <a:p/>
          <a:p>
            <a:r>
              <a:t>[Open /ledger.] This is the live part. The map is the newest pass over India. Gaps are clouds. Below it, the full inventory, ranked. These four boxes are the four independent checks: found again in separate years, a second method agrees, carbon monoxide found, and found by the blind screen.</a:t>
            </a:r>
          </a:p>
          <a:p/>
          <a:p>
            <a:r>
              <a:t>[Open the Ghazipur dossier.] Ghazipur in Delhi: about 30 tonnes an hour, z-score 8.9. The carbon monoxide ratio is 0.54, which points to rotting waste, not fire.</a:t>
            </a:r>
          </a:p>
          <a:p/>
          <a:p>
            <a:r>
              <a:t>[Open /partner, sign in with the demo key, reopen the dossier.] The public sees locations rounded to about 25 kilometres. A verified partner, like a pollution control board, sees the exact coordinates and the plume image. Every view is logged.</a:t>
            </a:r>
          </a:p>
          <a:p/>
          <a:p>
            <a:r>
              <a:t>If the internet fails, we have the same walk-through recorded, and we'll play that instead.</a:t>
            </a:r>
          </a:p>
          <a:p/>
          <a:p>
            <a:r>
              <a:t>On screen: Demo tabs open in advance: home, /ledger, /site/ghazipur, /partner. Demo key: vayu-lekha-partner-demo. If the 3D is slow, add ?render=static to the URL. If the network is down, play the backup recording straight away. Don't troubleshoot on stage.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Yateesh · about 1:00</a:t>
            </a:r>
          </a:p>
          <a:p/>
          <a:p>
            <a:r>
              <a:t>So what does it add up to?</a:t>
            </a:r>
          </a:p>
          <a:p/>
          <a:p>
            <a:r>
              <a:t>Seven super-emitter clusters confirmed in India. Together they put out about 187 tonnes of methane an hour. That's around 1.6 million tonnes a year, roughly five percent of India's total, from just seven places. To be fair about it, these are totals for a 20 kilometre circle, so they include everything in that circle, not only the landfill.</a:t>
            </a:r>
          </a:p>
          <a:p/>
          <a:p>
            <a:r>
              <a:t>Fixing them is cheap. At landfills, capturing the gas costs about 160 rupees per tonne of CO2-equivalent avoided. If 50 to 85 percent of it were captured at these seven, that avoids about 84 million tonnes of CO2-equivalent a year, on a 20-year basis.</a:t>
            </a:r>
          </a:p>
          <a:p/>
          <a:p>
            <a:r>
              <a:t>And we're not the only ones who see this. Carbon Mapper's 2025 satellite data named landfills in Hyderabad and Mumbai among the 25 biggest methane emitters in the world. We flag both of them using only free public data.</a:t>
            </a:r>
          </a:p>
          <a:p/>
          <a:p>
            <a:r>
              <a:t>On the SDGs: Goal 13, climate action, is the main one, because methane is the fastest lever on warming in the next twenty years. Goal 11, because these are city dumpsites. Goal 3, because landfill fires and smoke hurt the people living next to them. And Goal 12, because it shows where waste diversion and gas capture pay off most.</a:t>
            </a:r>
          </a:p>
          <a:p/>
          <a:p>
            <a:r>
              <a:t>And the system itself is sustainable. Free public data, free-tier computing and open code. Today it costs us about zero rupees a month to run.</a:t>
            </a:r>
          </a:p>
          <a:p/>
          <a:p>
            <a:r>
              <a:t>On screen: Point at the Deonar and Ghazipur bars, then the yellow Carbon Mapper box.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Yateesh · about 1:00</a:t>
            </a:r>
          </a:p>
          <a:p/>
          <a:p>
            <a:r>
              <a:t>Who would use this, and who would pay?</a:t>
            </a:r>
          </a:p>
          <a:p/>
          <a:p>
            <a:r>
              <a:t>Four groups. Regulators: the Central and State Pollution Control Boards need to know which sites to inspect first. Cities: municipal corporations are spending money to clean up 2,438 old dumpsites, and they need to show it cut methane. Coal and oil-and-gas companies, to find leaks across a whole field before sending crews. And the carbon market: under India's Carbon Credit Trading Scheme, projects need independent measurement.</a:t>
            </a:r>
          </a:p>
          <a:p/>
          <a:p>
            <a:r>
              <a:t>Our value is simple. We're the cheapest first look. A free satellite screen tells you where to send an expensive aircraft or high-resolution satellite, and later proves the fix worked.</a:t>
            </a:r>
          </a:p>
          <a:p/>
          <a:p>
            <a:r>
              <a:t>And that targeting works. When we back-tested our tasking ranking, the sites it put on top were found again 54 percent of the time, against 18 percent for the rest.</a:t>
            </a:r>
          </a:p>
          <a:p/>
          <a:p>
            <a:r>
              <a:t>The model has four levels. The public ledger stays free. Partners, like pollution boards, pay about 8 lakh rupees a year for exact locations and alerts. Verification reports for capture projects, about 2 lakh per site per year. And we can broker targets for commercial high-resolution satellites.</a:t>
            </a:r>
          </a:p>
          <a:p/>
          <a:p>
            <a:r>
              <a:t>These are planning estimates, and the working is on the slide: about 1 crore in year one, 3.4 in year two, and 8 crore in year three. Even in year three that covers less than 5 percent of India's old dumpsites, so there's plenty of room.</a:t>
            </a:r>
          </a:p>
          <a:p/>
          <a:p>
            <a:r>
              <a:t>On screen: Point at the four user cards, then the price steps, then the chart.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L. Vishwa · about 1:00</a:t>
            </a:r>
          </a:p>
          <a:p/>
          <a:p>
            <a:r>
              <a:t>Is this practical? It's already running. The site is live, the pipeline runs every three hours, and the data costs nothing.</a:t>
            </a:r>
          </a:p>
          <a:p/>
          <a:p>
            <a:r>
              <a:t>We also want to be honest about the limits, because you'd find them anyway.</a:t>
            </a:r>
          </a:p>
          <a:p/>
          <a:p>
            <a:r>
              <a:t>The satellite's pixels are about 7 kilometres wide, so we see clusters, not single chimneys. That's why our tasking step sends the top five sites to high-resolution satellites like Carbon Mapper, EMIT or GHGSat.</a:t>
            </a:r>
          </a:p>
          <a:p/>
          <a:p>
            <a:r>
              <a:t>The monsoon hides India for four months. We report those months as unobserved. We never fill them in.</a:t>
            </a:r>
          </a:p>
          <a:p/>
          <a:p>
            <a:r>
              <a:t>A wrong accusation would hurt people. So we have the 5 percent gate, an independent check, a human sign-off, and rounded public locations.</a:t>
            </a:r>
          </a:p>
          <a:p/>
          <a:p>
            <a:r>
              <a:t>One of our own algorithms failed. It tried to name the sector from OpenStreetMap, and the map is too thin in India. So it's switched off, and our next step is official facility lists from the pollution boards.</a:t>
            </a:r>
          </a:p>
          <a:p/>
          <a:p>
            <a:r>
              <a:t>This chart is our honest detection limit: about half of 10 tonne-per-hour leaks, and every leak of 20 tonnes an hour or more.</a:t>
            </a:r>
          </a:p>
          <a:p/>
          <a:p>
            <a:r>
              <a:t>The roadmap: a pilot with one State Pollution Control Board early next year, with the first human-reviewed entries. Then facility registries, a nitrogen dioxide leg and high-resolution tasking. And by 2028, a measurement layer for India's carbon market.</a:t>
            </a:r>
          </a:p>
          <a:p/>
          <a:p>
            <a:r>
              <a:t>Our ask is simple: one pilot partner to review our first entries with us.</a:t>
            </a:r>
          </a:p>
          <a:p/>
          <a:p>
            <a:r>
              <a:t>Thank you. We're Team Prahari, and we're happy to take your questions.</a:t>
            </a:r>
          </a:p>
          <a:p/>
          <a:p>
            <a:r>
              <a:t>On screen: End on the yellow "Ask" box. Everyone steps forward for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e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image" Target="../media/image9.jpg"/><Relationship Id="rId8" Type="http://schemas.openxmlformats.org/officeDocument/2006/relationships/image" Target="../media/image10.jpg"/><Relationship Id="rId9" Type="http://schemas.openxmlformats.org/officeDocument/2006/relationships/image" Target="../media/image11.jpg"/><Relationship Id="rId10" Type="http://schemas.openxmlformats.org/officeDocument/2006/relationships/image" Target="../media/image12.jpg"/><Relationship Id="rId11" Type="http://schemas.openxmlformats.org/officeDocument/2006/relationships/image" Target="../media/image13.jpg"/><Relationship Id="rId12"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image" Target="../media/image15.jpg"/><Relationship Id="rId8" Type="http://schemas.openxmlformats.org/officeDocument/2006/relationships/image" Target="../media/image16.jpg"/><Relationship Id="rId9" Type="http://schemas.openxmlformats.org/officeDocument/2006/relationships/image" Target="../media/image17.jpg"/><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jpeg"/><Relationship Id="rId7" Type="http://schemas.openxmlformats.org/officeDocument/2006/relationships/chart" Target="../charts/chart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947672" y="411480"/>
            <a:ext cx="14401800" cy="1828343"/>
            <a:chOff x="0" y="0"/>
            <a:chExt cx="19202400" cy="2437790"/>
          </a:xfrm>
        </p:grpSpPr>
        <p:sp>
          <p:nvSpPr>
            <p:cNvPr name="Freeform 4" id="4" descr="assets/logo_strip.png"/>
            <p:cNvSpPr/>
            <p:nvPr/>
          </p:nvSpPr>
          <p:spPr>
            <a:xfrm flipH="false" flipV="false" rot="0">
              <a:off x="0" y="0"/>
              <a:ext cx="19202400" cy="2437765"/>
            </a:xfrm>
            <a:custGeom>
              <a:avLst/>
              <a:gdLst/>
              <a:ahLst/>
              <a:cxnLst/>
              <a:rect r="r" b="b" t="t" l="l"/>
              <a:pathLst>
                <a:path h="2437765" w="19202400">
                  <a:moveTo>
                    <a:pt x="0" y="0"/>
                  </a:moveTo>
                  <a:lnTo>
                    <a:pt x="19202400" y="0"/>
                  </a:lnTo>
                  <a:lnTo>
                    <a:pt x="19202400" y="2437765"/>
                  </a:lnTo>
                  <a:lnTo>
                    <a:pt x="0" y="2437765"/>
                  </a:lnTo>
                  <a:lnTo>
                    <a:pt x="0" y="0"/>
                  </a:lnTo>
                  <a:close/>
                </a:path>
              </a:pathLst>
            </a:custGeom>
            <a:blipFill>
              <a:blip r:embed="rId4"/>
              <a:stretch>
                <a:fillRect l="0" t="0" r="0" b="-1"/>
              </a:stretch>
            </a:blipFill>
          </p:spPr>
          <p:txBody>
            <a:bodyPr/>
            <a:p/>
          </p:txBody>
        </p:sp>
      </p:grpSp>
      <p:grpSp>
        <p:nvGrpSpPr>
          <p:cNvPr name="Group 5" id="5"/>
          <p:cNvGrpSpPr/>
          <p:nvPr/>
        </p:nvGrpSpPr>
        <p:grpSpPr>
          <a:xfrm rot="0">
            <a:off x="1028700" y="3017520"/>
            <a:ext cx="6995160" cy="2900934"/>
            <a:chOff x="0" y="0"/>
            <a:chExt cx="9326880" cy="3867912"/>
          </a:xfrm>
        </p:grpSpPr>
        <p:sp>
          <p:nvSpPr>
            <p:cNvPr name="Freeform 6" id="6" descr="assets/logo_sat.png"/>
            <p:cNvSpPr/>
            <p:nvPr/>
          </p:nvSpPr>
          <p:spPr>
            <a:xfrm flipH="false" flipV="false" rot="0">
              <a:off x="0" y="0"/>
              <a:ext cx="9326880" cy="3867912"/>
            </a:xfrm>
            <a:custGeom>
              <a:avLst/>
              <a:gdLst/>
              <a:ahLst/>
              <a:cxnLst/>
              <a:rect r="r" b="b" t="t" l="l"/>
              <a:pathLst>
                <a:path h="3867912" w="9326880">
                  <a:moveTo>
                    <a:pt x="0" y="0"/>
                  </a:moveTo>
                  <a:lnTo>
                    <a:pt x="9326880" y="0"/>
                  </a:lnTo>
                  <a:lnTo>
                    <a:pt x="9326880" y="3867912"/>
                  </a:lnTo>
                  <a:lnTo>
                    <a:pt x="0" y="3867912"/>
                  </a:lnTo>
                  <a:lnTo>
                    <a:pt x="0" y="0"/>
                  </a:lnTo>
                  <a:close/>
                </a:path>
              </a:pathLst>
            </a:custGeom>
            <a:blipFill>
              <a:blip r:embed="rId5"/>
              <a:stretch>
                <a:fillRect l="0" t="-1" r="0" b="0"/>
              </a:stretch>
            </a:blipFill>
          </p:spPr>
          <p:txBody>
            <a:bodyPr/>
            <a:p/>
          </p:txBody>
        </p:sp>
      </p:grpSp>
      <p:sp>
        <p:nvSpPr>
          <p:cNvPr name="AutoShape 7" id="7"/>
          <p:cNvSpPr/>
          <p:nvPr/>
        </p:nvSpPr>
        <p:spPr>
          <a:xfrm rot="5375460">
            <a:off x="6637925" y="4996815"/>
            <a:ext cx="4006320" cy="0"/>
          </a:xfrm>
          <a:prstGeom prst="line">
            <a:avLst/>
          </a:prstGeom>
          <a:ln cap="rnd" w="19050">
            <a:solidFill>
              <a:srgbClr val="1B3A7A"/>
            </a:solidFill>
            <a:prstDash val="solid"/>
            <a:headEnd type="none" len="sm" w="sm"/>
            <a:tailEnd type="none" len="sm" w="sm"/>
          </a:ln>
        </p:spPr>
        <p:txBody>
          <a:bodyPr/>
          <a:p/>
        </p:txBody>
      </p:sp>
      <p:grpSp>
        <p:nvGrpSpPr>
          <p:cNvPr name="Group 8" id="8"/>
          <p:cNvGrpSpPr/>
          <p:nvPr/>
        </p:nvGrpSpPr>
        <p:grpSpPr>
          <a:xfrm rot="0">
            <a:off x="9079992" y="2852928"/>
            <a:ext cx="4526280" cy="754380"/>
            <a:chOff x="0" y="0"/>
            <a:chExt cx="6035040" cy="1005840"/>
          </a:xfrm>
        </p:grpSpPr>
        <p:sp>
          <p:nvSpPr>
            <p:cNvPr name="Freeform 9" id="9" descr="assets/brush_navy.png"/>
            <p:cNvSpPr/>
            <p:nvPr/>
          </p:nvSpPr>
          <p:spPr>
            <a:xfrm flipH="false" flipV="false" rot="0">
              <a:off x="0" y="0"/>
              <a:ext cx="6035040" cy="1005840"/>
            </a:xfrm>
            <a:custGeom>
              <a:avLst/>
              <a:gdLst/>
              <a:ahLst/>
              <a:cxnLst/>
              <a:rect r="r" b="b" t="t" l="l"/>
              <a:pathLst>
                <a:path h="1005840" w="6035040">
                  <a:moveTo>
                    <a:pt x="0" y="0"/>
                  </a:moveTo>
                  <a:lnTo>
                    <a:pt x="6035040" y="0"/>
                  </a:lnTo>
                  <a:lnTo>
                    <a:pt x="6035040" y="1005840"/>
                  </a:lnTo>
                  <a:lnTo>
                    <a:pt x="0" y="1005840"/>
                  </a:lnTo>
                  <a:lnTo>
                    <a:pt x="0" y="0"/>
                  </a:lnTo>
                  <a:close/>
                </a:path>
              </a:pathLst>
            </a:custGeom>
            <a:blipFill>
              <a:blip r:embed="rId6"/>
              <a:stretch>
                <a:fillRect l="0" t="0" r="0" b="0"/>
              </a:stretch>
            </a:blipFill>
          </p:spPr>
          <p:txBody>
            <a:bodyPr/>
            <a:p/>
          </p:txBody>
        </p:sp>
      </p:grpSp>
      <p:grpSp>
        <p:nvGrpSpPr>
          <p:cNvPr name="Group 10" id="10"/>
          <p:cNvGrpSpPr/>
          <p:nvPr/>
        </p:nvGrpSpPr>
        <p:grpSpPr>
          <a:xfrm rot="0">
            <a:off x="9464040" y="2852928"/>
            <a:ext cx="3840480" cy="754380"/>
            <a:chOff x="0" y="0"/>
            <a:chExt cx="5120640" cy="1005840"/>
          </a:xfrm>
        </p:grpSpPr>
        <p:sp>
          <p:nvSpPr>
            <p:cNvPr name="Freeform 11" id="11"/>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7">
                <a:alphaModFix amt="0"/>
              </a:blip>
              <a:stretch>
                <a:fillRect l="0" t="-49196" r="0" b="-49196"/>
              </a:stretch>
            </a:blipFill>
          </p:spPr>
          <p:txBody>
            <a:bodyPr/>
            <a:p/>
          </p:txBody>
        </p:sp>
        <p:sp>
          <p:nvSpPr>
            <p:cNvPr name="TextBox 12" id="12"/>
            <p:cNvSpPr txBox="true"/>
            <p:nvPr/>
          </p:nvSpPr>
          <p:spPr>
            <a:xfrm>
              <a:off x="0" y="-19050"/>
              <a:ext cx="5120640" cy="1024890"/>
            </a:xfrm>
            <a:prstGeom prst="rect">
              <a:avLst/>
            </a:prstGeom>
          </p:spPr>
          <p:txBody>
            <a:bodyPr anchor="ctr" rtlCol="false" tIns="0" lIns="0" bIns="0" rIns="0"/>
            <a:lstStyle/>
            <a:p>
              <a:pPr algn="l">
                <a:lnSpc>
                  <a:spcPts val="2700"/>
                </a:lnSpc>
              </a:pPr>
              <a:r>
                <a:rPr lang="en-US" sz="2250" b="true">
                  <a:solidFill>
                    <a:srgbClr val="F9CE26"/>
                  </a:solidFill>
                  <a:latin typeface="Arial Bold"/>
                  <a:ea typeface="Arial Bold"/>
                  <a:cs typeface="Arial Bold"/>
                  <a:sym typeface="Arial Bold"/>
                </a:rPr>
                <a:t>TEAM ID: </a:t>
              </a:r>
              <a:r>
                <a:rPr lang="en-US" sz="2250" b="true">
                  <a:solidFill>
                    <a:srgbClr val="FFFFFF"/>
                  </a:solidFill>
                  <a:latin typeface="Arial Bold"/>
                  <a:ea typeface="Arial Bold"/>
                  <a:cs typeface="Arial Bold"/>
                  <a:sym typeface="Arial Bold"/>
                </a:rPr>
                <a:t>ST-911</a:t>
              </a:r>
            </a:p>
          </p:txBody>
        </p:sp>
      </p:grpSp>
      <p:grpSp>
        <p:nvGrpSpPr>
          <p:cNvPr name="Group 13" id="13"/>
          <p:cNvGrpSpPr/>
          <p:nvPr/>
        </p:nvGrpSpPr>
        <p:grpSpPr>
          <a:xfrm rot="0">
            <a:off x="9258300" y="3813048"/>
            <a:ext cx="8092440" cy="1645920"/>
            <a:chOff x="0" y="0"/>
            <a:chExt cx="10789920" cy="2194560"/>
          </a:xfrm>
        </p:grpSpPr>
        <p:sp>
          <p:nvSpPr>
            <p:cNvPr name="Freeform 14" id="14"/>
            <p:cNvSpPr/>
            <p:nvPr/>
          </p:nvSpPr>
          <p:spPr>
            <a:xfrm flipH="false" flipV="false" rot="0">
              <a:off x="0" y="0"/>
              <a:ext cx="10789920" cy="2194560"/>
            </a:xfrm>
            <a:custGeom>
              <a:avLst/>
              <a:gdLst/>
              <a:ahLst/>
              <a:cxnLst/>
              <a:rect r="r" b="b" t="t" l="l"/>
              <a:pathLst>
                <a:path h="2194560" w="10789920">
                  <a:moveTo>
                    <a:pt x="0" y="0"/>
                  </a:moveTo>
                  <a:lnTo>
                    <a:pt x="10789920" y="0"/>
                  </a:lnTo>
                  <a:lnTo>
                    <a:pt x="10789920" y="2194560"/>
                  </a:lnTo>
                  <a:lnTo>
                    <a:pt x="0" y="2194560"/>
                  </a:lnTo>
                  <a:close/>
                </a:path>
              </a:pathLst>
            </a:custGeom>
            <a:blipFill>
              <a:blip r:embed="rId7">
                <a:alphaModFix amt="0"/>
              </a:blip>
              <a:stretch>
                <a:fillRect l="0" t="-45801" r="0" b="-45801"/>
              </a:stretch>
            </a:blipFill>
          </p:spPr>
          <p:txBody>
            <a:bodyPr/>
            <a:p/>
          </p:txBody>
        </p:sp>
        <p:sp>
          <p:nvSpPr>
            <p:cNvPr name="TextBox 15" id="15"/>
            <p:cNvSpPr txBox="true"/>
            <p:nvPr/>
          </p:nvSpPr>
          <p:spPr>
            <a:xfrm>
              <a:off x="0" y="-28575"/>
              <a:ext cx="10789920" cy="2223135"/>
            </a:xfrm>
            <a:prstGeom prst="rect">
              <a:avLst/>
            </a:prstGeom>
          </p:spPr>
          <p:txBody>
            <a:bodyPr anchor="ctr" rtlCol="false" tIns="0" lIns="0" bIns="0" rIns="0"/>
            <a:lstStyle/>
            <a:p>
              <a:pPr algn="l">
                <a:lnSpc>
                  <a:spcPts val="6120"/>
                </a:lnSpc>
              </a:pPr>
              <a:r>
                <a:rPr lang="en-US" sz="5100" b="true">
                  <a:solidFill>
                    <a:srgbClr val="1B3A7A"/>
                  </a:solidFill>
                  <a:latin typeface="Arial Bold"/>
                  <a:ea typeface="Arial Bold"/>
                  <a:cs typeface="Arial Bold"/>
                  <a:sym typeface="Arial Bold"/>
                </a:rPr>
                <a:t>Vāyu Lekha</a:t>
              </a:r>
            </a:p>
          </p:txBody>
        </p:sp>
      </p:grpSp>
      <p:sp>
        <p:nvSpPr>
          <p:cNvPr name="TextBox 16" id="16"/>
          <p:cNvSpPr txBox="true"/>
          <p:nvPr/>
        </p:nvSpPr>
        <p:spPr>
          <a:xfrm rot="0">
            <a:off x="9258300" y="5074920"/>
            <a:ext cx="8092440" cy="868680"/>
          </a:xfrm>
          <a:prstGeom prst="rect">
            <a:avLst/>
          </a:prstGeom>
        </p:spPr>
        <p:txBody>
          <a:bodyPr anchor="t" rtlCol="false" tIns="0" lIns="0" bIns="0" rIns="0" wrap="square">
            <a:spAutoFit/>
          </a:bodyPr>
          <a:lstStyle/>
          <a:p>
            <a:pPr algn="l">
              <a:lnSpc>
                <a:spcPts val="3060"/>
              </a:lnSpc>
            </a:pPr>
            <a:r>
              <a:rPr lang="en-US" sz="1700" i="true">
                <a:solidFill>
                  <a:srgbClr val="1E6FD9"/>
                </a:solidFill>
                <a:latin typeface="Calibri (MS) Italics"/>
                <a:ea typeface="Calibri (MS) Italics"/>
                <a:cs typeface="Calibri (MS) Italics"/>
                <a:sym typeface="Calibri (MS) Italics"/>
              </a:rPr>
              <a:t>The air ledger: finds India's biggest methane leaks from free satellite data, proves each one statistically, and ranks them by warming avoided per rupee.</a:t>
            </a:r>
          </a:p>
        </p:txBody>
      </p:sp>
      <p:sp>
        <p:nvSpPr>
          <p:cNvPr name="TextBox 17" id="17"/>
          <p:cNvSpPr txBox="true"/>
          <p:nvPr/>
        </p:nvSpPr>
        <p:spPr>
          <a:xfrm rot="0">
            <a:off x="9258300" y="6263640"/>
            <a:ext cx="8092440" cy="676275"/>
          </a:xfrm>
          <a:prstGeom prst="rect">
            <a:avLst/>
          </a:prstGeom>
        </p:spPr>
        <p:txBody>
          <a:bodyPr anchor="t" rtlCol="false" tIns="0" lIns="0" bIns="0" rIns="0">
            <a:spAutoFit/>
          </a:bodyPr>
          <a:lstStyle/>
          <a:p>
            <a:pPr algn="l">
              <a:lnSpc>
                <a:spcPts val="2520"/>
              </a:lnSpc>
            </a:pPr>
            <a:r>
              <a:rPr lang="en-US" sz="2100" b="true">
                <a:solidFill>
                  <a:srgbClr val="1B3A7A"/>
                </a:solidFill>
                <a:latin typeface="Calibri (MS) Bold"/>
                <a:ea typeface="Calibri (MS) Bold"/>
                <a:cs typeface="Calibri (MS) Bold"/>
                <a:sym typeface="Calibri (MS) Bold"/>
              </a:rPr>
              <a:t>Problem Statement: </a:t>
            </a:r>
            <a:r>
              <a:rPr sz="2100" b="0">
                <a:solidFill>
                  <a:srgbClr val="1F2937"/>
                </a:solidFill>
                <a:latin typeface="Arial"/>
              </a:rPr>
              <a:t>PS-13-S3 · Finding India's Methane Super-Emitters From Orbit</a:t>
            </a:r>
          </a:p>
          <a:p>
            <a:pPr algn="l">
              <a:lnSpc>
                <a:spcPts val="2520"/>
              </a:lnSpc>
            </a:pPr>
          </a:p>
        </p:txBody>
      </p:sp>
      <p:grpSp>
        <p:nvGrpSpPr>
          <p:cNvPr name="Group 18" id="18"/>
          <p:cNvGrpSpPr/>
          <p:nvPr/>
        </p:nvGrpSpPr>
        <p:grpSpPr>
          <a:xfrm rot="0">
            <a:off x="3387852" y="7859268"/>
            <a:ext cx="11521440" cy="1855775"/>
            <a:chOff x="0" y="0"/>
            <a:chExt cx="15361920" cy="2474366"/>
          </a:xfrm>
        </p:grpSpPr>
        <p:sp>
          <p:nvSpPr>
            <p:cNvPr name="Freeform 19" id="19" descr="assets/skyline.png"/>
            <p:cNvSpPr/>
            <p:nvPr/>
          </p:nvSpPr>
          <p:spPr>
            <a:xfrm flipH="false" flipV="false" rot="0">
              <a:off x="0" y="0"/>
              <a:ext cx="15361920" cy="2474341"/>
            </a:xfrm>
            <a:custGeom>
              <a:avLst/>
              <a:gdLst/>
              <a:ahLst/>
              <a:cxnLst/>
              <a:rect r="r" b="b" t="t" l="l"/>
              <a:pathLst>
                <a:path h="2474341" w="15361920">
                  <a:moveTo>
                    <a:pt x="0" y="0"/>
                  </a:moveTo>
                  <a:lnTo>
                    <a:pt x="15361920" y="0"/>
                  </a:lnTo>
                  <a:lnTo>
                    <a:pt x="15361920" y="2474341"/>
                  </a:lnTo>
                  <a:lnTo>
                    <a:pt x="0" y="2474341"/>
                  </a:lnTo>
                  <a:lnTo>
                    <a:pt x="0" y="0"/>
                  </a:lnTo>
                  <a:close/>
                </a:path>
              </a:pathLst>
            </a:custGeom>
            <a:blipFill>
              <a:blip r:embed="rId8"/>
              <a:stretch>
                <a:fillRect l="-16" t="0" r="-16" b="-1"/>
              </a:stretch>
            </a:blipFill>
          </p:spPr>
          <p:txBody>
            <a:bodyPr/>
            <a:p/>
          </p:txBody>
        </p:sp>
      </p:grpSp>
      <p:grpSp>
        <p:nvGrpSpPr>
          <p:cNvPr name="Group 20" id="20"/>
          <p:cNvGrpSpPr/>
          <p:nvPr/>
        </p:nvGrpSpPr>
        <p:grpSpPr>
          <a:xfrm rot="0">
            <a:off x="4800600" y="9765792"/>
            <a:ext cx="8682228" cy="466344"/>
            <a:chOff x="0" y="0"/>
            <a:chExt cx="11576304" cy="621792"/>
          </a:xfrm>
        </p:grpSpPr>
        <p:sp>
          <p:nvSpPr>
            <p:cNvPr name="Freeform 21" id="21"/>
            <p:cNvSpPr/>
            <p:nvPr/>
          </p:nvSpPr>
          <p:spPr>
            <a:xfrm flipH="false" flipV="false" rot="0">
              <a:off x="0" y="0"/>
              <a:ext cx="11576304" cy="621792"/>
            </a:xfrm>
            <a:custGeom>
              <a:avLst/>
              <a:gdLst/>
              <a:ahLst/>
              <a:cxnLst/>
              <a:rect r="r" b="b" t="t" l="l"/>
              <a:pathLst>
                <a:path h="621792" w="11576304">
                  <a:moveTo>
                    <a:pt x="0" y="0"/>
                  </a:moveTo>
                  <a:lnTo>
                    <a:pt x="11576304" y="0"/>
                  </a:lnTo>
                  <a:lnTo>
                    <a:pt x="11576304" y="621792"/>
                  </a:lnTo>
                  <a:lnTo>
                    <a:pt x="0" y="621792"/>
                  </a:lnTo>
                  <a:close/>
                </a:path>
              </a:pathLst>
            </a:custGeom>
            <a:blipFill>
              <a:blip r:embed="rId7">
                <a:alphaModFix amt="0"/>
              </a:blip>
              <a:stretch>
                <a:fillRect l="0" t="-312765" r="0" b="-312765"/>
              </a:stretch>
            </a:blipFill>
          </p:spPr>
          <p:txBody>
            <a:bodyPr/>
            <a:p/>
          </p:txBody>
        </p:sp>
        <p:sp>
          <p:nvSpPr>
            <p:cNvPr name="TextBox 22" id="22"/>
            <p:cNvSpPr txBox="true"/>
            <p:nvPr/>
          </p:nvSpPr>
          <p:spPr>
            <a:xfrm>
              <a:off x="0" y="-19050"/>
              <a:ext cx="11576304" cy="640842"/>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ieeepecsb   |   sustain-a-thon.netlify.app</a:t>
              </a:r>
            </a:p>
          </p:txBody>
        </p:sp>
      </p:grpSp>
      <p:sp>
        <p:nvSpPr>
          <p:cNvPr id="23" name="Rounded Rectangle 22"/>
          <p:cNvSpPr/>
          <p:nvPr/>
        </p:nvSpPr>
        <p:spPr>
          <a:xfrm>
            <a:off x="9253728" y="7114032"/>
            <a:ext cx="8092440" cy="731520"/>
          </a:xfrm>
          <a:prstGeom prst="roundRect">
            <a:avLst>
              <a:gd name="adj" fmla="val 20000"/>
            </a:avLst>
          </a:prstGeom>
          <a:solidFill>
            <a:srgbClr val="EEF3FB"/>
          </a:solidFill>
          <a:ln>
            <a:noFill/>
          </a:ln>
          <a:effectLst/>
        </p:spPr>
        <p:txBody>
          <a:bodyPr rtlCol="0" anchor="ctr"/>
          <a:lstStyle/>
          <a:p/>
        </p:txBody>
      </p:sp>
      <p:sp>
        <p:nvSpPr>
          <p:cNvPr id="24" name="TextBox 23"/>
          <p:cNvSpPr txBox="1"/>
          <p:nvPr/>
        </p:nvSpPr>
        <p:spPr>
          <a:xfrm>
            <a:off x="9436608" y="7114032"/>
            <a:ext cx="7772400" cy="731520"/>
          </a:xfrm>
          <a:prstGeom prst="rect">
            <a:avLst/>
          </a:prstGeom>
          <a:noFill/>
        </p:spPr>
        <p:txBody>
          <a:bodyPr wrap="square" lIns="0" rIns="0" tIns="18288" bIns="18288" anchor="ctr">
            <a:spAutoFit/>
          </a:bodyPr>
          <a:lstStyle/>
          <a:p>
            <a:pPr algn="l"/>
            <a:r>
              <a:rPr sz="1900" b="1" i="0">
                <a:solidFill>
                  <a:srgbClr val="1B3A7A"/>
                </a:solidFill>
                <a:latin typeface="Arial"/>
              </a:rPr>
              <a:t>Team Prahari   </a:t>
            </a:r>
            <a:r>
              <a:rPr sz="1900" b="0" i="0">
                <a:solidFill>
                  <a:srgbClr val="1F2937"/>
                </a:solidFill>
                <a:latin typeface="Arial"/>
              </a:rPr>
              <a:t>L. Vishwa  ·  Vikranth Jayasarathy  ·  Yateesh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PROBLEM STATEMENT</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a:r>
              <a:r>
                <a:rPr sz="1650">
                  <a:solidFill>
                    <a:srgbClr val="FFFFFF"/>
                  </a:solidFill>
                  <a:latin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2</a:t>
            </a:r>
          </a:p>
        </p:txBody>
      </p:sp>
      <p:sp>
        <p:nvSpPr>
          <p:cNvPr id="17" name="Rounded Rectangle 16"/>
          <p:cNvSpPr/>
          <p:nvPr/>
        </p:nvSpPr>
        <p:spPr>
          <a:xfrm>
            <a:off x="685800" y="2011680"/>
            <a:ext cx="9052560" cy="566928"/>
          </a:xfrm>
          <a:prstGeom prst="roundRect">
            <a:avLst>
              <a:gd name="adj" fmla="val 50000"/>
            </a:avLst>
          </a:prstGeom>
          <a:solidFill>
            <a:srgbClr val="1B3A7A"/>
          </a:solidFill>
          <a:ln>
            <a:noFill/>
          </a:ln>
          <a:effectLst/>
        </p:spPr>
        <p:txBody>
          <a:bodyPr rtlCol="0" anchor="ctr"/>
          <a:lstStyle/>
          <a:p/>
        </p:txBody>
      </p:sp>
      <p:sp>
        <p:nvSpPr>
          <p:cNvPr id="18" name="TextBox 17"/>
          <p:cNvSpPr txBox="1"/>
          <p:nvPr/>
        </p:nvSpPr>
        <p:spPr>
          <a:xfrm>
            <a:off x="868680" y="2011680"/>
            <a:ext cx="8686800" cy="566928"/>
          </a:xfrm>
          <a:prstGeom prst="rect">
            <a:avLst/>
          </a:prstGeom>
          <a:noFill/>
        </p:spPr>
        <p:txBody>
          <a:bodyPr wrap="square" lIns="0" rIns="0" tIns="18288" bIns="18288" anchor="ctr">
            <a:spAutoFit/>
          </a:bodyPr>
          <a:lstStyle/>
          <a:p>
            <a:pPr algn="l"/>
            <a:r>
              <a:rPr sz="1800" b="1" i="0">
                <a:solidFill>
                  <a:srgbClr val="F9CE26"/>
                </a:solidFill>
                <a:latin typeface="Arial"/>
              </a:rPr>
              <a:t>PS-13-S3  ·  </a:t>
            </a:r>
            <a:r>
              <a:rPr sz="1800" b="0" i="0">
                <a:solidFill>
                  <a:srgbClr val="FFFFFF"/>
                </a:solidFill>
                <a:latin typeface="Arial"/>
              </a:rPr>
              <a:t>Finding India's Methane Super-Emitters From Orbit</a:t>
            </a:r>
          </a:p>
        </p:txBody>
      </p:sp>
      <p:sp>
        <p:nvSpPr>
          <p:cNvPr id="19" name="TextBox 18"/>
          <p:cNvSpPr txBox="1"/>
          <p:nvPr/>
        </p:nvSpPr>
        <p:spPr>
          <a:xfrm>
            <a:off x="685800" y="2743200"/>
            <a:ext cx="9052560" cy="1234440"/>
          </a:xfrm>
          <a:prstGeom prst="rect">
            <a:avLst/>
          </a:prstGeom>
          <a:noFill/>
        </p:spPr>
        <p:txBody>
          <a:bodyPr wrap="square" lIns="0" rIns="0" tIns="18288" bIns="18288" anchor="t">
            <a:spAutoFit/>
          </a:bodyPr>
          <a:lstStyle/>
          <a:p>
            <a:pPr algn="l"/>
            <a:r>
              <a:rPr sz="2900" b="1" i="0">
                <a:solidFill>
                  <a:srgbClr val="1B3A7A"/>
                </a:solidFill>
                <a:latin typeface="Arial"/>
              </a:rPr>
              <a:t>India is the world's second-largest methane emitter, yet no public map says which sites leak.</a:t>
            </a:r>
          </a:p>
        </p:txBody>
      </p:sp>
      <p:sp>
        <p:nvSpPr>
          <p:cNvPr id="20" name="Rounded Rectangle 19"/>
          <p:cNvSpPr/>
          <p:nvPr/>
        </p:nvSpPr>
        <p:spPr>
          <a:xfrm>
            <a:off x="685800" y="4114800"/>
            <a:ext cx="2880360" cy="2057400"/>
          </a:xfrm>
          <a:prstGeom prst="roundRect">
            <a:avLst>
              <a:gd name="adj" fmla="val 8000"/>
            </a:avLst>
          </a:prstGeom>
          <a:solidFill>
            <a:srgbClr val="EEF3FB"/>
          </a:solidFill>
          <a:ln>
            <a:noFill/>
          </a:ln>
          <a:effectLst/>
        </p:spPr>
        <p:txBody>
          <a:bodyPr rtlCol="0" anchor="ctr"/>
          <a:lstStyle/>
          <a:p/>
        </p:txBody>
      </p:sp>
      <p:sp>
        <p:nvSpPr>
          <p:cNvPr id="21" name="TextBox 20"/>
          <p:cNvSpPr txBox="1"/>
          <p:nvPr/>
        </p:nvSpPr>
        <p:spPr>
          <a:xfrm>
            <a:off x="886968" y="4206240"/>
            <a:ext cx="2560320" cy="914400"/>
          </a:xfrm>
          <a:prstGeom prst="rect">
            <a:avLst/>
          </a:prstGeom>
          <a:noFill/>
        </p:spPr>
        <p:txBody>
          <a:bodyPr wrap="square" lIns="0" rIns="0" tIns="18288" bIns="18288" anchor="t">
            <a:spAutoFit/>
          </a:bodyPr>
          <a:lstStyle/>
          <a:p>
            <a:pPr algn="l"/>
            <a:r>
              <a:rPr sz="5000" b="1" i="0">
                <a:solidFill>
                  <a:srgbClr val="E0662B"/>
                </a:solidFill>
                <a:latin typeface="Arial"/>
              </a:rPr>
              <a:t>~80×</a:t>
            </a:r>
          </a:p>
        </p:txBody>
      </p:sp>
      <p:sp>
        <p:nvSpPr>
          <p:cNvPr id="22" name="TextBox 21"/>
          <p:cNvSpPr txBox="1"/>
          <p:nvPr/>
        </p:nvSpPr>
        <p:spPr>
          <a:xfrm>
            <a:off x="886968" y="5120640"/>
            <a:ext cx="2560320" cy="1005840"/>
          </a:xfrm>
          <a:prstGeom prst="rect">
            <a:avLst/>
          </a:prstGeom>
          <a:noFill/>
        </p:spPr>
        <p:txBody>
          <a:bodyPr wrap="square" lIns="0" rIns="0" tIns="18288" bIns="18288" anchor="t">
            <a:spAutoFit/>
          </a:bodyPr>
          <a:lstStyle/>
          <a:p>
            <a:pPr algn="l"/>
            <a:r>
              <a:rPr sz="1500" b="0" i="0">
                <a:solidFill>
                  <a:srgbClr val="1F2937"/>
                </a:solidFill>
                <a:latin typeface="Arial"/>
              </a:rPr>
              <a:t>the warming of CO₂ over 20 years, tonne for tonne (IPCC AR6)</a:t>
            </a:r>
          </a:p>
        </p:txBody>
      </p:sp>
      <p:sp>
        <p:nvSpPr>
          <p:cNvPr id="23" name="Rounded Rectangle 22"/>
          <p:cNvSpPr/>
          <p:nvPr/>
        </p:nvSpPr>
        <p:spPr>
          <a:xfrm>
            <a:off x="3749039" y="4114800"/>
            <a:ext cx="2880360" cy="2057400"/>
          </a:xfrm>
          <a:prstGeom prst="roundRect">
            <a:avLst>
              <a:gd name="adj" fmla="val 8000"/>
            </a:avLst>
          </a:prstGeom>
          <a:solidFill>
            <a:srgbClr val="EEF3FB"/>
          </a:solidFill>
          <a:ln>
            <a:noFill/>
          </a:ln>
          <a:effectLst/>
        </p:spPr>
        <p:txBody>
          <a:bodyPr rtlCol="0" anchor="ctr"/>
          <a:lstStyle/>
          <a:p/>
        </p:txBody>
      </p:sp>
      <p:sp>
        <p:nvSpPr>
          <p:cNvPr id="24" name="TextBox 23"/>
          <p:cNvSpPr txBox="1"/>
          <p:nvPr/>
        </p:nvSpPr>
        <p:spPr>
          <a:xfrm>
            <a:off x="3950207" y="4206240"/>
            <a:ext cx="2560320" cy="914400"/>
          </a:xfrm>
          <a:prstGeom prst="rect">
            <a:avLst/>
          </a:prstGeom>
          <a:noFill/>
        </p:spPr>
        <p:txBody>
          <a:bodyPr wrap="square" lIns="0" rIns="0" tIns="18288" bIns="18288" anchor="t">
            <a:spAutoFit/>
          </a:bodyPr>
          <a:lstStyle/>
          <a:p>
            <a:pPr algn="l"/>
            <a:r>
              <a:rPr sz="5000" b="1" i="0">
                <a:solidFill>
                  <a:srgbClr val="1B3A7A"/>
                </a:solidFill>
                <a:latin typeface="Arial"/>
              </a:rPr>
              <a:t>30 Mt</a:t>
            </a:r>
          </a:p>
        </p:txBody>
      </p:sp>
      <p:sp>
        <p:nvSpPr>
          <p:cNvPr id="25" name="TextBox 24"/>
          <p:cNvSpPr txBox="1"/>
          <p:nvPr/>
        </p:nvSpPr>
        <p:spPr>
          <a:xfrm>
            <a:off x="3950207" y="5120640"/>
            <a:ext cx="2560320" cy="1005840"/>
          </a:xfrm>
          <a:prstGeom prst="rect">
            <a:avLst/>
          </a:prstGeom>
          <a:noFill/>
        </p:spPr>
        <p:txBody>
          <a:bodyPr wrap="square" lIns="0" rIns="0" tIns="18288" bIns="18288" anchor="t">
            <a:spAutoFit/>
          </a:bodyPr>
          <a:lstStyle/>
          <a:p>
            <a:pPr algn="l"/>
            <a:r>
              <a:rPr sz="1500" b="0" i="0">
                <a:solidFill>
                  <a:srgbClr val="1F2937"/>
                </a:solidFill>
                <a:latin typeface="Arial"/>
              </a:rPr>
              <a:t>methane from India in 2023, second only to China (IEA)</a:t>
            </a:r>
          </a:p>
        </p:txBody>
      </p:sp>
      <p:sp>
        <p:nvSpPr>
          <p:cNvPr id="26" name="Rounded Rectangle 25"/>
          <p:cNvSpPr/>
          <p:nvPr/>
        </p:nvSpPr>
        <p:spPr>
          <a:xfrm>
            <a:off x="6812280" y="4114800"/>
            <a:ext cx="2880360" cy="2057400"/>
          </a:xfrm>
          <a:prstGeom prst="roundRect">
            <a:avLst>
              <a:gd name="adj" fmla="val 8000"/>
            </a:avLst>
          </a:prstGeom>
          <a:solidFill>
            <a:srgbClr val="EEF3FB"/>
          </a:solidFill>
          <a:ln>
            <a:noFill/>
          </a:ln>
          <a:effectLst/>
        </p:spPr>
        <p:txBody>
          <a:bodyPr rtlCol="0" anchor="ctr"/>
          <a:lstStyle/>
          <a:p/>
        </p:txBody>
      </p:sp>
      <p:sp>
        <p:nvSpPr>
          <p:cNvPr id="27" name="TextBox 26"/>
          <p:cNvSpPr txBox="1"/>
          <p:nvPr/>
        </p:nvSpPr>
        <p:spPr>
          <a:xfrm>
            <a:off x="7013448" y="4206240"/>
            <a:ext cx="2560320" cy="914400"/>
          </a:xfrm>
          <a:prstGeom prst="rect">
            <a:avLst/>
          </a:prstGeom>
          <a:noFill/>
        </p:spPr>
        <p:txBody>
          <a:bodyPr wrap="square" lIns="0" rIns="0" tIns="18288" bIns="18288" anchor="t">
            <a:spAutoFit/>
          </a:bodyPr>
          <a:lstStyle/>
          <a:p>
            <a:pPr algn="l"/>
            <a:r>
              <a:rPr sz="5000" b="1" i="0">
                <a:solidFill>
                  <a:srgbClr val="1E6FD9"/>
                </a:solidFill>
                <a:latin typeface="Arial"/>
              </a:rPr>
              <a:t>~30%</a:t>
            </a:r>
          </a:p>
        </p:txBody>
      </p:sp>
      <p:sp>
        <p:nvSpPr>
          <p:cNvPr id="28" name="TextBox 27"/>
          <p:cNvSpPr txBox="1"/>
          <p:nvPr/>
        </p:nvSpPr>
        <p:spPr>
          <a:xfrm>
            <a:off x="7013448" y="5120640"/>
            <a:ext cx="2560320" cy="1005840"/>
          </a:xfrm>
          <a:prstGeom prst="rect">
            <a:avLst/>
          </a:prstGeom>
          <a:noFill/>
        </p:spPr>
        <p:txBody>
          <a:bodyPr wrap="square" lIns="0" rIns="0" tIns="18288" bIns="18288" anchor="t">
            <a:spAutoFit/>
          </a:bodyPr>
          <a:lstStyle/>
          <a:p>
            <a:pPr algn="l"/>
            <a:r>
              <a:rPr sz="1500" b="0" i="0">
                <a:solidFill>
                  <a:srgbClr val="1F2937"/>
                </a:solidFill>
                <a:latin typeface="Arial"/>
              </a:rPr>
              <a:t>of global warming since the Industrial Revolution is methane (IEA)</a:t>
            </a:r>
          </a:p>
        </p:txBody>
      </p:sp>
      <p:sp>
        <p:nvSpPr>
          <p:cNvPr id="29" name="Oval 28"/>
          <p:cNvSpPr/>
          <p:nvPr/>
        </p:nvSpPr>
        <p:spPr>
          <a:xfrm>
            <a:off x="685800" y="6519672"/>
            <a:ext cx="566928" cy="566928"/>
          </a:xfrm>
          <a:prstGeom prst="ellipse">
            <a:avLst/>
          </a:prstGeom>
          <a:solidFill>
            <a:srgbClr val="F9CE26"/>
          </a:solidFill>
          <a:ln>
            <a:noFill/>
          </a:ln>
          <a:effectLst/>
        </p:spPr>
        <p:txBody>
          <a:bodyPr rtlCol="0" anchor="ctr" wrap="square" lIns="0" rIns="0" tIns="18288" bIns="18288"/>
          <a:lstStyle/>
          <a:p>
            <a:pPr algn="ctr"/>
            <a:r>
              <a:rPr sz="2000" b="1" i="0">
                <a:solidFill>
                  <a:srgbClr val="1B3A7A"/>
                </a:solidFill>
                <a:latin typeface="Arial"/>
              </a:rPr>
              <a:t>1</a:t>
            </a:r>
          </a:p>
        </p:txBody>
      </p:sp>
      <p:sp>
        <p:nvSpPr>
          <p:cNvPr id="30" name="TextBox 29"/>
          <p:cNvSpPr txBox="1"/>
          <p:nvPr/>
        </p:nvSpPr>
        <p:spPr>
          <a:xfrm>
            <a:off x="1463040" y="6446520"/>
            <a:ext cx="8321040" cy="960120"/>
          </a:xfrm>
          <a:prstGeom prst="rect">
            <a:avLst/>
          </a:prstGeom>
          <a:noFill/>
        </p:spPr>
        <p:txBody>
          <a:bodyPr wrap="square" lIns="0" rIns="0" tIns="18288" bIns="18288" anchor="t">
            <a:spAutoFit/>
          </a:bodyPr>
          <a:lstStyle/>
          <a:p>
            <a:pPr algn="l"/>
            <a:r>
              <a:rPr sz="1900" b="1" i="0">
                <a:solidFill>
                  <a:srgbClr val="1B3A7A"/>
                </a:solidFill>
                <a:latin typeface="Arial"/>
              </a:rPr>
              <a:t>No site-level inventory  </a:t>
            </a:r>
          </a:p>
          <a:p>
            <a:pPr algn="l"/>
            <a:r>
              <a:rPr sz="1500" b="0" i="0">
                <a:solidFill>
                  <a:srgbClr val="1F2937"/>
                </a:solidFill>
                <a:latin typeface="Arial"/>
              </a:rPr>
              <a:t>India reports national totals. Nobody publishes which landfill or coal field leaks how much.</a:t>
            </a:r>
          </a:p>
        </p:txBody>
      </p:sp>
      <p:sp>
        <p:nvSpPr>
          <p:cNvPr id="31" name="Oval 30"/>
          <p:cNvSpPr/>
          <p:nvPr/>
        </p:nvSpPr>
        <p:spPr>
          <a:xfrm>
            <a:off x="685800" y="7543800"/>
            <a:ext cx="566928" cy="566928"/>
          </a:xfrm>
          <a:prstGeom prst="ellipse">
            <a:avLst/>
          </a:prstGeom>
          <a:solidFill>
            <a:srgbClr val="F9CE26"/>
          </a:solidFill>
          <a:ln>
            <a:noFill/>
          </a:ln>
          <a:effectLst/>
        </p:spPr>
        <p:txBody>
          <a:bodyPr rtlCol="0" anchor="ctr" wrap="square" lIns="0" rIns="0" tIns="18288" bIns="18288"/>
          <a:lstStyle/>
          <a:p>
            <a:pPr algn="ctr"/>
            <a:r>
              <a:rPr sz="2000" b="1" i="0">
                <a:solidFill>
                  <a:srgbClr val="1B3A7A"/>
                </a:solidFill>
                <a:latin typeface="Arial"/>
              </a:rPr>
              <a:t>2</a:t>
            </a:r>
          </a:p>
        </p:txBody>
      </p:sp>
      <p:sp>
        <p:nvSpPr>
          <p:cNvPr id="32" name="TextBox 31"/>
          <p:cNvSpPr txBox="1"/>
          <p:nvPr/>
        </p:nvSpPr>
        <p:spPr>
          <a:xfrm>
            <a:off x="1463040" y="7470648"/>
            <a:ext cx="8321040" cy="960120"/>
          </a:xfrm>
          <a:prstGeom prst="rect">
            <a:avLst/>
          </a:prstGeom>
          <a:noFill/>
        </p:spPr>
        <p:txBody>
          <a:bodyPr wrap="square" lIns="0" rIns="0" tIns="18288" bIns="18288" anchor="t">
            <a:spAutoFit/>
          </a:bodyPr>
          <a:lstStyle/>
          <a:p>
            <a:pPr algn="l"/>
            <a:r>
              <a:rPr sz="1900" b="1" i="0">
                <a:solidFill>
                  <a:srgbClr val="1B3A7A"/>
                </a:solidFill>
                <a:latin typeface="Arial"/>
              </a:rPr>
              <a:t>Raw satellite data is not an answer  </a:t>
            </a:r>
          </a:p>
          <a:p>
            <a:pPr algn="l"/>
            <a:r>
              <a:rPr sz="1500" b="0" i="0">
                <a:solidFill>
                  <a:srgbClr val="1F2937"/>
                </a:solidFill>
                <a:latin typeface="Arial"/>
              </a:rPr>
              <a:t>7 km pixels, bright-desert and haze bias, and a monsoon that hides most of India from June to September.</a:t>
            </a:r>
          </a:p>
        </p:txBody>
      </p:sp>
      <p:sp>
        <p:nvSpPr>
          <p:cNvPr id="33" name="Oval 32"/>
          <p:cNvSpPr/>
          <p:nvPr/>
        </p:nvSpPr>
        <p:spPr>
          <a:xfrm>
            <a:off x="685800" y="8567928"/>
            <a:ext cx="566928" cy="566928"/>
          </a:xfrm>
          <a:prstGeom prst="ellipse">
            <a:avLst/>
          </a:prstGeom>
          <a:solidFill>
            <a:srgbClr val="F9CE26"/>
          </a:solidFill>
          <a:ln>
            <a:noFill/>
          </a:ln>
          <a:effectLst/>
        </p:spPr>
        <p:txBody>
          <a:bodyPr rtlCol="0" anchor="ctr" wrap="square" lIns="0" rIns="0" tIns="18288" bIns="18288"/>
          <a:lstStyle/>
          <a:p>
            <a:pPr algn="ctr"/>
            <a:r>
              <a:rPr sz="2000" b="1" i="0">
                <a:solidFill>
                  <a:srgbClr val="1B3A7A"/>
                </a:solidFill>
                <a:latin typeface="Arial"/>
              </a:rPr>
              <a:t>3</a:t>
            </a:r>
          </a:p>
        </p:txBody>
      </p:sp>
      <p:sp>
        <p:nvSpPr>
          <p:cNvPr id="34" name="TextBox 33"/>
          <p:cNvSpPr txBox="1"/>
          <p:nvPr/>
        </p:nvSpPr>
        <p:spPr>
          <a:xfrm>
            <a:off x="1463040" y="8494776"/>
            <a:ext cx="8321040" cy="960120"/>
          </a:xfrm>
          <a:prstGeom prst="rect">
            <a:avLst/>
          </a:prstGeom>
          <a:noFill/>
        </p:spPr>
        <p:txBody>
          <a:bodyPr wrap="square" lIns="0" rIns="0" tIns="18288" bIns="18288" anchor="t">
            <a:spAutoFit/>
          </a:bodyPr>
          <a:lstStyle/>
          <a:p>
            <a:pPr algn="l"/>
            <a:r>
              <a:rPr sz="1900" b="1" i="0">
                <a:solidFill>
                  <a:srgbClr val="1B3A7A"/>
                </a:solidFill>
                <a:latin typeface="Arial"/>
              </a:rPr>
              <a:t>A wrong accusation is costly  </a:t>
            </a:r>
          </a:p>
          <a:p>
            <a:pPr algn="l"/>
            <a:r>
              <a:rPr sz="1500" b="0" i="0">
                <a:solidFill>
                  <a:srgbClr val="1F2937"/>
                </a:solidFill>
                <a:latin typeface="Arial"/>
              </a:rPr>
              <a:t>Naming a site needs statistical proof, an independent check and a human sign-off, not a bright pixel.</a:t>
            </a:r>
          </a:p>
        </p:txBody>
      </p:sp>
      <p:sp>
        <p:nvSpPr>
          <p:cNvPr id="35" name="Rounded Rectangle 34"/>
          <p:cNvSpPr/>
          <p:nvPr/>
        </p:nvSpPr>
        <p:spPr>
          <a:xfrm>
            <a:off x="10149840" y="2011680"/>
            <a:ext cx="7452360" cy="5806440"/>
          </a:xfrm>
          <a:prstGeom prst="roundRect">
            <a:avLst>
              <a:gd name="adj" fmla="val 4000"/>
            </a:avLst>
          </a:prstGeom>
          <a:solidFill>
            <a:srgbClr val="FFFFFF"/>
          </a:solidFill>
          <a:ln w="12700">
            <a:solidFill>
              <a:srgbClr val="D5DEEE"/>
            </a:solidFill>
          </a:ln>
          <a:effectLst/>
        </p:spPr>
        <p:txBody>
          <a:bodyPr rtlCol="0" anchor="ctr"/>
          <a:lstStyle/>
          <a:p/>
        </p:txBody>
      </p:sp>
      <p:graphicFrame>
        <p:nvGraphicFramePr>
          <p:cNvPr id="36" name="Chart 35"/>
          <p:cNvGraphicFramePr>
            <a:graphicFrameLocks noGrp="1"/>
          </p:cNvGraphicFramePr>
          <p:nvPr/>
        </p:nvGraphicFramePr>
        <p:xfrm>
          <a:off x="10332720" y="2148840"/>
          <a:ext cx="7132320" cy="4937760"/>
        </p:xfrm>
        <a:graphic>
          <a:graphicData uri="http://schemas.openxmlformats.org/drawingml/2006/chart">
            <c:chart xmlns:c="http://schemas.openxmlformats.org/drawingml/2006/chart" r:id="rId7"/>
          </a:graphicData>
        </a:graphic>
      </p:graphicFrame>
      <p:sp>
        <p:nvSpPr>
          <p:cNvPr id="37" name="TextBox 36"/>
          <p:cNvSpPr txBox="1"/>
          <p:nvPr/>
        </p:nvSpPr>
        <p:spPr>
          <a:xfrm>
            <a:off x="10378440" y="7059168"/>
            <a:ext cx="7040880" cy="731520"/>
          </a:xfrm>
          <a:prstGeom prst="rect">
            <a:avLst/>
          </a:prstGeom>
          <a:noFill/>
        </p:spPr>
        <p:txBody>
          <a:bodyPr wrap="square" lIns="0" rIns="0" tIns="18288" bIns="18288" anchor="t">
            <a:spAutoFit/>
          </a:bodyPr>
          <a:lstStyle/>
          <a:p>
            <a:pPr algn="l"/>
            <a:r>
              <a:rPr sz="1400" b="1" i="0">
                <a:solidFill>
                  <a:srgbClr val="E0662B"/>
                </a:solidFill>
                <a:latin typeface="Arial"/>
              </a:rPr>
              <a:t>July sees ~44× fewer clear pixels than December. </a:t>
            </a:r>
            <a:r>
              <a:rPr sz="1400" b="0" i="0">
                <a:solidFill>
                  <a:srgbClr val="5B6B8C"/>
                </a:solidFill>
                <a:latin typeface="Arial"/>
              </a:rPr>
              <a:t>Our measurement: 2,597 Sentinel-5P files, Jan 2023 to Sep 2026.</a:t>
            </a:r>
          </a:p>
        </p:txBody>
      </p:sp>
      <p:sp>
        <p:nvSpPr>
          <p:cNvPr id="38" name="Rounded Rectangle 37"/>
          <p:cNvSpPr/>
          <p:nvPr/>
        </p:nvSpPr>
        <p:spPr>
          <a:xfrm>
            <a:off x="10149840" y="8001000"/>
            <a:ext cx="7452360" cy="1508760"/>
          </a:xfrm>
          <a:prstGeom prst="roundRect">
            <a:avLst>
              <a:gd name="adj" fmla="val 8000"/>
            </a:avLst>
          </a:prstGeom>
          <a:solidFill>
            <a:srgbClr val="FFF7D6"/>
          </a:solidFill>
          <a:ln>
            <a:noFill/>
          </a:ln>
          <a:effectLst/>
        </p:spPr>
        <p:txBody>
          <a:bodyPr rtlCol="0" anchor="ctr"/>
          <a:lstStyle/>
          <a:p/>
        </p:txBody>
      </p:sp>
      <p:sp>
        <p:nvSpPr>
          <p:cNvPr id="39" name="TextBox 38"/>
          <p:cNvSpPr txBox="1"/>
          <p:nvPr/>
        </p:nvSpPr>
        <p:spPr>
          <a:xfrm>
            <a:off x="10378440" y="8046720"/>
            <a:ext cx="7040880" cy="1417320"/>
          </a:xfrm>
          <a:prstGeom prst="rect">
            <a:avLst/>
          </a:prstGeom>
          <a:noFill/>
        </p:spPr>
        <p:txBody>
          <a:bodyPr wrap="square" lIns="0" rIns="0" tIns="18288" bIns="18288" anchor="ctr">
            <a:spAutoFit/>
          </a:bodyPr>
          <a:lstStyle/>
          <a:p>
            <a:pPr algn="l"/>
            <a:r>
              <a:rPr sz="1500" b="1" i="0">
                <a:solidFill>
                  <a:srgbClr val="1B3A7A"/>
                </a:solidFill>
                <a:latin typeface="Arial"/>
              </a:rPr>
              <a:t>Landfills are the fastest methane to fix. </a:t>
            </a:r>
            <a:r>
              <a:rPr sz="1500" b="0" i="0">
                <a:solidFill>
                  <a:srgbClr val="1F2937"/>
                </a:solidFill>
                <a:latin typeface="Arial"/>
              </a:rPr>
              <a:t>India has 2,438 legacy dumpsites under Swachh Bharat, and waste-sector emissions are projected to rise from 20 to 76 Mt CO₂e by 2030 (Harvard Salata Institute, 2024).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PROPOSED SOLUTION</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3</a:t>
            </a:r>
          </a:p>
        </p:txBody>
      </p:sp>
      <p:sp>
        <p:nvSpPr>
          <p:cNvPr id="17" name="Rounded Rectangle 16"/>
          <p:cNvSpPr/>
          <p:nvPr/>
        </p:nvSpPr>
        <p:spPr>
          <a:xfrm>
            <a:off x="685800" y="2011680"/>
            <a:ext cx="16916400" cy="868680"/>
          </a:xfrm>
          <a:prstGeom prst="roundRect">
            <a:avLst>
              <a:gd name="adj" fmla="val 30000"/>
            </a:avLst>
          </a:prstGeom>
          <a:solidFill>
            <a:srgbClr val="1B3A7A"/>
          </a:solidFill>
          <a:ln>
            <a:noFill/>
          </a:ln>
          <a:effectLst/>
        </p:spPr>
        <p:txBody>
          <a:bodyPr rtlCol="0" anchor="ctr"/>
          <a:lstStyle/>
          <a:p/>
        </p:txBody>
      </p:sp>
      <p:sp>
        <p:nvSpPr>
          <p:cNvPr id="18" name="TextBox 17"/>
          <p:cNvSpPr txBox="1"/>
          <p:nvPr/>
        </p:nvSpPr>
        <p:spPr>
          <a:xfrm>
            <a:off x="960120" y="2011680"/>
            <a:ext cx="16459200" cy="868680"/>
          </a:xfrm>
          <a:prstGeom prst="rect">
            <a:avLst/>
          </a:prstGeom>
          <a:noFill/>
        </p:spPr>
        <p:txBody>
          <a:bodyPr wrap="square" lIns="0" rIns="0" tIns="18288" bIns="18288" anchor="ctr">
            <a:spAutoFit/>
          </a:bodyPr>
          <a:lstStyle/>
          <a:p>
            <a:pPr algn="l"/>
            <a:r>
              <a:rPr sz="1800" b="1" i="0">
                <a:solidFill>
                  <a:srgbClr val="F9CE26"/>
                </a:solidFill>
                <a:latin typeface="Arial"/>
              </a:rPr>
              <a:t>In one line: </a:t>
            </a:r>
            <a:r>
              <a:rPr sz="1800" b="0" i="0">
                <a:solidFill>
                  <a:srgbClr val="FFFFFF"/>
                </a:solidFill>
                <a:latin typeface="Arial"/>
              </a:rPr>
              <a:t>Vāyu Lekha turns every clear Sentinel-5P pass over India into a statistically checked, ranked ledger of the methane sources worth fixing first, refreshed every 3 hours and free to read.</a:t>
            </a:r>
          </a:p>
        </p:txBody>
      </p:sp>
      <p:sp>
        <p:nvSpPr>
          <p:cNvPr id="19" name="Rounded Rectangle 18"/>
          <p:cNvSpPr/>
          <p:nvPr/>
        </p:nvSpPr>
        <p:spPr>
          <a:xfrm>
            <a:off x="685800" y="3063240"/>
            <a:ext cx="2587752" cy="3337560"/>
          </a:xfrm>
          <a:prstGeom prst="roundRect">
            <a:avLst>
              <a:gd name="adj" fmla="val 5000"/>
            </a:avLst>
          </a:prstGeom>
          <a:solidFill>
            <a:srgbClr val="EEF3FB"/>
          </a:solidFill>
          <a:ln>
            <a:noFill/>
          </a:ln>
          <a:effectLst/>
        </p:spPr>
        <p:txBody>
          <a:bodyPr rtlCol="0" anchor="ctr"/>
          <a:lstStyle/>
          <a:p/>
        </p:txBody>
      </p:sp>
      <p:pic>
        <p:nvPicPr>
          <p:cNvPr id="20" name="Picture 19" descr="st_ingest.jpg"/>
          <p:cNvPicPr>
            <a:picLocks noChangeAspect="1"/>
          </p:cNvPicPr>
          <p:nvPr/>
        </p:nvPicPr>
        <p:blipFill>
          <a:blip r:embed="rId7"/>
          <a:stretch>
            <a:fillRect/>
          </a:stretch>
        </p:blipFill>
        <p:spPr>
          <a:xfrm>
            <a:off x="685800" y="3063240"/>
            <a:ext cx="2587752" cy="1455610"/>
          </a:xfrm>
          <a:prstGeom prst="rect">
            <a:avLst/>
          </a:prstGeom>
        </p:spPr>
      </p:pic>
      <p:sp>
        <p:nvSpPr>
          <p:cNvPr id="21" name="TextBox 20"/>
          <p:cNvSpPr txBox="1"/>
          <p:nvPr/>
        </p:nvSpPr>
        <p:spPr>
          <a:xfrm>
            <a:off x="813816"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1 · INGEST</a:t>
            </a:r>
          </a:p>
        </p:txBody>
      </p:sp>
      <p:sp>
        <p:nvSpPr>
          <p:cNvPr id="22" name="TextBox 21"/>
          <p:cNvSpPr txBox="1"/>
          <p:nvPr/>
        </p:nvSpPr>
        <p:spPr>
          <a:xfrm>
            <a:off x="813816"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Samrat Yantra</a:t>
            </a:r>
          </a:p>
        </p:txBody>
      </p:sp>
      <p:sp>
        <p:nvSpPr>
          <p:cNvPr id="23" name="TextBox 22"/>
          <p:cNvSpPr txBox="1"/>
          <p:nvPr/>
        </p:nvSpPr>
        <p:spPr>
          <a:xfrm>
            <a:off x="813816"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Newest pass every 3 h; each file checksum-matched to Copernicus</a:t>
            </a:r>
          </a:p>
        </p:txBody>
      </p:sp>
      <p:sp>
        <p:nvSpPr>
          <p:cNvPr id="24" name="TextBox 23"/>
          <p:cNvSpPr txBox="1"/>
          <p:nvPr/>
        </p:nvSpPr>
        <p:spPr>
          <a:xfrm>
            <a:off x="813816"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Checksum · qa ≥ 0.5</a:t>
            </a:r>
          </a:p>
        </p:txBody>
      </p:sp>
      <p:sp>
        <p:nvSpPr>
          <p:cNvPr id="25" name="Right Arrow 24"/>
          <p:cNvSpPr/>
          <p:nvPr/>
        </p:nvSpPr>
        <p:spPr>
          <a:xfrm>
            <a:off x="3291840" y="3644741"/>
            <a:ext cx="246888" cy="292608"/>
          </a:xfrm>
          <a:prstGeom prst="rightArrow">
            <a:avLst/>
          </a:prstGeom>
          <a:solidFill>
            <a:srgbClr val="F9CE26"/>
          </a:solidFill>
          <a:ln>
            <a:noFill/>
          </a:ln>
          <a:effectLst/>
        </p:spPr>
        <p:txBody>
          <a:bodyPr rtlCol="0" anchor="ctr"/>
          <a:lstStyle/>
          <a:p/>
        </p:txBody>
      </p:sp>
      <p:sp>
        <p:nvSpPr>
          <p:cNvPr id="26" name="Rounded Rectangle 25"/>
          <p:cNvSpPr/>
          <p:nvPr/>
        </p:nvSpPr>
        <p:spPr>
          <a:xfrm>
            <a:off x="3551529" y="3063240"/>
            <a:ext cx="2587752" cy="3337560"/>
          </a:xfrm>
          <a:prstGeom prst="roundRect">
            <a:avLst>
              <a:gd name="adj" fmla="val 5000"/>
            </a:avLst>
          </a:prstGeom>
          <a:solidFill>
            <a:srgbClr val="EEF3FB"/>
          </a:solidFill>
          <a:ln>
            <a:noFill/>
          </a:ln>
          <a:effectLst/>
        </p:spPr>
        <p:txBody>
          <a:bodyPr rtlCol="0" anchor="ctr"/>
          <a:lstStyle/>
          <a:p/>
        </p:txBody>
      </p:sp>
      <p:pic>
        <p:nvPicPr>
          <p:cNvPr id="27" name="Picture 26" descr="st_observe.jpg"/>
          <p:cNvPicPr>
            <a:picLocks noChangeAspect="1"/>
          </p:cNvPicPr>
          <p:nvPr/>
        </p:nvPicPr>
        <p:blipFill>
          <a:blip r:embed="rId8"/>
          <a:stretch>
            <a:fillRect/>
          </a:stretch>
        </p:blipFill>
        <p:spPr>
          <a:xfrm>
            <a:off x="3551529" y="3063240"/>
            <a:ext cx="2587752" cy="1455610"/>
          </a:xfrm>
          <a:prstGeom prst="rect">
            <a:avLst/>
          </a:prstGeom>
        </p:spPr>
      </p:pic>
      <p:sp>
        <p:nvSpPr>
          <p:cNvPr id="28" name="TextBox 27"/>
          <p:cNvSpPr txBox="1"/>
          <p:nvPr/>
        </p:nvSpPr>
        <p:spPr>
          <a:xfrm>
            <a:off x="3679545"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2 · CLEAN</a:t>
            </a:r>
          </a:p>
        </p:txBody>
      </p:sp>
      <p:sp>
        <p:nvSpPr>
          <p:cNvPr id="29" name="TextBox 28"/>
          <p:cNvSpPr txBox="1"/>
          <p:nvPr/>
        </p:nvSpPr>
        <p:spPr>
          <a:xfrm>
            <a:off x="3679545"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TROPOMI floor map</a:t>
            </a:r>
          </a:p>
        </p:txBody>
      </p:sp>
      <p:sp>
        <p:nvSpPr>
          <p:cNvPr id="30" name="TextBox 29"/>
          <p:cNvSpPr txBox="1"/>
          <p:nvPr/>
        </p:nvSpPr>
        <p:spPr>
          <a:xfrm>
            <a:off x="3679545"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Remove surface-brightness and haze bias; weight each pass by its noise</a:t>
            </a:r>
          </a:p>
        </p:txBody>
      </p:sp>
      <p:sp>
        <p:nvSpPr>
          <p:cNvPr id="31" name="TextBox 30"/>
          <p:cNvSpPr txBox="1"/>
          <p:nvPr/>
        </p:nvSpPr>
        <p:spPr>
          <a:xfrm>
            <a:off x="3679545"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ABD · SRECE</a:t>
            </a:r>
          </a:p>
        </p:txBody>
      </p:sp>
      <p:sp>
        <p:nvSpPr>
          <p:cNvPr id="32" name="Right Arrow 31"/>
          <p:cNvSpPr/>
          <p:nvPr/>
        </p:nvSpPr>
        <p:spPr>
          <a:xfrm>
            <a:off x="6157569" y="3644741"/>
            <a:ext cx="246888" cy="292608"/>
          </a:xfrm>
          <a:prstGeom prst="rightArrow">
            <a:avLst/>
          </a:prstGeom>
          <a:solidFill>
            <a:srgbClr val="F9CE26"/>
          </a:solidFill>
          <a:ln>
            <a:noFill/>
          </a:ln>
          <a:effectLst/>
        </p:spPr>
        <p:txBody>
          <a:bodyPr rtlCol="0" anchor="ctr"/>
          <a:lstStyle/>
          <a:p/>
        </p:txBody>
      </p:sp>
      <p:sp>
        <p:nvSpPr>
          <p:cNvPr id="33" name="Rounded Rectangle 32"/>
          <p:cNvSpPr/>
          <p:nvPr/>
        </p:nvSpPr>
        <p:spPr>
          <a:xfrm>
            <a:off x="6417259" y="3063240"/>
            <a:ext cx="2587752" cy="3337560"/>
          </a:xfrm>
          <a:prstGeom prst="roundRect">
            <a:avLst>
              <a:gd name="adj" fmla="val 5000"/>
            </a:avLst>
          </a:prstGeom>
          <a:solidFill>
            <a:srgbClr val="EEF3FB"/>
          </a:solidFill>
          <a:ln>
            <a:noFill/>
          </a:ln>
          <a:effectLst/>
        </p:spPr>
        <p:txBody>
          <a:bodyPr rtlCol="0" anchor="ctr"/>
          <a:lstStyle/>
          <a:p/>
        </p:txBody>
      </p:sp>
      <p:pic>
        <p:nvPicPr>
          <p:cNvPr id="34" name="Picture 33" descr="st_seasons.jpg"/>
          <p:cNvPicPr>
            <a:picLocks noChangeAspect="1"/>
          </p:cNvPicPr>
          <p:nvPr/>
        </p:nvPicPr>
        <p:blipFill>
          <a:blip r:embed="rId9"/>
          <a:stretch>
            <a:fillRect/>
          </a:stretch>
        </p:blipFill>
        <p:spPr>
          <a:xfrm>
            <a:off x="6417259" y="3063240"/>
            <a:ext cx="2587752" cy="1455610"/>
          </a:xfrm>
          <a:prstGeom prst="rect">
            <a:avLst/>
          </a:prstGeom>
        </p:spPr>
      </p:pic>
      <p:sp>
        <p:nvSpPr>
          <p:cNvPr id="35" name="TextBox 34"/>
          <p:cNvSpPr txBox="1"/>
          <p:nvPr/>
        </p:nvSpPr>
        <p:spPr>
          <a:xfrm>
            <a:off x="6545275"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3 · SEASONS</a:t>
            </a:r>
          </a:p>
        </p:txBody>
      </p:sp>
      <p:sp>
        <p:nvSpPr>
          <p:cNvPr id="36" name="TextBox 35"/>
          <p:cNvSpPr txBox="1"/>
          <p:nvPr/>
        </p:nvSpPr>
        <p:spPr>
          <a:xfrm>
            <a:off x="6545275"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Rashivalaya Yantra</a:t>
            </a:r>
          </a:p>
        </p:txBody>
      </p:sp>
      <p:sp>
        <p:nvSpPr>
          <p:cNvPr id="37" name="TextBox 36"/>
          <p:cNvSpPr txBox="1"/>
          <p:nvPr/>
        </p:nvSpPr>
        <p:spPr>
          <a:xfrm>
            <a:off x="6545275"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Drop monsoon months; subtract paddy and regional background per site</a:t>
            </a:r>
          </a:p>
        </p:txBody>
      </p:sp>
      <p:sp>
        <p:nvSpPr>
          <p:cNvPr id="38" name="TextBox 37"/>
          <p:cNvSpPr txBox="1"/>
          <p:nvPr/>
        </p:nvSpPr>
        <p:spPr>
          <a:xfrm>
            <a:off x="6545275"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Monsoon exclusion · Plane bg</a:t>
            </a:r>
          </a:p>
        </p:txBody>
      </p:sp>
      <p:sp>
        <p:nvSpPr>
          <p:cNvPr id="39" name="Right Arrow 38"/>
          <p:cNvSpPr/>
          <p:nvPr/>
        </p:nvSpPr>
        <p:spPr>
          <a:xfrm>
            <a:off x="9023299" y="3644741"/>
            <a:ext cx="246888" cy="292608"/>
          </a:xfrm>
          <a:prstGeom prst="rightArrow">
            <a:avLst/>
          </a:prstGeom>
          <a:solidFill>
            <a:srgbClr val="F9CE26"/>
          </a:solidFill>
          <a:ln>
            <a:noFill/>
          </a:ln>
          <a:effectLst/>
        </p:spPr>
        <p:txBody>
          <a:bodyPr rtlCol="0" anchor="ctr"/>
          <a:lstStyle/>
          <a:p/>
        </p:txBody>
      </p:sp>
      <p:sp>
        <p:nvSpPr>
          <p:cNvPr id="40" name="Rounded Rectangle 39"/>
          <p:cNvSpPr/>
          <p:nvPr/>
        </p:nvSpPr>
        <p:spPr>
          <a:xfrm>
            <a:off x="9282988" y="3063240"/>
            <a:ext cx="2587752" cy="3337560"/>
          </a:xfrm>
          <a:prstGeom prst="roundRect">
            <a:avLst>
              <a:gd name="adj" fmla="val 5000"/>
            </a:avLst>
          </a:prstGeom>
          <a:solidFill>
            <a:srgbClr val="EEF3FB"/>
          </a:solidFill>
          <a:ln>
            <a:noFill/>
          </a:ln>
          <a:effectLst/>
        </p:spPr>
        <p:txBody>
          <a:bodyPr rtlCol="0" anchor="ctr"/>
          <a:lstStyle/>
          <a:p/>
        </p:txBody>
      </p:sp>
      <p:pic>
        <p:nvPicPr>
          <p:cNvPr id="41" name="Picture 40" descr="st_anomalies.jpg"/>
          <p:cNvPicPr>
            <a:picLocks noChangeAspect="1"/>
          </p:cNvPicPr>
          <p:nvPr/>
        </p:nvPicPr>
        <p:blipFill>
          <a:blip r:embed="rId10"/>
          <a:stretch>
            <a:fillRect/>
          </a:stretch>
        </p:blipFill>
        <p:spPr>
          <a:xfrm>
            <a:off x="9282988" y="3063240"/>
            <a:ext cx="2587752" cy="1455610"/>
          </a:xfrm>
          <a:prstGeom prst="rect">
            <a:avLst/>
          </a:prstGeom>
        </p:spPr>
      </p:pic>
      <p:sp>
        <p:nvSpPr>
          <p:cNvPr id="42" name="TextBox 41"/>
          <p:cNvSpPr txBox="1"/>
          <p:nvPr/>
        </p:nvSpPr>
        <p:spPr>
          <a:xfrm>
            <a:off x="9411004"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4 · FIND</a:t>
            </a:r>
          </a:p>
        </p:txBody>
      </p:sp>
      <p:sp>
        <p:nvSpPr>
          <p:cNvPr id="43" name="TextBox 42"/>
          <p:cNvSpPr txBox="1"/>
          <p:nvPr/>
        </p:nvSpPr>
        <p:spPr>
          <a:xfrm>
            <a:off x="9411004"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Jai Prakash Yantra</a:t>
            </a:r>
          </a:p>
        </p:txBody>
      </p:sp>
      <p:sp>
        <p:nvSpPr>
          <p:cNvPr id="44" name="TextBox 43"/>
          <p:cNvSpPr txBox="1"/>
          <p:nvPr/>
        </p:nvSpPr>
        <p:spPr>
          <a:xfrm>
            <a:off x="9411004"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Continuity equation: where more methane leaves than arrives</a:t>
            </a:r>
          </a:p>
        </p:txBody>
      </p:sp>
      <p:sp>
        <p:nvSpPr>
          <p:cNvPr id="45" name="TextBox 44"/>
          <p:cNvSpPr txBox="1"/>
          <p:nvPr/>
        </p:nvSpPr>
        <p:spPr>
          <a:xfrm>
            <a:off x="9411004"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Flux divergence · Blind screen</a:t>
            </a:r>
          </a:p>
        </p:txBody>
      </p:sp>
      <p:sp>
        <p:nvSpPr>
          <p:cNvPr id="46" name="Right Arrow 45"/>
          <p:cNvSpPr/>
          <p:nvPr/>
        </p:nvSpPr>
        <p:spPr>
          <a:xfrm>
            <a:off x="11889028" y="3644741"/>
            <a:ext cx="246888" cy="292608"/>
          </a:xfrm>
          <a:prstGeom prst="rightArrow">
            <a:avLst/>
          </a:prstGeom>
          <a:solidFill>
            <a:srgbClr val="F9CE26"/>
          </a:solidFill>
          <a:ln>
            <a:noFill/>
          </a:ln>
          <a:effectLst/>
        </p:spPr>
        <p:txBody>
          <a:bodyPr rtlCol="0" anchor="ctr"/>
          <a:lstStyle/>
          <a:p/>
        </p:txBody>
      </p:sp>
      <p:sp>
        <p:nvSpPr>
          <p:cNvPr id="47" name="Rounded Rectangle 46"/>
          <p:cNvSpPr/>
          <p:nvPr/>
        </p:nvSpPr>
        <p:spPr>
          <a:xfrm>
            <a:off x="12148718" y="3063240"/>
            <a:ext cx="2587752" cy="3337560"/>
          </a:xfrm>
          <a:prstGeom prst="roundRect">
            <a:avLst>
              <a:gd name="adj" fmla="val 5000"/>
            </a:avLst>
          </a:prstGeom>
          <a:solidFill>
            <a:srgbClr val="EEF3FB"/>
          </a:solidFill>
          <a:ln>
            <a:noFill/>
          </a:ln>
          <a:effectLst/>
        </p:spPr>
        <p:txBody>
          <a:bodyPr rtlCol="0" anchor="ctr"/>
          <a:lstStyle/>
          <a:p/>
        </p:txBody>
      </p:sp>
      <p:pic>
        <p:nvPicPr>
          <p:cNvPr id="48" name="Picture 47" descr="st_attribution.jpg"/>
          <p:cNvPicPr>
            <a:picLocks noChangeAspect="1"/>
          </p:cNvPicPr>
          <p:nvPr/>
        </p:nvPicPr>
        <p:blipFill>
          <a:blip r:embed="rId11"/>
          <a:stretch>
            <a:fillRect/>
          </a:stretch>
        </p:blipFill>
        <p:spPr>
          <a:xfrm>
            <a:off x="12148718" y="3063240"/>
            <a:ext cx="2587752" cy="1455610"/>
          </a:xfrm>
          <a:prstGeom prst="rect">
            <a:avLst/>
          </a:prstGeom>
        </p:spPr>
      </p:pic>
      <p:sp>
        <p:nvSpPr>
          <p:cNvPr id="49" name="TextBox 48"/>
          <p:cNvSpPr txBox="1"/>
          <p:nvPr/>
        </p:nvSpPr>
        <p:spPr>
          <a:xfrm>
            <a:off x="12276734"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5 · MEASURE</a:t>
            </a:r>
          </a:p>
        </p:txBody>
      </p:sp>
      <p:sp>
        <p:nvSpPr>
          <p:cNvPr id="50" name="TextBox 49"/>
          <p:cNvSpPr txBox="1"/>
          <p:nvPr/>
        </p:nvSpPr>
        <p:spPr>
          <a:xfrm>
            <a:off x="12276734"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Digamsha &amp; Rama Yantra</a:t>
            </a:r>
          </a:p>
        </p:txBody>
      </p:sp>
      <p:sp>
        <p:nvSpPr>
          <p:cNvPr id="51" name="TextBox 50"/>
          <p:cNvSpPr txBox="1"/>
          <p:nvPr/>
        </p:nvSpPr>
        <p:spPr>
          <a:xfrm>
            <a:off x="12276734"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Turn each pass to its wind, stack, calibrate the rate, read CO</a:t>
            </a:r>
          </a:p>
        </p:txBody>
      </p:sp>
      <p:sp>
        <p:nvSpPr>
          <p:cNvPr id="52" name="TextBox 51"/>
          <p:cNvSpPr txBox="1"/>
          <p:nvPr/>
        </p:nvSpPr>
        <p:spPr>
          <a:xfrm>
            <a:off x="12276734"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Wind · DiverSR · KPW · OBC · EIV</a:t>
            </a:r>
          </a:p>
        </p:txBody>
      </p:sp>
      <p:sp>
        <p:nvSpPr>
          <p:cNvPr id="53" name="Right Arrow 52"/>
          <p:cNvSpPr/>
          <p:nvPr/>
        </p:nvSpPr>
        <p:spPr>
          <a:xfrm>
            <a:off x="14754758" y="3644741"/>
            <a:ext cx="246888" cy="292608"/>
          </a:xfrm>
          <a:prstGeom prst="rightArrow">
            <a:avLst/>
          </a:prstGeom>
          <a:solidFill>
            <a:srgbClr val="F9CE26"/>
          </a:solidFill>
          <a:ln>
            <a:noFill/>
          </a:ln>
          <a:effectLst/>
        </p:spPr>
        <p:txBody>
          <a:bodyPr rtlCol="0" anchor="ctr"/>
          <a:lstStyle/>
          <a:p/>
        </p:txBody>
      </p:sp>
      <p:sp>
        <p:nvSpPr>
          <p:cNvPr id="54" name="Rounded Rectangle 53"/>
          <p:cNvSpPr/>
          <p:nvPr/>
        </p:nvSpPr>
        <p:spPr>
          <a:xfrm>
            <a:off x="15014448" y="3063240"/>
            <a:ext cx="2587752" cy="3337560"/>
          </a:xfrm>
          <a:prstGeom prst="roundRect">
            <a:avLst>
              <a:gd name="adj" fmla="val 5000"/>
            </a:avLst>
          </a:prstGeom>
          <a:solidFill>
            <a:srgbClr val="EEF3FB"/>
          </a:solidFill>
          <a:ln>
            <a:noFill/>
          </a:ln>
          <a:effectLst/>
        </p:spPr>
        <p:txBody>
          <a:bodyPr rtlCol="0" anchor="ctr"/>
          <a:lstStyle/>
          <a:p/>
        </p:txBody>
      </p:sp>
      <p:pic>
        <p:nvPicPr>
          <p:cNvPr id="55" name="Picture 54" descr="st_ledger.jpg"/>
          <p:cNvPicPr>
            <a:picLocks noChangeAspect="1"/>
          </p:cNvPicPr>
          <p:nvPr/>
        </p:nvPicPr>
        <p:blipFill>
          <a:blip r:embed="rId12"/>
          <a:stretch>
            <a:fillRect/>
          </a:stretch>
        </p:blipFill>
        <p:spPr>
          <a:xfrm>
            <a:off x="15014448" y="3063240"/>
            <a:ext cx="2587752" cy="1455610"/>
          </a:xfrm>
          <a:prstGeom prst="rect">
            <a:avLst/>
          </a:prstGeom>
        </p:spPr>
      </p:pic>
      <p:sp>
        <p:nvSpPr>
          <p:cNvPr id="56" name="TextBox 55"/>
          <p:cNvSpPr txBox="1"/>
          <p:nvPr/>
        </p:nvSpPr>
        <p:spPr>
          <a:xfrm>
            <a:off x="15142464" y="4572000"/>
            <a:ext cx="2359152" cy="365760"/>
          </a:xfrm>
          <a:prstGeom prst="rect">
            <a:avLst/>
          </a:prstGeom>
          <a:noFill/>
        </p:spPr>
        <p:txBody>
          <a:bodyPr wrap="square" lIns="0" rIns="0" tIns="18288" bIns="18288" anchor="t">
            <a:spAutoFit/>
          </a:bodyPr>
          <a:lstStyle/>
          <a:p>
            <a:pPr algn="l"/>
            <a:r>
              <a:rPr sz="1500" b="1" i="0">
                <a:solidFill>
                  <a:srgbClr val="1E6FD9"/>
                </a:solidFill>
                <a:latin typeface="Arial"/>
              </a:rPr>
              <a:t>6 · DECIDE</a:t>
            </a:r>
          </a:p>
        </p:txBody>
      </p:sp>
      <p:sp>
        <p:nvSpPr>
          <p:cNvPr id="57" name="TextBox 56"/>
          <p:cNvSpPr txBox="1"/>
          <p:nvPr/>
        </p:nvSpPr>
        <p:spPr>
          <a:xfrm>
            <a:off x="15142464" y="4873752"/>
            <a:ext cx="2359152" cy="320040"/>
          </a:xfrm>
          <a:prstGeom prst="rect">
            <a:avLst/>
          </a:prstGeom>
          <a:noFill/>
        </p:spPr>
        <p:txBody>
          <a:bodyPr wrap="square" lIns="0" rIns="0" tIns="18288" bIns="18288" anchor="t">
            <a:spAutoFit/>
          </a:bodyPr>
          <a:lstStyle/>
          <a:p>
            <a:pPr algn="l"/>
            <a:r>
              <a:rPr sz="1200" b="0" i="1">
                <a:solidFill>
                  <a:srgbClr val="5B6B8C"/>
                </a:solidFill>
                <a:latin typeface="Arial"/>
              </a:rPr>
              <a:t>The ledger</a:t>
            </a:r>
          </a:p>
        </p:txBody>
      </p:sp>
      <p:sp>
        <p:nvSpPr>
          <p:cNvPr id="58" name="TextBox 57"/>
          <p:cNvSpPr txBox="1"/>
          <p:nvPr/>
        </p:nvSpPr>
        <p:spPr>
          <a:xfrm>
            <a:off x="15142464" y="5166360"/>
            <a:ext cx="2359152" cy="868680"/>
          </a:xfrm>
          <a:prstGeom prst="rect">
            <a:avLst/>
          </a:prstGeom>
          <a:noFill/>
        </p:spPr>
        <p:txBody>
          <a:bodyPr wrap="square" lIns="0" rIns="0" tIns="18288" bIns="18288" anchor="t">
            <a:spAutoFit/>
          </a:bodyPr>
          <a:lstStyle/>
          <a:p>
            <a:pPr algn="l"/>
            <a:r>
              <a:rPr sz="1300" b="0" i="0">
                <a:solidFill>
                  <a:srgbClr val="1F2937"/>
                </a:solidFill>
                <a:latin typeface="Arial"/>
              </a:rPr>
              <a:t>5% false-discovery gate + independent check; rank by warming per ₹</a:t>
            </a:r>
          </a:p>
        </p:txBody>
      </p:sp>
      <p:sp>
        <p:nvSpPr>
          <p:cNvPr id="59" name="TextBox 58"/>
          <p:cNvSpPr txBox="1"/>
          <p:nvPr/>
        </p:nvSpPr>
        <p:spPr>
          <a:xfrm>
            <a:off x="15142464" y="6016752"/>
            <a:ext cx="2359152" cy="365760"/>
          </a:xfrm>
          <a:prstGeom prst="rect">
            <a:avLst/>
          </a:prstGeom>
          <a:noFill/>
        </p:spPr>
        <p:txBody>
          <a:bodyPr wrap="square" lIns="0" rIns="0" tIns="18288" bIns="18288" anchor="t">
            <a:spAutoFit/>
          </a:bodyPr>
          <a:lstStyle/>
          <a:p>
            <a:pPr algn="l"/>
            <a:r>
              <a:rPr sz="1100" b="1" i="0">
                <a:solidFill>
                  <a:srgbClr val="1B3A7A"/>
                </a:solidFill>
                <a:latin typeface="Arial"/>
              </a:rPr>
              <a:t>BY-FDR · WRPI · VOIT</a:t>
            </a:r>
          </a:p>
        </p:txBody>
      </p:sp>
      <p:sp>
        <p:nvSpPr>
          <p:cNvPr id="60" name="Rounded Rectangle 59"/>
          <p:cNvSpPr/>
          <p:nvPr/>
        </p:nvSpPr>
        <p:spPr>
          <a:xfrm>
            <a:off x="685800" y="6583680"/>
            <a:ext cx="5486400" cy="1828800"/>
          </a:xfrm>
          <a:prstGeom prst="roundRect">
            <a:avLst>
              <a:gd name="adj" fmla="val 6000"/>
            </a:avLst>
          </a:prstGeom>
          <a:solidFill>
            <a:srgbClr val="FFFFFF"/>
          </a:solidFill>
          <a:ln w="12700">
            <a:solidFill>
              <a:srgbClr val="D5DEEE"/>
            </a:solidFill>
          </a:ln>
          <a:effectLst/>
        </p:spPr>
        <p:txBody>
          <a:bodyPr rtlCol="0" anchor="ctr"/>
          <a:lstStyle/>
          <a:p/>
        </p:txBody>
      </p:sp>
      <p:sp>
        <p:nvSpPr>
          <p:cNvPr id="61" name="Rounded Rectangle 60"/>
          <p:cNvSpPr/>
          <p:nvPr/>
        </p:nvSpPr>
        <p:spPr>
          <a:xfrm>
            <a:off x="868680" y="6693408"/>
            <a:ext cx="1920240" cy="365760"/>
          </a:xfrm>
          <a:prstGeom prst="roundRect">
            <a:avLst>
              <a:gd name="adj" fmla="val 50000"/>
            </a:avLst>
          </a:prstGeom>
          <a:solidFill>
            <a:srgbClr val="F9CE26"/>
          </a:solidFill>
          <a:ln>
            <a:noFill/>
          </a:ln>
          <a:effectLst/>
        </p:spPr>
        <p:txBody>
          <a:bodyPr rtlCol="0" anchor="ctr"/>
          <a:lstStyle/>
          <a:p/>
        </p:txBody>
      </p:sp>
      <p:sp>
        <p:nvSpPr>
          <p:cNvPr id="62" name="TextBox 61"/>
          <p:cNvSpPr txBox="1"/>
          <p:nvPr/>
        </p:nvSpPr>
        <p:spPr>
          <a:xfrm>
            <a:off x="868680" y="6693408"/>
            <a:ext cx="1920240" cy="365760"/>
          </a:xfrm>
          <a:prstGeom prst="rect">
            <a:avLst/>
          </a:prstGeom>
          <a:noFill/>
        </p:spPr>
        <p:txBody>
          <a:bodyPr wrap="square" lIns="0" rIns="0" tIns="18288" bIns="18288" anchor="ctr">
            <a:spAutoFit/>
          </a:bodyPr>
          <a:lstStyle/>
          <a:p>
            <a:pPr algn="ctr"/>
            <a:r>
              <a:rPr sz="1200" b="1" i="0">
                <a:solidFill>
                  <a:srgbClr val="1B3A7A"/>
                </a:solidFill>
                <a:latin typeface="Arial"/>
              </a:rPr>
              <a:t>Solves problem 1</a:t>
            </a:r>
          </a:p>
        </p:txBody>
      </p:sp>
      <p:sp>
        <p:nvSpPr>
          <p:cNvPr id="63" name="TextBox 62"/>
          <p:cNvSpPr txBox="1"/>
          <p:nvPr/>
        </p:nvSpPr>
        <p:spPr>
          <a:xfrm>
            <a:off x="868680" y="7114032"/>
            <a:ext cx="5120640" cy="411480"/>
          </a:xfrm>
          <a:prstGeom prst="rect">
            <a:avLst/>
          </a:prstGeom>
          <a:noFill/>
        </p:spPr>
        <p:txBody>
          <a:bodyPr wrap="square" lIns="0" rIns="0" tIns="18288" bIns="18288" anchor="t">
            <a:spAutoFit/>
          </a:bodyPr>
          <a:lstStyle/>
          <a:p>
            <a:pPr algn="l"/>
            <a:r>
              <a:rPr sz="1800" b="1" i="0">
                <a:solidFill>
                  <a:srgbClr val="1B3A7A"/>
                </a:solidFill>
                <a:latin typeface="Arial"/>
              </a:rPr>
              <a:t>A site-level ledger, not a national total</a:t>
            </a:r>
          </a:p>
        </p:txBody>
      </p:sp>
      <p:sp>
        <p:nvSpPr>
          <p:cNvPr id="64" name="TextBox 63"/>
          <p:cNvSpPr txBox="1"/>
          <p:nvPr/>
        </p:nvSpPr>
        <p:spPr>
          <a:xfrm>
            <a:off x="868680" y="7516368"/>
            <a:ext cx="5120640" cy="868680"/>
          </a:xfrm>
          <a:prstGeom prst="rect">
            <a:avLst/>
          </a:prstGeom>
          <a:noFill/>
        </p:spPr>
        <p:txBody>
          <a:bodyPr wrap="square" lIns="0" rIns="0" tIns="18288" bIns="18288" anchor="t">
            <a:spAutoFit/>
          </a:bodyPr>
          <a:lstStyle/>
          <a:p>
            <a:pPr algn="l"/>
            <a:r>
              <a:rPr sz="1350" b="0" i="0">
                <a:solidFill>
                  <a:srgbClr val="1F2937"/>
                </a:solidFill>
                <a:latin typeface="Arial"/>
              </a:rPr>
              <a:t>Every site gets a rate in t CH₄/h with its uncertainty, a CO fingerprint (burning or decay), and a rank by warming avoided per rupee.</a:t>
            </a:r>
          </a:p>
        </p:txBody>
      </p:sp>
      <p:sp>
        <p:nvSpPr>
          <p:cNvPr id="65" name="Rounded Rectangle 64"/>
          <p:cNvSpPr/>
          <p:nvPr/>
        </p:nvSpPr>
        <p:spPr>
          <a:xfrm>
            <a:off x="6400800" y="6583680"/>
            <a:ext cx="5486400" cy="1828800"/>
          </a:xfrm>
          <a:prstGeom prst="roundRect">
            <a:avLst>
              <a:gd name="adj" fmla="val 6000"/>
            </a:avLst>
          </a:prstGeom>
          <a:solidFill>
            <a:srgbClr val="FFFFFF"/>
          </a:solidFill>
          <a:ln w="12700">
            <a:solidFill>
              <a:srgbClr val="D5DEEE"/>
            </a:solidFill>
          </a:ln>
          <a:effectLst/>
        </p:spPr>
        <p:txBody>
          <a:bodyPr rtlCol="0" anchor="ctr"/>
          <a:lstStyle/>
          <a:p/>
        </p:txBody>
      </p:sp>
      <p:sp>
        <p:nvSpPr>
          <p:cNvPr id="66" name="Rounded Rectangle 65"/>
          <p:cNvSpPr/>
          <p:nvPr/>
        </p:nvSpPr>
        <p:spPr>
          <a:xfrm>
            <a:off x="6583680" y="6693408"/>
            <a:ext cx="1920240" cy="365760"/>
          </a:xfrm>
          <a:prstGeom prst="roundRect">
            <a:avLst>
              <a:gd name="adj" fmla="val 50000"/>
            </a:avLst>
          </a:prstGeom>
          <a:solidFill>
            <a:srgbClr val="F9CE26"/>
          </a:solidFill>
          <a:ln>
            <a:noFill/>
          </a:ln>
          <a:effectLst/>
        </p:spPr>
        <p:txBody>
          <a:bodyPr rtlCol="0" anchor="ctr"/>
          <a:lstStyle/>
          <a:p/>
        </p:txBody>
      </p:sp>
      <p:sp>
        <p:nvSpPr>
          <p:cNvPr id="67" name="TextBox 66"/>
          <p:cNvSpPr txBox="1"/>
          <p:nvPr/>
        </p:nvSpPr>
        <p:spPr>
          <a:xfrm>
            <a:off x="6583680" y="6693408"/>
            <a:ext cx="1920240" cy="365760"/>
          </a:xfrm>
          <a:prstGeom prst="rect">
            <a:avLst/>
          </a:prstGeom>
          <a:noFill/>
        </p:spPr>
        <p:txBody>
          <a:bodyPr wrap="square" lIns="0" rIns="0" tIns="18288" bIns="18288" anchor="ctr">
            <a:spAutoFit/>
          </a:bodyPr>
          <a:lstStyle/>
          <a:p>
            <a:pPr algn="ctr"/>
            <a:r>
              <a:rPr sz="1200" b="1" i="0">
                <a:solidFill>
                  <a:srgbClr val="1B3A7A"/>
                </a:solidFill>
                <a:latin typeface="Arial"/>
              </a:rPr>
              <a:t>Solves problem 2</a:t>
            </a:r>
          </a:p>
        </p:txBody>
      </p:sp>
      <p:sp>
        <p:nvSpPr>
          <p:cNvPr id="68" name="TextBox 67"/>
          <p:cNvSpPr txBox="1"/>
          <p:nvPr/>
        </p:nvSpPr>
        <p:spPr>
          <a:xfrm>
            <a:off x="6583680" y="7114032"/>
            <a:ext cx="5120640" cy="411480"/>
          </a:xfrm>
          <a:prstGeom prst="rect">
            <a:avLst/>
          </a:prstGeom>
          <a:noFill/>
        </p:spPr>
        <p:txBody>
          <a:bodyPr wrap="square" lIns="0" rIns="0" tIns="18288" bIns="18288" anchor="t">
            <a:spAutoFit/>
          </a:bodyPr>
          <a:lstStyle/>
          <a:p>
            <a:pPr algn="l"/>
            <a:r>
              <a:rPr sz="1800" b="1" i="0">
                <a:solidFill>
                  <a:srgbClr val="1B3A7A"/>
                </a:solidFill>
                <a:latin typeface="Arial"/>
              </a:rPr>
              <a:t>Reads through cloud, bias and noise</a:t>
            </a:r>
          </a:p>
        </p:txBody>
      </p:sp>
      <p:sp>
        <p:nvSpPr>
          <p:cNvPr id="69" name="TextBox 68"/>
          <p:cNvSpPr txBox="1"/>
          <p:nvPr/>
        </p:nvSpPr>
        <p:spPr>
          <a:xfrm>
            <a:off x="6583680" y="7516368"/>
            <a:ext cx="5120640" cy="868680"/>
          </a:xfrm>
          <a:prstGeom prst="rect">
            <a:avLst/>
          </a:prstGeom>
          <a:noFill/>
        </p:spPr>
        <p:txBody>
          <a:bodyPr wrap="square" lIns="0" rIns="0" tIns="18288" bIns="18288" anchor="t">
            <a:spAutoFit/>
          </a:bodyPr>
          <a:lstStyle/>
          <a:p>
            <a:pPr algn="l"/>
            <a:r>
              <a:rPr sz="1350" b="0" i="0">
                <a:solidFill>
                  <a:srgbClr val="1F2937"/>
                </a:solidFill>
                <a:latin typeface="Arial"/>
              </a:rPr>
              <a:t>Wind-rotated, footprint-drizzled stacking over 3.4 years; albedo and aerosol bias removed; monsoon reported as unseen, never guessed.</a:t>
            </a:r>
          </a:p>
        </p:txBody>
      </p:sp>
      <p:sp>
        <p:nvSpPr>
          <p:cNvPr id="70" name="Rounded Rectangle 69"/>
          <p:cNvSpPr/>
          <p:nvPr/>
        </p:nvSpPr>
        <p:spPr>
          <a:xfrm>
            <a:off x="12115800" y="6583680"/>
            <a:ext cx="5486400" cy="1828800"/>
          </a:xfrm>
          <a:prstGeom prst="roundRect">
            <a:avLst>
              <a:gd name="adj" fmla="val 6000"/>
            </a:avLst>
          </a:prstGeom>
          <a:solidFill>
            <a:srgbClr val="FFFFFF"/>
          </a:solidFill>
          <a:ln w="12700">
            <a:solidFill>
              <a:srgbClr val="D5DEEE"/>
            </a:solidFill>
          </a:ln>
          <a:effectLst/>
        </p:spPr>
        <p:txBody>
          <a:bodyPr rtlCol="0" anchor="ctr"/>
          <a:lstStyle/>
          <a:p/>
        </p:txBody>
      </p:sp>
      <p:sp>
        <p:nvSpPr>
          <p:cNvPr id="71" name="Rounded Rectangle 70"/>
          <p:cNvSpPr/>
          <p:nvPr/>
        </p:nvSpPr>
        <p:spPr>
          <a:xfrm>
            <a:off x="12298680" y="6693408"/>
            <a:ext cx="1920240" cy="365760"/>
          </a:xfrm>
          <a:prstGeom prst="roundRect">
            <a:avLst>
              <a:gd name="adj" fmla="val 50000"/>
            </a:avLst>
          </a:prstGeom>
          <a:solidFill>
            <a:srgbClr val="F9CE26"/>
          </a:solidFill>
          <a:ln>
            <a:noFill/>
          </a:ln>
          <a:effectLst/>
        </p:spPr>
        <p:txBody>
          <a:bodyPr rtlCol="0" anchor="ctr"/>
          <a:lstStyle/>
          <a:p/>
        </p:txBody>
      </p:sp>
      <p:sp>
        <p:nvSpPr>
          <p:cNvPr id="72" name="TextBox 71"/>
          <p:cNvSpPr txBox="1"/>
          <p:nvPr/>
        </p:nvSpPr>
        <p:spPr>
          <a:xfrm>
            <a:off x="12298680" y="6693408"/>
            <a:ext cx="1920240" cy="365760"/>
          </a:xfrm>
          <a:prstGeom prst="rect">
            <a:avLst/>
          </a:prstGeom>
          <a:noFill/>
        </p:spPr>
        <p:txBody>
          <a:bodyPr wrap="square" lIns="0" rIns="0" tIns="18288" bIns="18288" anchor="ctr">
            <a:spAutoFit/>
          </a:bodyPr>
          <a:lstStyle/>
          <a:p>
            <a:pPr algn="ctr"/>
            <a:r>
              <a:rPr sz="1200" b="1" i="0">
                <a:solidFill>
                  <a:srgbClr val="1B3A7A"/>
                </a:solidFill>
                <a:latin typeface="Arial"/>
              </a:rPr>
              <a:t>Solves problem 3</a:t>
            </a:r>
          </a:p>
        </p:txBody>
      </p:sp>
      <p:sp>
        <p:nvSpPr>
          <p:cNvPr id="73" name="TextBox 72"/>
          <p:cNvSpPr txBox="1"/>
          <p:nvPr/>
        </p:nvSpPr>
        <p:spPr>
          <a:xfrm>
            <a:off x="12298680" y="7114032"/>
            <a:ext cx="5120640" cy="411480"/>
          </a:xfrm>
          <a:prstGeom prst="rect">
            <a:avLst/>
          </a:prstGeom>
          <a:noFill/>
        </p:spPr>
        <p:txBody>
          <a:bodyPr wrap="square" lIns="0" rIns="0" tIns="18288" bIns="18288" anchor="t">
            <a:spAutoFit/>
          </a:bodyPr>
          <a:lstStyle/>
          <a:p>
            <a:pPr algn="l"/>
            <a:r>
              <a:rPr sz="1800" b="1" i="0">
                <a:solidFill>
                  <a:srgbClr val="1B3A7A"/>
                </a:solidFill>
                <a:latin typeface="Arial"/>
              </a:rPr>
              <a:t>Proof before blame</a:t>
            </a:r>
          </a:p>
        </p:txBody>
      </p:sp>
      <p:sp>
        <p:nvSpPr>
          <p:cNvPr id="74" name="TextBox 73"/>
          <p:cNvSpPr txBox="1"/>
          <p:nvPr/>
        </p:nvSpPr>
        <p:spPr>
          <a:xfrm>
            <a:off x="12298680" y="7516368"/>
            <a:ext cx="5120640" cy="868680"/>
          </a:xfrm>
          <a:prstGeom prst="rect">
            <a:avLst/>
          </a:prstGeom>
          <a:noFill/>
        </p:spPr>
        <p:txBody>
          <a:bodyPr wrap="square" lIns="0" rIns="0" tIns="18288" bIns="18288" anchor="t">
            <a:spAutoFit/>
          </a:bodyPr>
          <a:lstStyle/>
          <a:p>
            <a:pPr algn="l"/>
            <a:r>
              <a:rPr sz="1350" b="0" i="0">
                <a:solidFill>
                  <a:srgbClr val="1F2937"/>
                </a:solidFill>
                <a:latin typeface="Arial"/>
              </a:rPr>
              <a:t>Each site is tested against 24 pseudo-sites, a 5% false-discovery gate across all sites, an independent check and a human sign-off.</a:t>
            </a:r>
          </a:p>
        </p:txBody>
      </p:sp>
      <p:sp>
        <p:nvSpPr>
          <p:cNvPr id="75" name="TextBox 74"/>
          <p:cNvSpPr txBox="1"/>
          <p:nvPr/>
        </p:nvSpPr>
        <p:spPr>
          <a:xfrm>
            <a:off x="685800" y="8549640"/>
            <a:ext cx="2743200" cy="566928"/>
          </a:xfrm>
          <a:prstGeom prst="rect">
            <a:avLst/>
          </a:prstGeom>
          <a:noFill/>
        </p:spPr>
        <p:txBody>
          <a:bodyPr wrap="square" lIns="0" rIns="0" tIns="18288" bIns="18288" anchor="t">
            <a:spAutoFit/>
          </a:bodyPr>
          <a:lstStyle/>
          <a:p>
            <a:pPr algn="l"/>
            <a:r>
              <a:rPr sz="3000" b="1" i="0">
                <a:solidFill>
                  <a:srgbClr val="1B3A7A"/>
                </a:solidFill>
                <a:latin typeface="Arial"/>
              </a:rPr>
              <a:t>2,597</a:t>
            </a:r>
          </a:p>
        </p:txBody>
      </p:sp>
      <p:sp>
        <p:nvSpPr>
          <p:cNvPr id="76" name="TextBox 75"/>
          <p:cNvSpPr txBox="1"/>
          <p:nvPr/>
        </p:nvSpPr>
        <p:spPr>
          <a:xfrm>
            <a:off x="68580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files verified</a:t>
            </a:r>
          </a:p>
        </p:txBody>
      </p:sp>
      <p:sp>
        <p:nvSpPr>
          <p:cNvPr id="77" name="TextBox 76"/>
          <p:cNvSpPr txBox="1"/>
          <p:nvPr/>
        </p:nvSpPr>
        <p:spPr>
          <a:xfrm>
            <a:off x="3520440" y="8549640"/>
            <a:ext cx="2743200" cy="566928"/>
          </a:xfrm>
          <a:prstGeom prst="rect">
            <a:avLst/>
          </a:prstGeom>
          <a:noFill/>
        </p:spPr>
        <p:txBody>
          <a:bodyPr wrap="square" lIns="0" rIns="0" tIns="18288" bIns="18288" anchor="t">
            <a:spAutoFit/>
          </a:bodyPr>
          <a:lstStyle/>
          <a:p>
            <a:pPr algn="l"/>
            <a:r>
              <a:rPr sz="3000" b="1" i="0">
                <a:solidFill>
                  <a:srgbClr val="1B3A7A"/>
                </a:solidFill>
                <a:latin typeface="Arial"/>
              </a:rPr>
              <a:t>17.3 M</a:t>
            </a:r>
          </a:p>
        </p:txBody>
      </p:sp>
      <p:sp>
        <p:nvSpPr>
          <p:cNvPr id="78" name="TextBox 77"/>
          <p:cNvSpPr txBox="1"/>
          <p:nvPr/>
        </p:nvSpPr>
        <p:spPr>
          <a:xfrm>
            <a:off x="352044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clear pixels read</a:t>
            </a:r>
          </a:p>
        </p:txBody>
      </p:sp>
      <p:sp>
        <p:nvSpPr>
          <p:cNvPr id="79" name="TextBox 78"/>
          <p:cNvSpPr txBox="1"/>
          <p:nvPr/>
        </p:nvSpPr>
        <p:spPr>
          <a:xfrm>
            <a:off x="6355080" y="8549640"/>
            <a:ext cx="2743200" cy="566928"/>
          </a:xfrm>
          <a:prstGeom prst="rect">
            <a:avLst/>
          </a:prstGeom>
          <a:noFill/>
        </p:spPr>
        <p:txBody>
          <a:bodyPr wrap="square" lIns="0" rIns="0" tIns="18288" bIns="18288" anchor="t">
            <a:spAutoFit/>
          </a:bodyPr>
          <a:lstStyle/>
          <a:p>
            <a:pPr algn="l"/>
            <a:r>
              <a:rPr sz="3000" b="1" i="0">
                <a:solidFill>
                  <a:srgbClr val="1B3A7A"/>
                </a:solidFill>
                <a:latin typeface="Arial"/>
              </a:rPr>
              <a:t>3.4 yrs</a:t>
            </a:r>
          </a:p>
        </p:txBody>
      </p:sp>
      <p:sp>
        <p:nvSpPr>
          <p:cNvPr id="80" name="TextBox 79"/>
          <p:cNvSpPr txBox="1"/>
          <p:nvPr/>
        </p:nvSpPr>
        <p:spPr>
          <a:xfrm>
            <a:off x="635508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of record</a:t>
            </a:r>
          </a:p>
        </p:txBody>
      </p:sp>
      <p:sp>
        <p:nvSpPr>
          <p:cNvPr id="81" name="TextBox 80"/>
          <p:cNvSpPr txBox="1"/>
          <p:nvPr/>
        </p:nvSpPr>
        <p:spPr>
          <a:xfrm>
            <a:off x="9189720" y="8549640"/>
            <a:ext cx="2743200" cy="566928"/>
          </a:xfrm>
          <a:prstGeom prst="rect">
            <a:avLst/>
          </a:prstGeom>
          <a:noFill/>
        </p:spPr>
        <p:txBody>
          <a:bodyPr wrap="square" lIns="0" rIns="0" tIns="18288" bIns="18288" anchor="t">
            <a:spAutoFit/>
          </a:bodyPr>
          <a:lstStyle/>
          <a:p>
            <a:pPr algn="l"/>
            <a:r>
              <a:rPr sz="3000" b="1" i="0">
                <a:solidFill>
                  <a:srgbClr val="1B3A7A"/>
                </a:solidFill>
                <a:latin typeface="Arial"/>
              </a:rPr>
              <a:t>54</a:t>
            </a:r>
          </a:p>
        </p:txBody>
      </p:sp>
      <p:sp>
        <p:nvSpPr>
          <p:cNvPr id="82" name="TextBox 81"/>
          <p:cNvSpPr txBox="1"/>
          <p:nvPr/>
        </p:nvSpPr>
        <p:spPr>
          <a:xfrm>
            <a:off x="918972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places tested</a:t>
            </a:r>
          </a:p>
        </p:txBody>
      </p:sp>
      <p:sp>
        <p:nvSpPr>
          <p:cNvPr id="83" name="TextBox 82"/>
          <p:cNvSpPr txBox="1"/>
          <p:nvPr/>
        </p:nvSpPr>
        <p:spPr>
          <a:xfrm>
            <a:off x="12024360" y="8549640"/>
            <a:ext cx="2743200" cy="566928"/>
          </a:xfrm>
          <a:prstGeom prst="rect">
            <a:avLst/>
          </a:prstGeom>
          <a:noFill/>
        </p:spPr>
        <p:txBody>
          <a:bodyPr wrap="square" lIns="0" rIns="0" tIns="18288" bIns="18288" anchor="t">
            <a:spAutoFit/>
          </a:bodyPr>
          <a:lstStyle/>
          <a:p>
            <a:pPr algn="l"/>
            <a:r>
              <a:rPr sz="3000" b="1" i="0">
                <a:solidFill>
                  <a:srgbClr val="E0662B"/>
                </a:solidFill>
                <a:latin typeface="Arial"/>
              </a:rPr>
              <a:t>12</a:t>
            </a:r>
          </a:p>
        </p:txBody>
      </p:sp>
      <p:sp>
        <p:nvSpPr>
          <p:cNvPr id="84" name="TextBox 83"/>
          <p:cNvSpPr txBox="1"/>
          <p:nvPr/>
        </p:nvSpPr>
        <p:spPr>
          <a:xfrm>
            <a:off x="1202436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confirmed · 7 in India</a:t>
            </a:r>
          </a:p>
        </p:txBody>
      </p:sp>
      <p:sp>
        <p:nvSpPr>
          <p:cNvPr id="85" name="TextBox 84"/>
          <p:cNvSpPr txBox="1"/>
          <p:nvPr/>
        </p:nvSpPr>
        <p:spPr>
          <a:xfrm>
            <a:off x="14859000" y="8549640"/>
            <a:ext cx="2743200" cy="566928"/>
          </a:xfrm>
          <a:prstGeom prst="rect">
            <a:avLst/>
          </a:prstGeom>
          <a:noFill/>
        </p:spPr>
        <p:txBody>
          <a:bodyPr wrap="square" lIns="0" rIns="0" tIns="18288" bIns="18288" anchor="t">
            <a:spAutoFit/>
          </a:bodyPr>
          <a:lstStyle/>
          <a:p>
            <a:pPr algn="l"/>
            <a:r>
              <a:rPr sz="3000" b="1" i="0">
                <a:solidFill>
                  <a:srgbClr val="1B3A7A"/>
                </a:solidFill>
                <a:latin typeface="Arial"/>
              </a:rPr>
              <a:t>3 h</a:t>
            </a:r>
          </a:p>
        </p:txBody>
      </p:sp>
      <p:sp>
        <p:nvSpPr>
          <p:cNvPr id="86" name="TextBox 85"/>
          <p:cNvSpPr txBox="1"/>
          <p:nvPr/>
        </p:nvSpPr>
        <p:spPr>
          <a:xfrm>
            <a:off x="14859000" y="9098280"/>
            <a:ext cx="2743200" cy="365760"/>
          </a:xfrm>
          <a:prstGeom prst="rect">
            <a:avLst/>
          </a:prstGeom>
          <a:noFill/>
        </p:spPr>
        <p:txBody>
          <a:bodyPr wrap="square" lIns="0" rIns="0" tIns="18288" bIns="18288" anchor="t">
            <a:spAutoFit/>
          </a:bodyPr>
          <a:lstStyle/>
          <a:p>
            <a:pPr algn="l"/>
            <a:r>
              <a:rPr sz="1300" b="0" i="0">
                <a:solidFill>
                  <a:srgbClr val="5B6B8C"/>
                </a:solidFill>
                <a:latin typeface="Arial"/>
              </a:rPr>
              <a:t>live refresh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TECHNICAL ARCHITECTURE</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4</a:t>
            </a:r>
          </a:p>
        </p:txBody>
      </p:sp>
      <p:sp>
        <p:nvSpPr>
          <p:cNvPr id="17" name="Rounded Rectangle 16"/>
          <p:cNvSpPr/>
          <p:nvPr/>
        </p:nvSpPr>
        <p:spPr>
          <a:xfrm>
            <a:off x="685800" y="2011680"/>
            <a:ext cx="2514600" cy="2011680"/>
          </a:xfrm>
          <a:prstGeom prst="roundRect">
            <a:avLst>
              <a:gd name="adj" fmla="val 7000"/>
            </a:avLst>
          </a:prstGeom>
          <a:solidFill>
            <a:srgbClr val="1B3A7A"/>
          </a:solidFill>
          <a:ln>
            <a:noFill/>
          </a:ln>
          <a:effectLst/>
        </p:spPr>
        <p:txBody>
          <a:bodyPr rtlCol="0" anchor="ctr"/>
          <a:lstStyle/>
          <a:p/>
        </p:txBody>
      </p:sp>
      <p:sp>
        <p:nvSpPr>
          <p:cNvPr id="18" name="TextBox 17"/>
          <p:cNvSpPr txBox="1"/>
          <p:nvPr/>
        </p:nvSpPr>
        <p:spPr>
          <a:xfrm>
            <a:off x="841248" y="2103120"/>
            <a:ext cx="2240280" cy="411480"/>
          </a:xfrm>
          <a:prstGeom prst="rect">
            <a:avLst/>
          </a:prstGeom>
          <a:noFill/>
        </p:spPr>
        <p:txBody>
          <a:bodyPr wrap="square" lIns="0" rIns="0" tIns="18288" bIns="18288" anchor="t">
            <a:spAutoFit/>
          </a:bodyPr>
          <a:lstStyle/>
          <a:p>
            <a:pPr algn="l"/>
            <a:r>
              <a:rPr sz="1500" b="1" i="0">
                <a:solidFill>
                  <a:srgbClr val="F9CE26"/>
                </a:solidFill>
                <a:latin typeface="Arial"/>
              </a:rPr>
              <a:t>INPUTS</a:t>
            </a:r>
          </a:p>
        </p:txBody>
      </p:sp>
      <p:sp>
        <p:nvSpPr>
          <p:cNvPr id="19" name="TextBox 18"/>
          <p:cNvSpPr txBox="1"/>
          <p:nvPr/>
        </p:nvSpPr>
        <p:spPr>
          <a:xfrm>
            <a:off x="841248" y="2560320"/>
            <a:ext cx="2240280" cy="1417320"/>
          </a:xfrm>
          <a:prstGeom prst="rect">
            <a:avLst/>
          </a:prstGeom>
          <a:noFill/>
        </p:spPr>
        <p:txBody>
          <a:bodyPr wrap="square" lIns="0" rIns="0" tIns="18288" bIns="18288" anchor="t">
            <a:spAutoFit/>
          </a:bodyPr>
          <a:lstStyle/>
          <a:p>
            <a:pPr algn="l"/>
            <a:r>
              <a:rPr sz="1550" b="0" i="0">
                <a:solidFill>
                  <a:srgbClr val="FFFFFF"/>
                </a:solidFill>
                <a:latin typeface="Arial"/>
              </a:rPr>
              <a:t>Sentinel-5P TROPOMI CH₄ + CO · ERA5 winds · OpenStreetMap · ECB FX</a:t>
            </a:r>
          </a:p>
        </p:txBody>
      </p:sp>
      <p:sp>
        <p:nvSpPr>
          <p:cNvPr id="20" name="Right Arrow 19"/>
          <p:cNvSpPr/>
          <p:nvPr/>
        </p:nvSpPr>
        <p:spPr>
          <a:xfrm>
            <a:off x="3255264" y="2871216"/>
            <a:ext cx="256032" cy="310896"/>
          </a:xfrm>
          <a:prstGeom prst="rightArrow">
            <a:avLst/>
          </a:prstGeom>
          <a:solidFill>
            <a:srgbClr val="F9CE26"/>
          </a:solidFill>
          <a:ln>
            <a:noFill/>
          </a:ln>
          <a:effectLst/>
        </p:spPr>
        <p:txBody>
          <a:bodyPr rtlCol="0" anchor="ctr"/>
          <a:lstStyle/>
          <a:p/>
        </p:txBody>
      </p:sp>
      <p:sp>
        <p:nvSpPr>
          <p:cNvPr id="21" name="Rounded Rectangle 20"/>
          <p:cNvSpPr/>
          <p:nvPr/>
        </p:nvSpPr>
        <p:spPr>
          <a:xfrm>
            <a:off x="3566160" y="2011680"/>
            <a:ext cx="2514600" cy="2011680"/>
          </a:xfrm>
          <a:prstGeom prst="roundRect">
            <a:avLst>
              <a:gd name="adj" fmla="val 7000"/>
            </a:avLst>
          </a:prstGeom>
          <a:solidFill>
            <a:srgbClr val="EEF3FB"/>
          </a:solidFill>
          <a:ln>
            <a:noFill/>
          </a:ln>
          <a:effectLst/>
        </p:spPr>
        <p:txBody>
          <a:bodyPr rtlCol="0" anchor="ctr"/>
          <a:lstStyle/>
          <a:p/>
        </p:txBody>
      </p:sp>
      <p:sp>
        <p:nvSpPr>
          <p:cNvPr id="22" name="TextBox 21"/>
          <p:cNvSpPr txBox="1"/>
          <p:nvPr/>
        </p:nvSpPr>
        <p:spPr>
          <a:xfrm>
            <a:off x="3721608" y="2103120"/>
            <a:ext cx="2240280" cy="411480"/>
          </a:xfrm>
          <a:prstGeom prst="rect">
            <a:avLst/>
          </a:prstGeom>
          <a:noFill/>
        </p:spPr>
        <p:txBody>
          <a:bodyPr wrap="square" lIns="0" rIns="0" tIns="18288" bIns="18288" anchor="t">
            <a:spAutoFit/>
          </a:bodyPr>
          <a:lstStyle/>
          <a:p>
            <a:pPr algn="l"/>
            <a:r>
              <a:rPr sz="1500" b="1" i="0">
                <a:solidFill>
                  <a:srgbClr val="1E6FD9"/>
                </a:solidFill>
                <a:latin typeface="Arial"/>
              </a:rPr>
              <a:t>INGEST</a:t>
            </a:r>
          </a:p>
        </p:txBody>
      </p:sp>
      <p:sp>
        <p:nvSpPr>
          <p:cNvPr id="23" name="TextBox 22"/>
          <p:cNvSpPr txBox="1"/>
          <p:nvPr/>
        </p:nvSpPr>
        <p:spPr>
          <a:xfrm>
            <a:off x="3721608" y="2560320"/>
            <a:ext cx="2240280" cy="1417320"/>
          </a:xfrm>
          <a:prstGeom prst="rect">
            <a:avLst/>
          </a:prstGeom>
          <a:noFill/>
        </p:spPr>
        <p:txBody>
          <a:bodyPr wrap="square" lIns="0" rIns="0" tIns="18288" bIns="18288" anchor="t">
            <a:spAutoFit/>
          </a:bodyPr>
          <a:lstStyle/>
          <a:p>
            <a:pPr algn="l"/>
            <a:r>
              <a:rPr sz="1550" b="0" i="0">
                <a:solidFill>
                  <a:srgbClr val="1F2937"/>
                </a:solidFill>
                <a:latin typeface="Arial"/>
              </a:rPr>
              <a:t>GitHub Actions every 3 h + daily · MD5 vs Copernicus · qa ≥ 0.5</a:t>
            </a:r>
          </a:p>
        </p:txBody>
      </p:sp>
      <p:sp>
        <p:nvSpPr>
          <p:cNvPr id="24" name="Right Arrow 23"/>
          <p:cNvSpPr/>
          <p:nvPr/>
        </p:nvSpPr>
        <p:spPr>
          <a:xfrm>
            <a:off x="6135624" y="2871216"/>
            <a:ext cx="256032" cy="310896"/>
          </a:xfrm>
          <a:prstGeom prst="rightArrow">
            <a:avLst/>
          </a:prstGeom>
          <a:solidFill>
            <a:srgbClr val="F9CE26"/>
          </a:solidFill>
          <a:ln>
            <a:noFill/>
          </a:ln>
          <a:effectLst/>
        </p:spPr>
        <p:txBody>
          <a:bodyPr rtlCol="0" anchor="ctr"/>
          <a:lstStyle/>
          <a:p/>
        </p:txBody>
      </p:sp>
      <p:sp>
        <p:nvSpPr>
          <p:cNvPr id="25" name="Rounded Rectangle 24"/>
          <p:cNvSpPr/>
          <p:nvPr/>
        </p:nvSpPr>
        <p:spPr>
          <a:xfrm>
            <a:off x="6446520" y="2011680"/>
            <a:ext cx="2514600" cy="2011680"/>
          </a:xfrm>
          <a:prstGeom prst="roundRect">
            <a:avLst>
              <a:gd name="adj" fmla="val 7000"/>
            </a:avLst>
          </a:prstGeom>
          <a:solidFill>
            <a:srgbClr val="EEF3FB"/>
          </a:solidFill>
          <a:ln>
            <a:noFill/>
          </a:ln>
          <a:effectLst/>
        </p:spPr>
        <p:txBody>
          <a:bodyPr rtlCol="0" anchor="ctr"/>
          <a:lstStyle/>
          <a:p/>
        </p:txBody>
      </p:sp>
      <p:sp>
        <p:nvSpPr>
          <p:cNvPr id="26" name="TextBox 25"/>
          <p:cNvSpPr txBox="1"/>
          <p:nvPr/>
        </p:nvSpPr>
        <p:spPr>
          <a:xfrm>
            <a:off x="6601968" y="2103120"/>
            <a:ext cx="2240280" cy="411480"/>
          </a:xfrm>
          <a:prstGeom prst="rect">
            <a:avLst/>
          </a:prstGeom>
          <a:noFill/>
        </p:spPr>
        <p:txBody>
          <a:bodyPr wrap="square" lIns="0" rIns="0" tIns="18288" bIns="18288" anchor="t">
            <a:spAutoFit/>
          </a:bodyPr>
          <a:lstStyle/>
          <a:p>
            <a:pPr algn="l"/>
            <a:r>
              <a:rPr sz="1500" b="1" i="0">
                <a:solidFill>
                  <a:srgbClr val="1E6FD9"/>
                </a:solidFill>
                <a:latin typeface="Arial"/>
              </a:rPr>
              <a:t>SCIENCE</a:t>
            </a:r>
          </a:p>
        </p:txBody>
      </p:sp>
      <p:sp>
        <p:nvSpPr>
          <p:cNvPr id="27" name="TextBox 26"/>
          <p:cNvSpPr txBox="1"/>
          <p:nvPr/>
        </p:nvSpPr>
        <p:spPr>
          <a:xfrm>
            <a:off x="6601968" y="2560320"/>
            <a:ext cx="2240280" cy="1417320"/>
          </a:xfrm>
          <a:prstGeom prst="rect">
            <a:avLst/>
          </a:prstGeom>
          <a:noFill/>
        </p:spPr>
        <p:txBody>
          <a:bodyPr wrap="square" lIns="0" rIns="0" tIns="18288" bIns="18288" anchor="t">
            <a:spAutoFit/>
          </a:bodyPr>
          <a:lstStyle/>
          <a:p>
            <a:pPr algn="l"/>
            <a:r>
              <a:rPr sz="1550" b="0" i="0">
                <a:solidFill>
                  <a:srgbClr val="1F2937"/>
                </a:solidFill>
                <a:latin typeface="Arial"/>
              </a:rPr>
              <a:t>Python · NumPy · SciPy: stack → divergence → null → gates → rates</a:t>
            </a:r>
          </a:p>
        </p:txBody>
      </p:sp>
      <p:sp>
        <p:nvSpPr>
          <p:cNvPr id="28" name="Right Arrow 27"/>
          <p:cNvSpPr/>
          <p:nvPr/>
        </p:nvSpPr>
        <p:spPr>
          <a:xfrm>
            <a:off x="9015984" y="2871216"/>
            <a:ext cx="256032" cy="310896"/>
          </a:xfrm>
          <a:prstGeom prst="rightArrow">
            <a:avLst/>
          </a:prstGeom>
          <a:solidFill>
            <a:srgbClr val="F9CE26"/>
          </a:solidFill>
          <a:ln>
            <a:noFill/>
          </a:ln>
          <a:effectLst/>
        </p:spPr>
        <p:txBody>
          <a:bodyPr rtlCol="0" anchor="ctr"/>
          <a:lstStyle/>
          <a:p/>
        </p:txBody>
      </p:sp>
      <p:sp>
        <p:nvSpPr>
          <p:cNvPr id="29" name="Rounded Rectangle 28"/>
          <p:cNvSpPr/>
          <p:nvPr/>
        </p:nvSpPr>
        <p:spPr>
          <a:xfrm>
            <a:off x="9326880" y="2011680"/>
            <a:ext cx="2514600" cy="2011680"/>
          </a:xfrm>
          <a:prstGeom prst="roundRect">
            <a:avLst>
              <a:gd name="adj" fmla="val 7000"/>
            </a:avLst>
          </a:prstGeom>
          <a:solidFill>
            <a:srgbClr val="EEF3FB"/>
          </a:solidFill>
          <a:ln>
            <a:noFill/>
          </a:ln>
          <a:effectLst/>
        </p:spPr>
        <p:txBody>
          <a:bodyPr rtlCol="0" anchor="ctr"/>
          <a:lstStyle/>
          <a:p/>
        </p:txBody>
      </p:sp>
      <p:sp>
        <p:nvSpPr>
          <p:cNvPr id="30" name="TextBox 29"/>
          <p:cNvSpPr txBox="1"/>
          <p:nvPr/>
        </p:nvSpPr>
        <p:spPr>
          <a:xfrm>
            <a:off x="9482328" y="2103120"/>
            <a:ext cx="2240280" cy="411480"/>
          </a:xfrm>
          <a:prstGeom prst="rect">
            <a:avLst/>
          </a:prstGeom>
          <a:noFill/>
        </p:spPr>
        <p:txBody>
          <a:bodyPr wrap="square" lIns="0" rIns="0" tIns="18288" bIns="18288" anchor="t">
            <a:spAutoFit/>
          </a:bodyPr>
          <a:lstStyle/>
          <a:p>
            <a:pPr algn="l"/>
            <a:r>
              <a:rPr sz="1500" b="1" i="0">
                <a:solidFill>
                  <a:srgbClr val="1E6FD9"/>
                </a:solidFill>
                <a:latin typeface="Arial"/>
              </a:rPr>
              <a:t>DATA CONTRACT</a:t>
            </a:r>
          </a:p>
        </p:txBody>
      </p:sp>
      <p:sp>
        <p:nvSpPr>
          <p:cNvPr id="31" name="TextBox 30"/>
          <p:cNvSpPr txBox="1"/>
          <p:nvPr/>
        </p:nvSpPr>
        <p:spPr>
          <a:xfrm>
            <a:off x="9482328" y="2560320"/>
            <a:ext cx="2240280" cy="1417320"/>
          </a:xfrm>
          <a:prstGeom prst="rect">
            <a:avLst/>
          </a:prstGeom>
          <a:noFill/>
        </p:spPr>
        <p:txBody>
          <a:bodyPr wrap="square" lIns="0" rIns="0" tIns="18288" bIns="18288" anchor="t">
            <a:spAutoFit/>
          </a:bodyPr>
          <a:lstStyle/>
          <a:p>
            <a:pPr algn="l"/>
            <a:r>
              <a:rPr sz="1550" b="0" i="0">
                <a:solidFill>
                  <a:srgbClr val="1F2937"/>
                </a:solidFill>
                <a:latin typeface="Arial"/>
              </a:rPr>
              <a:t>Versioned JSON / Parquet · public and partner views</a:t>
            </a:r>
          </a:p>
        </p:txBody>
      </p:sp>
      <p:sp>
        <p:nvSpPr>
          <p:cNvPr id="32" name="Right Arrow 31"/>
          <p:cNvSpPr/>
          <p:nvPr/>
        </p:nvSpPr>
        <p:spPr>
          <a:xfrm>
            <a:off x="11896344" y="2871216"/>
            <a:ext cx="256032" cy="310896"/>
          </a:xfrm>
          <a:prstGeom prst="rightArrow">
            <a:avLst/>
          </a:prstGeom>
          <a:solidFill>
            <a:srgbClr val="F9CE26"/>
          </a:solidFill>
          <a:ln>
            <a:noFill/>
          </a:ln>
          <a:effectLst/>
        </p:spPr>
        <p:txBody>
          <a:bodyPr rtlCol="0" anchor="ctr"/>
          <a:lstStyle/>
          <a:p/>
        </p:txBody>
      </p:sp>
      <p:sp>
        <p:nvSpPr>
          <p:cNvPr id="33" name="Rounded Rectangle 32"/>
          <p:cNvSpPr/>
          <p:nvPr/>
        </p:nvSpPr>
        <p:spPr>
          <a:xfrm>
            <a:off x="12207240" y="2011680"/>
            <a:ext cx="2514600" cy="2011680"/>
          </a:xfrm>
          <a:prstGeom prst="roundRect">
            <a:avLst>
              <a:gd name="adj" fmla="val 7000"/>
            </a:avLst>
          </a:prstGeom>
          <a:solidFill>
            <a:srgbClr val="EEF3FB"/>
          </a:solidFill>
          <a:ln>
            <a:noFill/>
          </a:ln>
          <a:effectLst/>
        </p:spPr>
        <p:txBody>
          <a:bodyPr rtlCol="0" anchor="ctr"/>
          <a:lstStyle/>
          <a:p/>
        </p:txBody>
      </p:sp>
      <p:sp>
        <p:nvSpPr>
          <p:cNvPr id="34" name="TextBox 33"/>
          <p:cNvSpPr txBox="1"/>
          <p:nvPr/>
        </p:nvSpPr>
        <p:spPr>
          <a:xfrm>
            <a:off x="12362688" y="2103120"/>
            <a:ext cx="2240280" cy="411480"/>
          </a:xfrm>
          <a:prstGeom prst="rect">
            <a:avLst/>
          </a:prstGeom>
          <a:noFill/>
        </p:spPr>
        <p:txBody>
          <a:bodyPr wrap="square" lIns="0" rIns="0" tIns="18288" bIns="18288" anchor="t">
            <a:spAutoFit/>
          </a:bodyPr>
          <a:lstStyle/>
          <a:p>
            <a:pPr algn="l"/>
            <a:r>
              <a:rPr sz="1500" b="1" i="0">
                <a:solidFill>
                  <a:srgbClr val="1E6FD9"/>
                </a:solidFill>
                <a:latin typeface="Arial"/>
              </a:rPr>
              <a:t>API</a:t>
            </a:r>
          </a:p>
        </p:txBody>
      </p:sp>
      <p:sp>
        <p:nvSpPr>
          <p:cNvPr id="35" name="TextBox 34"/>
          <p:cNvSpPr txBox="1"/>
          <p:nvPr/>
        </p:nvSpPr>
        <p:spPr>
          <a:xfrm>
            <a:off x="12362688" y="2560320"/>
            <a:ext cx="2240280" cy="1417320"/>
          </a:xfrm>
          <a:prstGeom prst="rect">
            <a:avLst/>
          </a:prstGeom>
          <a:noFill/>
        </p:spPr>
        <p:txBody>
          <a:bodyPr wrap="square" lIns="0" rIns="0" tIns="18288" bIns="18288" anchor="t">
            <a:spAutoFit/>
          </a:bodyPr>
          <a:lstStyle/>
          <a:p>
            <a:pPr algn="l"/>
            <a:r>
              <a:rPr sz="1550" b="0" i="0">
                <a:solidFill>
                  <a:srgbClr val="1F2937"/>
                </a:solidFill>
                <a:latin typeface="Arial"/>
              </a:rPr>
              <a:t>Next.js 16 on Vercel · rate limits · CSP · partner login · CSV</a:t>
            </a:r>
          </a:p>
        </p:txBody>
      </p:sp>
      <p:sp>
        <p:nvSpPr>
          <p:cNvPr id="36" name="Right Arrow 35"/>
          <p:cNvSpPr/>
          <p:nvPr/>
        </p:nvSpPr>
        <p:spPr>
          <a:xfrm>
            <a:off x="14776704" y="2871216"/>
            <a:ext cx="256032" cy="310896"/>
          </a:xfrm>
          <a:prstGeom prst="rightArrow">
            <a:avLst/>
          </a:prstGeom>
          <a:solidFill>
            <a:srgbClr val="F9CE26"/>
          </a:solidFill>
          <a:ln>
            <a:noFill/>
          </a:ln>
          <a:effectLst/>
        </p:spPr>
        <p:txBody>
          <a:bodyPr rtlCol="0" anchor="ctr"/>
          <a:lstStyle/>
          <a:p/>
        </p:txBody>
      </p:sp>
      <p:sp>
        <p:nvSpPr>
          <p:cNvPr id="37" name="Rounded Rectangle 36"/>
          <p:cNvSpPr/>
          <p:nvPr/>
        </p:nvSpPr>
        <p:spPr>
          <a:xfrm>
            <a:off x="15087600" y="2011680"/>
            <a:ext cx="2514600" cy="2011680"/>
          </a:xfrm>
          <a:prstGeom prst="roundRect">
            <a:avLst>
              <a:gd name="adj" fmla="val 7000"/>
            </a:avLst>
          </a:prstGeom>
          <a:solidFill>
            <a:srgbClr val="1B3A7A"/>
          </a:solidFill>
          <a:ln>
            <a:noFill/>
          </a:ln>
          <a:effectLst/>
        </p:spPr>
        <p:txBody>
          <a:bodyPr rtlCol="0" anchor="ctr"/>
          <a:lstStyle/>
          <a:p/>
        </p:txBody>
      </p:sp>
      <p:sp>
        <p:nvSpPr>
          <p:cNvPr id="38" name="TextBox 37"/>
          <p:cNvSpPr txBox="1"/>
          <p:nvPr/>
        </p:nvSpPr>
        <p:spPr>
          <a:xfrm>
            <a:off x="15243048" y="2103120"/>
            <a:ext cx="2240280" cy="411480"/>
          </a:xfrm>
          <a:prstGeom prst="rect">
            <a:avLst/>
          </a:prstGeom>
          <a:noFill/>
        </p:spPr>
        <p:txBody>
          <a:bodyPr wrap="square" lIns="0" rIns="0" tIns="18288" bIns="18288" anchor="t">
            <a:spAutoFit/>
          </a:bodyPr>
          <a:lstStyle/>
          <a:p>
            <a:pPr algn="l"/>
            <a:r>
              <a:rPr sz="1500" b="1" i="0">
                <a:solidFill>
                  <a:srgbClr val="F9CE26"/>
                </a:solidFill>
                <a:latin typeface="Arial"/>
              </a:rPr>
              <a:t>EXPERIENCE</a:t>
            </a:r>
          </a:p>
        </p:txBody>
      </p:sp>
      <p:sp>
        <p:nvSpPr>
          <p:cNvPr id="39" name="TextBox 38"/>
          <p:cNvSpPr txBox="1"/>
          <p:nvPr/>
        </p:nvSpPr>
        <p:spPr>
          <a:xfrm>
            <a:off x="15243048" y="2560320"/>
            <a:ext cx="2240280" cy="1417320"/>
          </a:xfrm>
          <a:prstGeom prst="rect">
            <a:avLst/>
          </a:prstGeom>
          <a:noFill/>
        </p:spPr>
        <p:txBody>
          <a:bodyPr wrap="square" lIns="0" rIns="0" tIns="18288" bIns="18288" anchor="t">
            <a:spAutoFit/>
          </a:bodyPr>
          <a:lstStyle/>
          <a:p>
            <a:pPr algn="l"/>
            <a:r>
              <a:rPr sz="1550" b="0" i="0">
                <a:solidFill>
                  <a:srgbClr val="FFFFFF"/>
                </a:solidFill>
                <a:latin typeface="Arial"/>
              </a:rPr>
              <a:t>React Three Fiber 3D story · live ledger · site dossiers</a:t>
            </a:r>
          </a:p>
        </p:txBody>
      </p:sp>
      <p:sp>
        <p:nvSpPr>
          <p:cNvPr id="40" name="TextBox 39"/>
          <p:cNvSpPr txBox="1"/>
          <p:nvPr/>
        </p:nvSpPr>
        <p:spPr>
          <a:xfrm>
            <a:off x="685800" y="4224528"/>
            <a:ext cx="11155680" cy="411480"/>
          </a:xfrm>
          <a:prstGeom prst="rect">
            <a:avLst/>
          </a:prstGeom>
          <a:noFill/>
        </p:spPr>
        <p:txBody>
          <a:bodyPr wrap="square" lIns="0" rIns="0" tIns="18288" bIns="18288" anchor="t">
            <a:spAutoFit/>
          </a:bodyPr>
          <a:lstStyle/>
          <a:p>
            <a:pPr algn="l"/>
            <a:r>
              <a:rPr sz="1500" b="1" i="0">
                <a:solidFill>
                  <a:srgbClr val="1B3A7A"/>
                </a:solidFill>
                <a:latin typeface="Arial"/>
              </a:rPr>
              <a:t>10 algorithms passed a pre-set test and run on every refresh  </a:t>
            </a:r>
            <a:r>
              <a:rPr sz="1500" b="0" i="0">
                <a:solidFill>
                  <a:srgbClr val="5B6B8C"/>
                </a:solidFill>
                <a:latin typeface="Arial"/>
              </a:rPr>
              <a:t>19 designed · 5 failed, published · 4 not built</a:t>
            </a:r>
          </a:p>
        </p:txBody>
      </p:sp>
      <p:sp>
        <p:nvSpPr>
          <p:cNvPr id="41" name="Rounded Rectangle 40"/>
          <p:cNvSpPr/>
          <p:nvPr/>
        </p:nvSpPr>
        <p:spPr>
          <a:xfrm>
            <a:off x="685800" y="4709160"/>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42" name="TextBox 41"/>
          <p:cNvSpPr txBox="1"/>
          <p:nvPr/>
        </p:nvSpPr>
        <p:spPr>
          <a:xfrm>
            <a:off x="813816" y="4782312"/>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A1  </a:t>
            </a:r>
            <a:r>
              <a:rPr sz="1600" b="1" i="0">
                <a:solidFill>
                  <a:srgbClr val="1B3A7A"/>
                </a:solidFill>
                <a:latin typeface="Arial"/>
              </a:rPr>
              <a:t>SRECE</a:t>
            </a:r>
          </a:p>
        </p:txBody>
      </p:sp>
      <p:sp>
        <p:nvSpPr>
          <p:cNvPr id="43" name="TextBox 42"/>
          <p:cNvSpPr txBox="1"/>
          <p:nvPr/>
        </p:nvSpPr>
        <p:spPr>
          <a:xfrm>
            <a:off x="813816" y="5166360"/>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Noise weighting</a:t>
            </a:r>
          </a:p>
        </p:txBody>
      </p:sp>
      <p:sp>
        <p:nvSpPr>
          <p:cNvPr id="44" name="TextBox 43"/>
          <p:cNvSpPr txBox="1"/>
          <p:nvPr/>
        </p:nvSpPr>
        <p:spPr>
          <a:xfrm>
            <a:off x="813816" y="5623560"/>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each pass by its own noise</a:t>
            </a:r>
          </a:p>
        </p:txBody>
      </p:sp>
      <p:sp>
        <p:nvSpPr>
          <p:cNvPr id="45" name="Rounded Rectangle 44"/>
          <p:cNvSpPr/>
          <p:nvPr/>
        </p:nvSpPr>
        <p:spPr>
          <a:xfrm>
            <a:off x="2953512" y="4709160"/>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46" name="TextBox 45"/>
          <p:cNvSpPr txBox="1"/>
          <p:nvPr/>
        </p:nvSpPr>
        <p:spPr>
          <a:xfrm>
            <a:off x="3081528" y="4782312"/>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A2  </a:t>
            </a:r>
            <a:r>
              <a:rPr sz="1600" b="1" i="0">
                <a:solidFill>
                  <a:srgbClr val="1B3A7A"/>
                </a:solidFill>
                <a:latin typeface="Arial"/>
              </a:rPr>
              <a:t>ABD</a:t>
            </a:r>
          </a:p>
        </p:txBody>
      </p:sp>
      <p:sp>
        <p:nvSpPr>
          <p:cNvPr id="47" name="TextBox 46"/>
          <p:cNvSpPr txBox="1"/>
          <p:nvPr/>
        </p:nvSpPr>
        <p:spPr>
          <a:xfrm>
            <a:off x="3081528" y="5166360"/>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Albedo / aerosol debias</a:t>
            </a:r>
          </a:p>
        </p:txBody>
      </p:sp>
      <p:sp>
        <p:nvSpPr>
          <p:cNvPr id="48" name="TextBox 47"/>
          <p:cNvSpPr txBox="1"/>
          <p:nvPr/>
        </p:nvSpPr>
        <p:spPr>
          <a:xfrm>
            <a:off x="3081528" y="5623560"/>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mean z 3.74 → 4.06</a:t>
            </a:r>
          </a:p>
        </p:txBody>
      </p:sp>
      <p:sp>
        <p:nvSpPr>
          <p:cNvPr id="49" name="Rounded Rectangle 48"/>
          <p:cNvSpPr/>
          <p:nvPr/>
        </p:nvSpPr>
        <p:spPr>
          <a:xfrm>
            <a:off x="5221224" y="4709160"/>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50" name="TextBox 49"/>
          <p:cNvSpPr txBox="1"/>
          <p:nvPr/>
        </p:nvSpPr>
        <p:spPr>
          <a:xfrm>
            <a:off x="5349240" y="4782312"/>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C1  </a:t>
            </a:r>
            <a:r>
              <a:rPr sz="1600" b="1" i="0">
                <a:solidFill>
                  <a:srgbClr val="1B3A7A"/>
                </a:solidFill>
                <a:latin typeface="Arial"/>
              </a:rPr>
              <a:t>MSFD</a:t>
            </a:r>
          </a:p>
        </p:txBody>
      </p:sp>
      <p:sp>
        <p:nvSpPr>
          <p:cNvPr id="51" name="TextBox 50"/>
          <p:cNvSpPr txBox="1"/>
          <p:nvPr/>
        </p:nvSpPr>
        <p:spPr>
          <a:xfrm>
            <a:off x="5349240" y="5166360"/>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CO co-emission leg</a:t>
            </a:r>
          </a:p>
        </p:txBody>
      </p:sp>
      <p:sp>
        <p:nvSpPr>
          <p:cNvPr id="52" name="TextBox 51"/>
          <p:cNvSpPr txBox="1"/>
          <p:nvPr/>
        </p:nvSpPr>
        <p:spPr>
          <a:xfrm>
            <a:off x="5349240" y="5623560"/>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CO found at all 5 emitters</a:t>
            </a:r>
          </a:p>
        </p:txBody>
      </p:sp>
      <p:sp>
        <p:nvSpPr>
          <p:cNvPr id="53" name="Rounded Rectangle 52"/>
          <p:cNvSpPr/>
          <p:nvPr/>
        </p:nvSpPr>
        <p:spPr>
          <a:xfrm>
            <a:off x="7488936" y="4709160"/>
            <a:ext cx="2093976" cy="1417320"/>
          </a:xfrm>
          <a:prstGeom prst="roundRect">
            <a:avLst>
              <a:gd name="adj" fmla="val 7000"/>
            </a:avLst>
          </a:prstGeom>
          <a:solidFill>
            <a:srgbClr val="F9CE26"/>
          </a:solidFill>
          <a:ln>
            <a:noFill/>
          </a:ln>
          <a:effectLst/>
        </p:spPr>
        <p:txBody>
          <a:bodyPr rtlCol="0" anchor="ctr"/>
          <a:lstStyle/>
          <a:p/>
        </p:txBody>
      </p:sp>
      <p:sp>
        <p:nvSpPr>
          <p:cNvPr id="54" name="TextBox 53"/>
          <p:cNvSpPr txBox="1"/>
          <p:nvPr/>
        </p:nvSpPr>
        <p:spPr>
          <a:xfrm>
            <a:off x="7616952" y="4782312"/>
            <a:ext cx="1865376" cy="365760"/>
          </a:xfrm>
          <a:prstGeom prst="rect">
            <a:avLst/>
          </a:prstGeom>
          <a:noFill/>
        </p:spPr>
        <p:txBody>
          <a:bodyPr wrap="square" lIns="0" rIns="0" tIns="18288" bIns="18288" anchor="t">
            <a:spAutoFit/>
          </a:bodyPr>
          <a:lstStyle/>
          <a:p>
            <a:pPr algn="l"/>
            <a:r>
              <a:rPr sz="1600" b="1" i="0">
                <a:solidFill>
                  <a:srgbClr val="1B3A7A"/>
                </a:solidFill>
                <a:latin typeface="Arial"/>
              </a:rPr>
              <a:t>C2  </a:t>
            </a:r>
            <a:r>
              <a:rPr sz="1600" b="1" i="0">
                <a:solidFill>
                  <a:srgbClr val="1B3A7A"/>
                </a:solidFill>
                <a:latin typeface="Arial"/>
              </a:rPr>
              <a:t>KPW</a:t>
            </a:r>
          </a:p>
        </p:txBody>
      </p:sp>
      <p:sp>
        <p:nvSpPr>
          <p:cNvPr id="55" name="TextBox 54"/>
          <p:cNvSpPr txBox="1"/>
          <p:nvPr/>
        </p:nvSpPr>
        <p:spPr>
          <a:xfrm>
            <a:off x="7616952" y="5166360"/>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Kuṭṭaka phase weighting</a:t>
            </a:r>
          </a:p>
        </p:txBody>
      </p:sp>
      <p:sp>
        <p:nvSpPr>
          <p:cNvPr id="56" name="TextBox 55"/>
          <p:cNvSpPr txBox="1"/>
          <p:nvPr/>
        </p:nvSpPr>
        <p:spPr>
          <a:xfrm>
            <a:off x="7616952" y="5623560"/>
            <a:ext cx="1865376" cy="411480"/>
          </a:xfrm>
          <a:prstGeom prst="rect">
            <a:avLst/>
          </a:prstGeom>
          <a:noFill/>
        </p:spPr>
        <p:txBody>
          <a:bodyPr wrap="square" lIns="0" rIns="0" tIns="18288" bIns="18288" anchor="t">
            <a:spAutoFit/>
          </a:bodyPr>
          <a:lstStyle/>
          <a:p>
            <a:pPr algn="l"/>
            <a:r>
              <a:rPr sz="1250" b="1" i="0">
                <a:solidFill>
                  <a:srgbClr val="1B3A7A"/>
                </a:solidFill>
                <a:latin typeface="Arial"/>
              </a:rPr>
              <a:t>mean z 4.06 → 4.37</a:t>
            </a:r>
          </a:p>
        </p:txBody>
      </p:sp>
      <p:sp>
        <p:nvSpPr>
          <p:cNvPr id="57" name="Rounded Rectangle 56"/>
          <p:cNvSpPr/>
          <p:nvPr/>
        </p:nvSpPr>
        <p:spPr>
          <a:xfrm>
            <a:off x="9756648" y="4709160"/>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58" name="TextBox 57"/>
          <p:cNvSpPr txBox="1"/>
          <p:nvPr/>
        </p:nvSpPr>
        <p:spPr>
          <a:xfrm>
            <a:off x="9884664" y="4782312"/>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D2  </a:t>
            </a:r>
            <a:r>
              <a:rPr sz="1600" b="1" i="0">
                <a:solidFill>
                  <a:srgbClr val="1B3A7A"/>
                </a:solidFill>
                <a:latin typeface="Arial"/>
              </a:rPr>
              <a:t>DiverSR</a:t>
            </a:r>
          </a:p>
        </p:txBody>
      </p:sp>
      <p:sp>
        <p:nvSpPr>
          <p:cNvPr id="59" name="TextBox 58"/>
          <p:cNvSpPr txBox="1"/>
          <p:nvPr/>
        </p:nvSpPr>
        <p:spPr>
          <a:xfrm>
            <a:off x="9884664" y="5166360"/>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Footprint drizzle</a:t>
            </a:r>
          </a:p>
        </p:txBody>
      </p:sp>
      <p:sp>
        <p:nvSpPr>
          <p:cNvPr id="60" name="TextBox 59"/>
          <p:cNvSpPr txBox="1"/>
          <p:nvPr/>
        </p:nvSpPr>
        <p:spPr>
          <a:xfrm>
            <a:off x="9884664" y="5623560"/>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every emitter above 3σ</a:t>
            </a:r>
          </a:p>
        </p:txBody>
      </p:sp>
      <p:sp>
        <p:nvSpPr>
          <p:cNvPr id="61" name="Rounded Rectangle 60"/>
          <p:cNvSpPr/>
          <p:nvPr/>
        </p:nvSpPr>
        <p:spPr>
          <a:xfrm>
            <a:off x="685800" y="6281928"/>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62" name="TextBox 61"/>
          <p:cNvSpPr txBox="1"/>
          <p:nvPr/>
        </p:nvSpPr>
        <p:spPr>
          <a:xfrm>
            <a:off x="813816" y="6355080"/>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F1  </a:t>
            </a:r>
            <a:r>
              <a:rPr sz="1600" b="1" i="0">
                <a:solidFill>
                  <a:srgbClr val="1B3A7A"/>
                </a:solidFill>
                <a:latin typeface="Arial"/>
              </a:rPr>
              <a:t>EIV-CRF</a:t>
            </a:r>
          </a:p>
        </p:txBody>
      </p:sp>
      <p:sp>
        <p:nvSpPr>
          <p:cNvPr id="63" name="TextBox 62"/>
          <p:cNvSpPr txBox="1"/>
          <p:nvPr/>
        </p:nvSpPr>
        <p:spPr>
          <a:xfrm>
            <a:off x="813816" y="6739128"/>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CO/CH₄ fingerprint</a:t>
            </a:r>
          </a:p>
        </p:txBody>
      </p:sp>
      <p:sp>
        <p:nvSpPr>
          <p:cNvPr id="64" name="TextBox 63"/>
          <p:cNvSpPr txBox="1"/>
          <p:nvPr/>
        </p:nvSpPr>
        <p:spPr>
          <a:xfrm>
            <a:off x="813816" y="7196328"/>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burning vs decay</a:t>
            </a:r>
          </a:p>
        </p:txBody>
      </p:sp>
      <p:sp>
        <p:nvSpPr>
          <p:cNvPr id="65" name="Rounded Rectangle 64"/>
          <p:cNvSpPr/>
          <p:nvPr/>
        </p:nvSpPr>
        <p:spPr>
          <a:xfrm>
            <a:off x="2953512" y="6281928"/>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66" name="TextBox 65"/>
          <p:cNvSpPr txBox="1"/>
          <p:nvPr/>
        </p:nvSpPr>
        <p:spPr>
          <a:xfrm>
            <a:off x="3081528" y="6355080"/>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G1  </a:t>
            </a:r>
            <a:r>
              <a:rPr sz="1600" b="1" i="0">
                <a:solidFill>
                  <a:srgbClr val="1B3A7A"/>
                </a:solidFill>
                <a:latin typeface="Arial"/>
              </a:rPr>
              <a:t>OBC</a:t>
            </a:r>
          </a:p>
        </p:txBody>
      </p:sp>
      <p:sp>
        <p:nvSpPr>
          <p:cNvPr id="67" name="TextBox 66"/>
          <p:cNvSpPr txBox="1"/>
          <p:nvPr/>
        </p:nvSpPr>
        <p:spPr>
          <a:xfrm>
            <a:off x="3081528" y="6739128"/>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Injection-recovery</a:t>
            </a:r>
          </a:p>
        </p:txBody>
      </p:sp>
      <p:sp>
        <p:nvSpPr>
          <p:cNvPr id="68" name="TextBox 67"/>
          <p:cNvSpPr txBox="1"/>
          <p:nvPr/>
        </p:nvSpPr>
        <p:spPr>
          <a:xfrm>
            <a:off x="3081528" y="7196328"/>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slope 0.992 · R² 0.9999</a:t>
            </a:r>
          </a:p>
        </p:txBody>
      </p:sp>
      <p:sp>
        <p:nvSpPr>
          <p:cNvPr id="69" name="Rounded Rectangle 68"/>
          <p:cNvSpPr/>
          <p:nvPr/>
        </p:nvSpPr>
        <p:spPr>
          <a:xfrm>
            <a:off x="5221224" y="6281928"/>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70" name="TextBox 69"/>
          <p:cNvSpPr txBox="1"/>
          <p:nvPr/>
        </p:nvSpPr>
        <p:spPr>
          <a:xfrm>
            <a:off x="5349240" y="6355080"/>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G2  </a:t>
            </a:r>
            <a:r>
              <a:rPr sz="1600" b="1" i="0">
                <a:solidFill>
                  <a:srgbClr val="1B3A7A"/>
                </a:solidFill>
                <a:latin typeface="Arial"/>
              </a:rPr>
              <a:t>BY-FDR gate</a:t>
            </a:r>
          </a:p>
        </p:txBody>
      </p:sp>
      <p:sp>
        <p:nvSpPr>
          <p:cNvPr id="71" name="TextBox 70"/>
          <p:cNvSpPr txBox="1"/>
          <p:nvPr/>
        </p:nvSpPr>
        <p:spPr>
          <a:xfrm>
            <a:off x="5349240" y="6739128"/>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5% FDR + independent check</a:t>
            </a:r>
          </a:p>
        </p:txBody>
      </p:sp>
      <p:sp>
        <p:nvSpPr>
          <p:cNvPr id="72" name="TextBox 71"/>
          <p:cNvSpPr txBox="1"/>
          <p:nvPr/>
        </p:nvSpPr>
        <p:spPr>
          <a:xfrm>
            <a:off x="5349240" y="7196328"/>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1 of 36 fakes gets through</a:t>
            </a:r>
          </a:p>
        </p:txBody>
      </p:sp>
      <p:sp>
        <p:nvSpPr>
          <p:cNvPr id="73" name="Rounded Rectangle 72"/>
          <p:cNvSpPr/>
          <p:nvPr/>
        </p:nvSpPr>
        <p:spPr>
          <a:xfrm>
            <a:off x="7488936" y="6281928"/>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74" name="TextBox 73"/>
          <p:cNvSpPr txBox="1"/>
          <p:nvPr/>
        </p:nvSpPr>
        <p:spPr>
          <a:xfrm>
            <a:off x="7616952" y="6355080"/>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G3  </a:t>
            </a:r>
            <a:r>
              <a:rPr sz="1600" b="1" i="0">
                <a:solidFill>
                  <a:srgbClr val="1B3A7A"/>
                </a:solidFill>
                <a:latin typeface="Arial"/>
              </a:rPr>
              <a:t>WRPI</a:t>
            </a:r>
          </a:p>
        </p:txBody>
      </p:sp>
      <p:sp>
        <p:nvSpPr>
          <p:cNvPr id="75" name="TextBox 74"/>
          <p:cNvSpPr txBox="1"/>
          <p:nvPr/>
        </p:nvSpPr>
        <p:spPr>
          <a:xfrm>
            <a:off x="7616952" y="6739128"/>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Warming per rupee</a:t>
            </a:r>
          </a:p>
        </p:txBody>
      </p:sp>
      <p:sp>
        <p:nvSpPr>
          <p:cNvPr id="76" name="TextBox 75"/>
          <p:cNvSpPr txBox="1"/>
          <p:nvPr/>
        </p:nvSpPr>
        <p:spPr>
          <a:xfrm>
            <a:off x="7616952" y="7196328"/>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cited costs · Monte Carlo</a:t>
            </a:r>
          </a:p>
        </p:txBody>
      </p:sp>
      <p:sp>
        <p:nvSpPr>
          <p:cNvPr id="77" name="Rounded Rectangle 76"/>
          <p:cNvSpPr/>
          <p:nvPr/>
        </p:nvSpPr>
        <p:spPr>
          <a:xfrm>
            <a:off x="9756648" y="6281928"/>
            <a:ext cx="2093976" cy="1417320"/>
          </a:xfrm>
          <a:prstGeom prst="roundRect">
            <a:avLst>
              <a:gd name="adj" fmla="val 7000"/>
            </a:avLst>
          </a:prstGeom>
          <a:solidFill>
            <a:srgbClr val="FFFFFF"/>
          </a:solidFill>
          <a:ln w="12700">
            <a:solidFill>
              <a:srgbClr val="D5DEEE"/>
            </a:solidFill>
          </a:ln>
          <a:effectLst/>
        </p:spPr>
        <p:txBody>
          <a:bodyPr rtlCol="0" anchor="ctr"/>
          <a:lstStyle/>
          <a:p/>
        </p:txBody>
      </p:sp>
      <p:sp>
        <p:nvSpPr>
          <p:cNvPr id="78" name="TextBox 77"/>
          <p:cNvSpPr txBox="1"/>
          <p:nvPr/>
        </p:nvSpPr>
        <p:spPr>
          <a:xfrm>
            <a:off x="9884664" y="6355080"/>
            <a:ext cx="1865376" cy="365760"/>
          </a:xfrm>
          <a:prstGeom prst="rect">
            <a:avLst/>
          </a:prstGeom>
          <a:noFill/>
        </p:spPr>
        <p:txBody>
          <a:bodyPr wrap="square" lIns="0" rIns="0" tIns="18288" bIns="18288" anchor="t">
            <a:spAutoFit/>
          </a:bodyPr>
          <a:lstStyle/>
          <a:p>
            <a:pPr algn="l"/>
            <a:r>
              <a:rPr sz="1600" b="1" i="0">
                <a:solidFill>
                  <a:srgbClr val="1E6FD9"/>
                </a:solidFill>
                <a:latin typeface="Arial"/>
              </a:rPr>
              <a:t>H1  </a:t>
            </a:r>
            <a:r>
              <a:rPr sz="1600" b="1" i="0">
                <a:solidFill>
                  <a:srgbClr val="1B3A7A"/>
                </a:solidFill>
                <a:latin typeface="Arial"/>
              </a:rPr>
              <a:t>VOIT</a:t>
            </a:r>
          </a:p>
        </p:txBody>
      </p:sp>
      <p:sp>
        <p:nvSpPr>
          <p:cNvPr id="79" name="TextBox 78"/>
          <p:cNvSpPr txBox="1"/>
          <p:nvPr/>
        </p:nvSpPr>
        <p:spPr>
          <a:xfrm>
            <a:off x="9884664" y="6739128"/>
            <a:ext cx="1865376" cy="411480"/>
          </a:xfrm>
          <a:prstGeom prst="rect">
            <a:avLst/>
          </a:prstGeom>
          <a:noFill/>
        </p:spPr>
        <p:txBody>
          <a:bodyPr wrap="square" lIns="0" rIns="0" tIns="18288" bIns="18288" anchor="t">
            <a:spAutoFit/>
          </a:bodyPr>
          <a:lstStyle/>
          <a:p>
            <a:pPr algn="l"/>
            <a:r>
              <a:rPr sz="1250" b="0" i="0">
                <a:solidFill>
                  <a:srgbClr val="1F2937"/>
                </a:solidFill>
                <a:latin typeface="Arial"/>
              </a:rPr>
              <a:t>Value-of-info tasking</a:t>
            </a:r>
          </a:p>
        </p:txBody>
      </p:sp>
      <p:sp>
        <p:nvSpPr>
          <p:cNvPr id="80" name="TextBox 79"/>
          <p:cNvSpPr txBox="1"/>
          <p:nvPr/>
        </p:nvSpPr>
        <p:spPr>
          <a:xfrm>
            <a:off x="9884664" y="7196328"/>
            <a:ext cx="1865376" cy="411480"/>
          </a:xfrm>
          <a:prstGeom prst="rect">
            <a:avLst/>
          </a:prstGeom>
          <a:noFill/>
        </p:spPr>
        <p:txBody>
          <a:bodyPr wrap="square" lIns="0" rIns="0" tIns="18288" bIns="18288" anchor="t">
            <a:spAutoFit/>
          </a:bodyPr>
          <a:lstStyle/>
          <a:p>
            <a:pPr algn="l"/>
            <a:r>
              <a:rPr sz="1250" b="1" i="0">
                <a:solidFill>
                  <a:srgbClr val="1F9D63"/>
                </a:solidFill>
                <a:latin typeface="Arial"/>
              </a:rPr>
              <a:t>54% vs 18% re-detected</a:t>
            </a:r>
          </a:p>
        </p:txBody>
      </p:sp>
      <p:sp>
        <p:nvSpPr>
          <p:cNvPr id="81" name="Rounded Rectangle 80"/>
          <p:cNvSpPr/>
          <p:nvPr/>
        </p:nvSpPr>
        <p:spPr>
          <a:xfrm>
            <a:off x="685800" y="7882127"/>
            <a:ext cx="11109960" cy="1627632"/>
          </a:xfrm>
          <a:prstGeom prst="roundRect">
            <a:avLst>
              <a:gd name="adj" fmla="val 6000"/>
            </a:avLst>
          </a:prstGeom>
          <a:solidFill>
            <a:srgbClr val="FFF7D6"/>
          </a:solidFill>
          <a:ln>
            <a:noFill/>
          </a:ln>
          <a:effectLst/>
        </p:spPr>
        <p:txBody>
          <a:bodyPr rtlCol="0" anchor="ctr"/>
          <a:lstStyle/>
          <a:p/>
        </p:txBody>
      </p:sp>
      <p:sp>
        <p:nvSpPr>
          <p:cNvPr id="82" name="Rectangle 81"/>
          <p:cNvSpPr/>
          <p:nvPr/>
        </p:nvSpPr>
        <p:spPr>
          <a:xfrm>
            <a:off x="868680" y="8046720"/>
            <a:ext cx="374904" cy="374904"/>
          </a:xfrm>
          <a:prstGeom prst="rect">
            <a:avLst/>
          </a:prstGeom>
          <a:solidFill>
            <a:srgbClr val="E0A800"/>
          </a:solidFill>
          <a:ln>
            <a:noFill/>
          </a:ln>
          <a:effectLst/>
        </p:spPr>
        <p:txBody>
          <a:bodyPr rtlCol="0" anchor="ctr" wrap="square" lIns="0" rIns="0" tIns="18288" bIns="18288"/>
          <a:lstStyle/>
          <a:p>
            <a:pPr algn="ctr"/>
            <a:r>
              <a:rPr sz="1200" b="1" i="0">
                <a:solidFill>
                  <a:srgbClr val="1B3A7A"/>
                </a:solidFill>
                <a:latin typeface="Arial"/>
              </a:rPr>
              <a:t>9</a:t>
            </a:r>
          </a:p>
        </p:txBody>
      </p:sp>
      <p:sp>
        <p:nvSpPr>
          <p:cNvPr id="83" name="Rectangle 82"/>
          <p:cNvSpPr/>
          <p:nvPr/>
        </p:nvSpPr>
        <p:spPr>
          <a:xfrm>
            <a:off x="1271016" y="8046720"/>
            <a:ext cx="374904" cy="374904"/>
          </a:xfrm>
          <a:prstGeom prst="rect">
            <a:avLst/>
          </a:prstGeom>
          <a:solidFill>
            <a:srgbClr val="FDE68A"/>
          </a:solidFill>
          <a:ln>
            <a:noFill/>
          </a:ln>
          <a:effectLst/>
        </p:spPr>
        <p:txBody>
          <a:bodyPr rtlCol="0" anchor="ctr" wrap="square" lIns="0" rIns="0" tIns="18288" bIns="18288"/>
          <a:lstStyle/>
          <a:p>
            <a:pPr algn="ctr"/>
            <a:r>
              <a:rPr sz="1200" b="1" i="0">
                <a:solidFill>
                  <a:srgbClr val="1B3A7A"/>
                </a:solidFill>
                <a:latin typeface="Arial"/>
              </a:rPr>
              <a:t>3</a:t>
            </a:r>
          </a:p>
        </p:txBody>
      </p:sp>
      <p:sp>
        <p:nvSpPr>
          <p:cNvPr id="84" name="Rectangle 83"/>
          <p:cNvSpPr/>
          <p:nvPr/>
        </p:nvSpPr>
        <p:spPr>
          <a:xfrm>
            <a:off x="1673352" y="8046720"/>
            <a:ext cx="374904" cy="374904"/>
          </a:xfrm>
          <a:prstGeom prst="rect">
            <a:avLst/>
          </a:prstGeom>
          <a:solidFill>
            <a:srgbClr val="F9CE26"/>
          </a:solidFill>
          <a:ln>
            <a:noFill/>
          </a:ln>
          <a:effectLst/>
        </p:spPr>
        <p:txBody>
          <a:bodyPr rtlCol="0" anchor="ctr" wrap="square" lIns="0" rIns="0" tIns="18288" bIns="18288"/>
          <a:lstStyle/>
          <a:p>
            <a:pPr algn="ctr"/>
            <a:r>
              <a:rPr sz="1200" b="1" i="0">
                <a:solidFill>
                  <a:srgbClr val="1B3A7A"/>
                </a:solidFill>
                <a:latin typeface="Arial"/>
              </a:rPr>
              <a:t>6</a:t>
            </a:r>
          </a:p>
        </p:txBody>
      </p:sp>
      <p:sp>
        <p:nvSpPr>
          <p:cNvPr id="85" name="Rectangle 84"/>
          <p:cNvSpPr/>
          <p:nvPr/>
        </p:nvSpPr>
        <p:spPr>
          <a:xfrm>
            <a:off x="868680" y="8449056"/>
            <a:ext cx="374904" cy="374904"/>
          </a:xfrm>
          <a:prstGeom prst="rect">
            <a:avLst/>
          </a:prstGeom>
          <a:solidFill>
            <a:srgbClr val="FDE68A"/>
          </a:solidFill>
          <a:ln>
            <a:noFill/>
          </a:ln>
          <a:effectLst/>
        </p:spPr>
        <p:txBody>
          <a:bodyPr rtlCol="0" anchor="ctr" wrap="square" lIns="0" rIns="0" tIns="18288" bIns="18288"/>
          <a:lstStyle/>
          <a:p>
            <a:pPr algn="ctr"/>
            <a:r>
              <a:rPr sz="1200" b="1" i="0">
                <a:solidFill>
                  <a:srgbClr val="1B3A7A"/>
                </a:solidFill>
                <a:latin typeface="Arial"/>
              </a:rPr>
              <a:t>2</a:t>
            </a:r>
          </a:p>
        </p:txBody>
      </p:sp>
      <p:sp>
        <p:nvSpPr>
          <p:cNvPr id="86" name="Rectangle 85"/>
          <p:cNvSpPr/>
          <p:nvPr/>
        </p:nvSpPr>
        <p:spPr>
          <a:xfrm>
            <a:off x="1271016" y="8449056"/>
            <a:ext cx="374904" cy="374904"/>
          </a:xfrm>
          <a:prstGeom prst="rect">
            <a:avLst/>
          </a:prstGeom>
          <a:solidFill>
            <a:srgbClr val="E0A800"/>
          </a:solidFill>
          <a:ln>
            <a:noFill/>
          </a:ln>
          <a:effectLst/>
        </p:spPr>
        <p:txBody>
          <a:bodyPr rtlCol="0" anchor="ctr" wrap="square" lIns="0" rIns="0" tIns="18288" bIns="18288"/>
          <a:lstStyle/>
          <a:p>
            <a:pPr algn="ctr"/>
            <a:r>
              <a:rPr sz="1200" b="1" i="0">
                <a:solidFill>
                  <a:srgbClr val="1B3A7A"/>
                </a:solidFill>
                <a:latin typeface="Arial"/>
              </a:rPr>
              <a:t>12</a:t>
            </a:r>
          </a:p>
        </p:txBody>
      </p:sp>
      <p:sp>
        <p:nvSpPr>
          <p:cNvPr id="87" name="Rectangle 86"/>
          <p:cNvSpPr/>
          <p:nvPr/>
        </p:nvSpPr>
        <p:spPr>
          <a:xfrm>
            <a:off x="1673352" y="8449056"/>
            <a:ext cx="374904" cy="374904"/>
          </a:xfrm>
          <a:prstGeom prst="rect">
            <a:avLst/>
          </a:prstGeom>
          <a:solidFill>
            <a:srgbClr val="F9CE26"/>
          </a:solidFill>
          <a:ln>
            <a:noFill/>
          </a:ln>
          <a:effectLst/>
        </p:spPr>
        <p:txBody>
          <a:bodyPr rtlCol="0" anchor="ctr" wrap="square" lIns="0" rIns="0" tIns="18288" bIns="18288"/>
          <a:lstStyle/>
          <a:p>
            <a:pPr algn="ctr"/>
            <a:r>
              <a:rPr sz="1200" b="1" i="0">
                <a:solidFill>
                  <a:srgbClr val="1B3A7A"/>
                </a:solidFill>
                <a:latin typeface="Arial"/>
              </a:rPr>
              <a:t>4</a:t>
            </a:r>
          </a:p>
        </p:txBody>
      </p:sp>
      <p:sp>
        <p:nvSpPr>
          <p:cNvPr id="88" name="Rectangle 87"/>
          <p:cNvSpPr/>
          <p:nvPr/>
        </p:nvSpPr>
        <p:spPr>
          <a:xfrm>
            <a:off x="868680" y="8851392"/>
            <a:ext cx="374904" cy="374904"/>
          </a:xfrm>
          <a:prstGeom prst="rect">
            <a:avLst/>
          </a:prstGeom>
          <a:solidFill>
            <a:srgbClr val="F9CE26"/>
          </a:solidFill>
          <a:ln>
            <a:noFill/>
          </a:ln>
          <a:effectLst/>
        </p:spPr>
        <p:txBody>
          <a:bodyPr rtlCol="0" anchor="ctr" wrap="square" lIns="0" rIns="0" tIns="18288" bIns="18288"/>
          <a:lstStyle/>
          <a:p>
            <a:pPr algn="ctr"/>
            <a:r>
              <a:rPr sz="1200" b="1" i="0">
                <a:solidFill>
                  <a:srgbClr val="1B3A7A"/>
                </a:solidFill>
                <a:latin typeface="Arial"/>
              </a:rPr>
              <a:t>7</a:t>
            </a:r>
          </a:p>
        </p:txBody>
      </p:sp>
      <p:sp>
        <p:nvSpPr>
          <p:cNvPr id="89" name="Rectangle 88"/>
          <p:cNvSpPr/>
          <p:nvPr/>
        </p:nvSpPr>
        <p:spPr>
          <a:xfrm>
            <a:off x="1271016" y="8851392"/>
            <a:ext cx="374904" cy="374904"/>
          </a:xfrm>
          <a:prstGeom prst="rect">
            <a:avLst/>
          </a:prstGeom>
          <a:solidFill>
            <a:srgbClr val="F9CE26"/>
          </a:solidFill>
          <a:ln>
            <a:noFill/>
          </a:ln>
          <a:effectLst/>
        </p:spPr>
        <p:txBody>
          <a:bodyPr rtlCol="0" anchor="ctr" wrap="square" lIns="0" rIns="0" tIns="18288" bIns="18288"/>
          <a:lstStyle/>
          <a:p>
            <a:pPr algn="ctr"/>
            <a:r>
              <a:rPr sz="1200" b="1" i="0">
                <a:solidFill>
                  <a:srgbClr val="1B3A7A"/>
                </a:solidFill>
                <a:latin typeface="Arial"/>
              </a:rPr>
              <a:t>5</a:t>
            </a:r>
          </a:p>
        </p:txBody>
      </p:sp>
      <p:sp>
        <p:nvSpPr>
          <p:cNvPr id="90" name="Rectangle 89"/>
          <p:cNvSpPr/>
          <p:nvPr/>
        </p:nvSpPr>
        <p:spPr>
          <a:xfrm>
            <a:off x="1673352" y="8851392"/>
            <a:ext cx="374904" cy="374904"/>
          </a:xfrm>
          <a:prstGeom prst="rect">
            <a:avLst/>
          </a:prstGeom>
          <a:solidFill>
            <a:srgbClr val="FDE68A"/>
          </a:solidFill>
          <a:ln>
            <a:noFill/>
          </a:ln>
          <a:effectLst/>
        </p:spPr>
        <p:txBody>
          <a:bodyPr rtlCol="0" anchor="ctr" wrap="square" lIns="0" rIns="0" tIns="18288" bIns="18288"/>
          <a:lstStyle/>
          <a:p>
            <a:pPr algn="ctr"/>
            <a:r>
              <a:rPr sz="1200" b="1" i="0">
                <a:solidFill>
                  <a:srgbClr val="1B3A7A"/>
                </a:solidFill>
                <a:latin typeface="Arial"/>
              </a:rPr>
              <a:t>3</a:t>
            </a:r>
          </a:p>
        </p:txBody>
      </p:sp>
      <p:sp>
        <p:nvSpPr>
          <p:cNvPr id="91" name="TextBox 90"/>
          <p:cNvSpPr txBox="1"/>
          <p:nvPr/>
        </p:nvSpPr>
        <p:spPr>
          <a:xfrm>
            <a:off x="2194560" y="7955279"/>
            <a:ext cx="9418320" cy="411480"/>
          </a:xfrm>
          <a:prstGeom prst="rect">
            <a:avLst/>
          </a:prstGeom>
          <a:noFill/>
        </p:spPr>
        <p:txBody>
          <a:bodyPr wrap="square" lIns="0" rIns="0" tIns="18288" bIns="18288" anchor="t">
            <a:spAutoFit/>
          </a:bodyPr>
          <a:lstStyle/>
          <a:p>
            <a:pPr algn="l"/>
            <a:r>
              <a:rPr sz="1700" b="1" i="0">
                <a:solidFill>
                  <a:srgbClr val="1B3A7A"/>
                </a:solidFill>
                <a:latin typeface="Arial"/>
              </a:rPr>
              <a:t>KPW · Āryabhaṭa's Kuṭṭaka (499 CE) meets Sentinel-5P</a:t>
            </a:r>
          </a:p>
        </p:txBody>
      </p:sp>
      <p:sp>
        <p:nvSpPr>
          <p:cNvPr id="92" name="TextBox 91"/>
          <p:cNvSpPr txBox="1"/>
          <p:nvPr/>
        </p:nvSpPr>
        <p:spPr>
          <a:xfrm>
            <a:off x="2194560" y="8366760"/>
            <a:ext cx="9418320" cy="1097280"/>
          </a:xfrm>
          <a:prstGeom prst="rect">
            <a:avLst/>
          </a:prstGeom>
          <a:noFill/>
        </p:spPr>
        <p:txBody>
          <a:bodyPr wrap="square" lIns="0" rIns="0" tIns="18288" bIns="18288" anchor="t">
            <a:spAutoFit/>
          </a:bodyPr>
          <a:lstStyle/>
          <a:p>
            <a:pPr algn="l"/>
            <a:r>
              <a:rPr sz="1300" b="0" i="0">
                <a:solidFill>
                  <a:srgbClr val="1F2937"/>
                </a:solidFill>
                <a:latin typeface="Arial"/>
              </a:rPr>
              <a:t>The orbit repeats every 16 days (227 orbits), so the site falls at a different spot inside its 5.5 × 7 km pixel on each pass (grid: passes per spot, illustrative). Kuṭṭaka solves the whole-number congruence that says which orbits land where; KPW weights each pass by mean count ÷ its bin's count, so every spot counts equally.</a:t>
            </a:r>
          </a:p>
        </p:txBody>
      </p:sp>
      <p:graphicFrame>
        <p:nvGraphicFramePr>
          <p:cNvPr id="93" name="Chart 92"/>
          <p:cNvGraphicFramePr>
            <a:graphicFrameLocks noGrp="1"/>
          </p:cNvGraphicFramePr>
          <p:nvPr/>
        </p:nvGraphicFramePr>
        <p:xfrm>
          <a:off x="12161520" y="4224528"/>
          <a:ext cx="5440680" cy="4663440"/>
        </p:xfrm>
        <a:graphic>
          <a:graphicData uri="http://schemas.openxmlformats.org/drawingml/2006/chart">
            <c:chart xmlns:c="http://schemas.openxmlformats.org/drawingml/2006/chart" r:id="rId7"/>
          </a:graphicData>
        </a:graphic>
      </p:graphicFrame>
      <p:sp>
        <p:nvSpPr>
          <p:cNvPr id="94" name="TextBox 93"/>
          <p:cNvSpPr txBox="1"/>
          <p:nvPr/>
        </p:nvSpPr>
        <p:spPr>
          <a:xfrm>
            <a:off x="12252960" y="8915400"/>
            <a:ext cx="5303520" cy="594360"/>
          </a:xfrm>
          <a:prstGeom prst="rect">
            <a:avLst/>
          </a:prstGeom>
          <a:noFill/>
        </p:spPr>
        <p:txBody>
          <a:bodyPr wrap="square" lIns="0" rIns="0" tIns="18288" bIns="18288" anchor="t">
            <a:spAutoFit/>
          </a:bodyPr>
          <a:lstStyle/>
          <a:p>
            <a:pPr algn="l"/>
            <a:r>
              <a:rPr sz="1150" b="0" i="0">
                <a:solidFill>
                  <a:srgbClr val="5B6B8C"/>
                </a:solidFill>
                <a:latin typeface="Arial"/>
              </a:rPr>
              <a:t>Controlled ablation: 6 reference sites, same 24-pseudo-site null, one component added per row (r4_ablation.py).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PROTOTYPE &amp; DEMO</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5</a:t>
            </a:r>
          </a:p>
        </p:txBody>
      </p:sp>
      <p:pic>
        <p:nvPicPr>
          <p:cNvPr id="17" name="Picture 16" descr="p_hero.jpg"/>
          <p:cNvPicPr>
            <a:picLocks noChangeAspect="1"/>
          </p:cNvPicPr>
          <p:nvPr/>
        </p:nvPicPr>
        <p:blipFill>
          <a:blip r:embed="rId7"/>
          <a:stretch>
            <a:fillRect/>
          </a:stretch>
        </p:blipFill>
        <p:spPr>
          <a:xfrm>
            <a:off x="685800" y="2011680"/>
            <a:ext cx="9509760" cy="5943600"/>
          </a:xfrm>
          <a:prstGeom prst="rect">
            <a:avLst/>
          </a:prstGeom>
          <a:ln w="12700">
            <a:solidFill>
              <a:srgbClr val="D5DEEE"/>
            </a:solidFill>
          </a:ln>
        </p:spPr>
      </p:pic>
      <p:sp>
        <p:nvSpPr>
          <p:cNvPr id="18" name="Rounded Rectangle 17"/>
          <p:cNvSpPr/>
          <p:nvPr/>
        </p:nvSpPr>
        <p:spPr>
          <a:xfrm>
            <a:off x="685800" y="8138160"/>
            <a:ext cx="9509760" cy="1371600"/>
          </a:xfrm>
          <a:prstGeom prst="roundRect">
            <a:avLst>
              <a:gd name="adj" fmla="val 8000"/>
            </a:avLst>
          </a:prstGeom>
          <a:solidFill>
            <a:srgbClr val="1B3A7A"/>
          </a:solidFill>
          <a:ln>
            <a:noFill/>
          </a:ln>
          <a:effectLst/>
        </p:spPr>
        <p:txBody>
          <a:bodyPr rtlCol="0" anchor="ctr"/>
          <a:lstStyle/>
          <a:p/>
        </p:txBody>
      </p:sp>
      <p:sp>
        <p:nvSpPr>
          <p:cNvPr id="19" name="TextBox 18"/>
          <p:cNvSpPr txBox="1"/>
          <p:nvPr/>
        </p:nvSpPr>
        <p:spPr>
          <a:xfrm>
            <a:off x="914400" y="8138160"/>
            <a:ext cx="9144000" cy="1371600"/>
          </a:xfrm>
          <a:prstGeom prst="rect">
            <a:avLst/>
          </a:prstGeom>
          <a:noFill/>
        </p:spPr>
        <p:txBody>
          <a:bodyPr wrap="square" lIns="0" rIns="0" tIns="18288" bIns="18288" anchor="ctr">
            <a:spAutoFit/>
          </a:bodyPr>
          <a:lstStyle/>
          <a:p>
            <a:pPr algn="l"/>
            <a:r>
              <a:rPr sz="1900" b="1" i="0">
                <a:solidFill>
                  <a:srgbClr val="F9CE26"/>
                </a:solidFill>
                <a:latin typeface="Arial"/>
              </a:rPr>
              <a:t>Live now  </a:t>
            </a:r>
            <a:r>
              <a:rPr sz="1900" b="1" i="0">
                <a:solidFill>
                  <a:srgbClr val="FFFFFF"/>
                </a:solidFill>
                <a:latin typeface="Arial"/>
              </a:rPr>
              <a:t>sustain-a-thon-plum.vercel.app</a:t>
            </a:r>
          </a:p>
          <a:p>
            <a:pPr algn="l"/>
            <a:r>
              <a:rPr sz="1400" b="0" i="0">
                <a:solidFill>
                  <a:srgbClr val="C9D6EE"/>
                </a:solidFill>
                <a:latin typeface="Arial"/>
              </a:rPr>
              <a:t>Real Sentinel-5P passes, processed every 3 hours by GitHub Actions. Nothing on the site is simulated.</a:t>
            </a:r>
          </a:p>
        </p:txBody>
      </p:sp>
      <p:pic>
        <p:nvPicPr>
          <p:cNvPr id="20" name="Picture 19" descr="p_table.jpg"/>
          <p:cNvPicPr>
            <a:picLocks noChangeAspect="1"/>
          </p:cNvPicPr>
          <p:nvPr/>
        </p:nvPicPr>
        <p:blipFill>
          <a:blip r:embed="rId8"/>
          <a:stretch>
            <a:fillRect/>
          </a:stretch>
        </p:blipFill>
        <p:spPr>
          <a:xfrm>
            <a:off x="10515600" y="2011680"/>
            <a:ext cx="3474720" cy="2377440"/>
          </a:xfrm>
          <a:prstGeom prst="rect">
            <a:avLst/>
          </a:prstGeom>
          <a:ln w="12700">
            <a:solidFill>
              <a:srgbClr val="D5DEEE"/>
            </a:solidFill>
          </a:ln>
        </p:spPr>
      </p:pic>
      <p:pic>
        <p:nvPicPr>
          <p:cNvPr id="21" name="Picture 20" descr="p_dossier.jpg"/>
          <p:cNvPicPr>
            <a:picLocks noChangeAspect="1"/>
          </p:cNvPicPr>
          <p:nvPr/>
        </p:nvPicPr>
        <p:blipFill>
          <a:blip r:embed="rId9"/>
          <a:stretch>
            <a:fillRect/>
          </a:stretch>
        </p:blipFill>
        <p:spPr>
          <a:xfrm>
            <a:off x="14127480" y="2011680"/>
            <a:ext cx="3474720" cy="2377440"/>
          </a:xfrm>
          <a:prstGeom prst="rect">
            <a:avLst/>
          </a:prstGeom>
          <a:ln w="12700">
            <a:solidFill>
              <a:srgbClr val="D5DEEE"/>
            </a:solidFill>
          </a:ln>
        </p:spPr>
      </p:pic>
      <p:sp>
        <p:nvSpPr>
          <p:cNvPr id="22" name="TextBox 21"/>
          <p:cNvSpPr txBox="1"/>
          <p:nvPr/>
        </p:nvSpPr>
        <p:spPr>
          <a:xfrm>
            <a:off x="10515600" y="4434840"/>
            <a:ext cx="3474720" cy="365760"/>
          </a:xfrm>
          <a:prstGeom prst="rect">
            <a:avLst/>
          </a:prstGeom>
          <a:noFill/>
        </p:spPr>
        <p:txBody>
          <a:bodyPr wrap="square" lIns="0" rIns="0" tIns="18288" bIns="18288" anchor="t">
            <a:spAutoFit/>
          </a:bodyPr>
          <a:lstStyle/>
          <a:p>
            <a:pPr algn="l"/>
            <a:r>
              <a:rPr sz="1200" b="0" i="0">
                <a:solidFill>
                  <a:srgbClr val="5B6B8C"/>
                </a:solidFill>
                <a:latin typeface="Arial"/>
              </a:rPr>
              <a:t>/ledger: ranked inventory + 4 checks</a:t>
            </a:r>
          </a:p>
        </p:txBody>
      </p:sp>
      <p:sp>
        <p:nvSpPr>
          <p:cNvPr id="23" name="TextBox 22"/>
          <p:cNvSpPr txBox="1"/>
          <p:nvPr/>
        </p:nvSpPr>
        <p:spPr>
          <a:xfrm>
            <a:off x="14127480" y="4434840"/>
            <a:ext cx="3474720" cy="365760"/>
          </a:xfrm>
          <a:prstGeom prst="rect">
            <a:avLst/>
          </a:prstGeom>
          <a:noFill/>
        </p:spPr>
        <p:txBody>
          <a:bodyPr wrap="square" lIns="0" rIns="0" tIns="18288" bIns="18288" anchor="t">
            <a:spAutoFit/>
          </a:bodyPr>
          <a:lstStyle/>
          <a:p>
            <a:pPr algn="l"/>
            <a:r>
              <a:rPr sz="1200" b="0" i="0">
                <a:solidFill>
                  <a:srgbClr val="5B6B8C"/>
                </a:solidFill>
                <a:latin typeface="Arial"/>
              </a:rPr>
              <a:t>Site dossier: Ghazipur, Delhi</a:t>
            </a:r>
          </a:p>
        </p:txBody>
      </p:sp>
      <p:sp>
        <p:nvSpPr>
          <p:cNvPr id="24" name="TextBox 23"/>
          <p:cNvSpPr txBox="1"/>
          <p:nvPr/>
        </p:nvSpPr>
        <p:spPr>
          <a:xfrm>
            <a:off x="10515600" y="4846320"/>
            <a:ext cx="7086600" cy="411480"/>
          </a:xfrm>
          <a:prstGeom prst="rect">
            <a:avLst/>
          </a:prstGeom>
          <a:noFill/>
        </p:spPr>
        <p:txBody>
          <a:bodyPr wrap="square" lIns="0" rIns="0" tIns="18288" bIns="18288" anchor="t">
            <a:spAutoFit/>
          </a:bodyPr>
          <a:lstStyle/>
          <a:p>
            <a:pPr algn="l"/>
            <a:r>
              <a:rPr sz="1800" b="1" i="0">
                <a:solidFill>
                  <a:srgbClr val="1B3A7A"/>
                </a:solidFill>
                <a:latin typeface="Arial"/>
              </a:rPr>
              <a:t>The 3-minute demo path</a:t>
            </a:r>
          </a:p>
        </p:txBody>
      </p:sp>
      <p:sp>
        <p:nvSpPr>
          <p:cNvPr id="25" name="Oval 24"/>
          <p:cNvSpPr/>
          <p:nvPr/>
        </p:nvSpPr>
        <p:spPr>
          <a:xfrm>
            <a:off x="10515600" y="5358384"/>
            <a:ext cx="365760" cy="365760"/>
          </a:xfrm>
          <a:prstGeom prst="ellipse">
            <a:avLst/>
          </a:prstGeom>
          <a:solidFill>
            <a:srgbClr val="F9CE26"/>
          </a:solidFill>
          <a:ln>
            <a:noFill/>
          </a:ln>
          <a:effectLst/>
        </p:spPr>
        <p:txBody>
          <a:bodyPr rtlCol="0" anchor="ctr" wrap="square" lIns="0" rIns="0" tIns="18288" bIns="18288"/>
          <a:lstStyle/>
          <a:p>
            <a:pPr algn="ctr"/>
            <a:r>
              <a:rPr sz="1400" b="1" i="0">
                <a:solidFill>
                  <a:srgbClr val="1B3A7A"/>
                </a:solidFill>
                <a:latin typeface="Arial"/>
              </a:rPr>
              <a:t>1</a:t>
            </a:r>
          </a:p>
        </p:txBody>
      </p:sp>
      <p:sp>
        <p:nvSpPr>
          <p:cNvPr id="26" name="TextBox 25"/>
          <p:cNvSpPr txBox="1"/>
          <p:nvPr/>
        </p:nvSpPr>
        <p:spPr>
          <a:xfrm>
            <a:off x="11018520" y="5321808"/>
            <a:ext cx="6583680" cy="457200"/>
          </a:xfrm>
          <a:prstGeom prst="rect">
            <a:avLst/>
          </a:prstGeom>
          <a:noFill/>
        </p:spPr>
        <p:txBody>
          <a:bodyPr wrap="square" lIns="0" rIns="0" tIns="18288" bIns="18288" anchor="ctr">
            <a:spAutoFit/>
          </a:bodyPr>
          <a:lstStyle/>
          <a:p>
            <a:pPr algn="l"/>
            <a:r>
              <a:rPr sz="1400" b="1" i="0">
                <a:solidFill>
                  <a:srgbClr val="1B3A7A"/>
                </a:solidFill>
                <a:latin typeface="Arial"/>
              </a:rPr>
              <a:t>Night-sky hero  </a:t>
            </a:r>
            <a:r>
              <a:rPr sz="1400" b="0" i="0">
                <a:solidFill>
                  <a:srgbClr val="1F2937"/>
                </a:solidFill>
                <a:latin typeface="Arial"/>
              </a:rPr>
              <a:t>newest pass time; 7 of 35 Indian sites confirmed</a:t>
            </a:r>
          </a:p>
        </p:txBody>
      </p:sp>
      <p:sp>
        <p:nvSpPr>
          <p:cNvPr id="27" name="Oval 26"/>
          <p:cNvSpPr/>
          <p:nvPr/>
        </p:nvSpPr>
        <p:spPr>
          <a:xfrm>
            <a:off x="10515600" y="5833872"/>
            <a:ext cx="365760" cy="365760"/>
          </a:xfrm>
          <a:prstGeom prst="ellipse">
            <a:avLst/>
          </a:prstGeom>
          <a:solidFill>
            <a:srgbClr val="F9CE26"/>
          </a:solidFill>
          <a:ln>
            <a:noFill/>
          </a:ln>
          <a:effectLst/>
        </p:spPr>
        <p:txBody>
          <a:bodyPr rtlCol="0" anchor="ctr" wrap="square" lIns="0" rIns="0" tIns="18288" bIns="18288"/>
          <a:lstStyle/>
          <a:p>
            <a:pPr algn="ctr"/>
            <a:r>
              <a:rPr sz="1400" b="1" i="0">
                <a:solidFill>
                  <a:srgbClr val="1B3A7A"/>
                </a:solidFill>
                <a:latin typeface="Arial"/>
              </a:rPr>
              <a:t>2</a:t>
            </a:r>
          </a:p>
        </p:txBody>
      </p:sp>
      <p:sp>
        <p:nvSpPr>
          <p:cNvPr id="28" name="TextBox 27"/>
          <p:cNvSpPr txBox="1"/>
          <p:nvPr/>
        </p:nvSpPr>
        <p:spPr>
          <a:xfrm>
            <a:off x="11018520" y="5797296"/>
            <a:ext cx="6583680" cy="457200"/>
          </a:xfrm>
          <a:prstGeom prst="rect">
            <a:avLst/>
          </a:prstGeom>
          <a:noFill/>
        </p:spPr>
        <p:txBody>
          <a:bodyPr wrap="square" lIns="0" rIns="0" tIns="18288" bIns="18288" anchor="ctr">
            <a:spAutoFit/>
          </a:bodyPr>
          <a:lstStyle/>
          <a:p>
            <a:pPr algn="l"/>
            <a:r>
              <a:rPr sz="1400" b="1" i="0">
                <a:solidFill>
                  <a:srgbClr val="1B3A7A"/>
                </a:solidFill>
                <a:latin typeface="Arial"/>
              </a:rPr>
              <a:t>Six story stages  </a:t>
            </a:r>
            <a:r>
              <a:rPr sz="1400" b="0" i="0">
                <a:solidFill>
                  <a:srgbClr val="1F2937"/>
                </a:solidFill>
                <a:latin typeface="Arial"/>
              </a:rPr>
              <a:t>each Jantar Mantar instrument = one pipeline step</a:t>
            </a:r>
          </a:p>
        </p:txBody>
      </p:sp>
      <p:sp>
        <p:nvSpPr>
          <p:cNvPr id="29" name="Oval 28"/>
          <p:cNvSpPr/>
          <p:nvPr/>
        </p:nvSpPr>
        <p:spPr>
          <a:xfrm>
            <a:off x="10515600" y="6309360"/>
            <a:ext cx="365760" cy="365760"/>
          </a:xfrm>
          <a:prstGeom prst="ellipse">
            <a:avLst/>
          </a:prstGeom>
          <a:solidFill>
            <a:srgbClr val="F9CE26"/>
          </a:solidFill>
          <a:ln>
            <a:noFill/>
          </a:ln>
          <a:effectLst/>
        </p:spPr>
        <p:txBody>
          <a:bodyPr rtlCol="0" anchor="ctr" wrap="square" lIns="0" rIns="0" tIns="18288" bIns="18288"/>
          <a:lstStyle/>
          <a:p>
            <a:pPr algn="ctr"/>
            <a:r>
              <a:rPr sz="1400" b="1" i="0">
                <a:solidFill>
                  <a:srgbClr val="1B3A7A"/>
                </a:solidFill>
                <a:latin typeface="Arial"/>
              </a:rPr>
              <a:t>3</a:t>
            </a:r>
          </a:p>
        </p:txBody>
      </p:sp>
      <p:sp>
        <p:nvSpPr>
          <p:cNvPr id="30" name="TextBox 29"/>
          <p:cNvSpPr txBox="1"/>
          <p:nvPr/>
        </p:nvSpPr>
        <p:spPr>
          <a:xfrm>
            <a:off x="11018520" y="6272784"/>
            <a:ext cx="6583680" cy="457200"/>
          </a:xfrm>
          <a:prstGeom prst="rect">
            <a:avLst/>
          </a:prstGeom>
          <a:noFill/>
        </p:spPr>
        <p:txBody>
          <a:bodyPr wrap="square" lIns="0" rIns="0" tIns="18288" bIns="18288" anchor="ctr">
            <a:spAutoFit/>
          </a:bodyPr>
          <a:lstStyle/>
          <a:p>
            <a:pPr algn="l"/>
            <a:r>
              <a:rPr sz="1400" b="1" i="0">
                <a:solidFill>
                  <a:srgbClr val="1B3A7A"/>
                </a:solidFill>
                <a:latin typeface="Arial"/>
              </a:rPr>
              <a:t>/ledger  </a:t>
            </a:r>
            <a:r>
              <a:rPr sz="1400" b="0" i="0">
                <a:solidFill>
                  <a:srgbClr val="1F2937"/>
                </a:solidFill>
                <a:latin typeface="Arial"/>
              </a:rPr>
              <a:t>live pass map, ranked inventory, per-site checks</a:t>
            </a:r>
          </a:p>
        </p:txBody>
      </p:sp>
      <p:sp>
        <p:nvSpPr>
          <p:cNvPr id="31" name="Oval 30"/>
          <p:cNvSpPr/>
          <p:nvPr/>
        </p:nvSpPr>
        <p:spPr>
          <a:xfrm>
            <a:off x="10515600" y="6784848"/>
            <a:ext cx="365760" cy="365760"/>
          </a:xfrm>
          <a:prstGeom prst="ellipse">
            <a:avLst/>
          </a:prstGeom>
          <a:solidFill>
            <a:srgbClr val="F9CE26"/>
          </a:solidFill>
          <a:ln>
            <a:noFill/>
          </a:ln>
          <a:effectLst/>
        </p:spPr>
        <p:txBody>
          <a:bodyPr rtlCol="0" anchor="ctr" wrap="square" lIns="0" rIns="0" tIns="18288" bIns="18288"/>
          <a:lstStyle/>
          <a:p>
            <a:pPr algn="ctr"/>
            <a:r>
              <a:rPr sz="1400" b="1" i="0">
                <a:solidFill>
                  <a:srgbClr val="1B3A7A"/>
                </a:solidFill>
                <a:latin typeface="Arial"/>
              </a:rPr>
              <a:t>4</a:t>
            </a:r>
          </a:p>
        </p:txBody>
      </p:sp>
      <p:sp>
        <p:nvSpPr>
          <p:cNvPr id="32" name="TextBox 31"/>
          <p:cNvSpPr txBox="1"/>
          <p:nvPr/>
        </p:nvSpPr>
        <p:spPr>
          <a:xfrm>
            <a:off x="11018520" y="6748272"/>
            <a:ext cx="6583680" cy="457200"/>
          </a:xfrm>
          <a:prstGeom prst="rect">
            <a:avLst/>
          </a:prstGeom>
          <a:noFill/>
        </p:spPr>
        <p:txBody>
          <a:bodyPr wrap="square" lIns="0" rIns="0" tIns="18288" bIns="18288" anchor="ctr">
            <a:spAutoFit/>
          </a:bodyPr>
          <a:lstStyle/>
          <a:p>
            <a:pPr algn="l"/>
            <a:r>
              <a:rPr sz="1400" b="1" i="0">
                <a:solidFill>
                  <a:srgbClr val="1B3A7A"/>
                </a:solidFill>
                <a:latin typeface="Arial"/>
              </a:rPr>
              <a:t>Ghazipur dossier  </a:t>
            </a:r>
            <a:r>
              <a:rPr sz="1400" b="0" i="0">
                <a:solidFill>
                  <a:srgbClr val="1F2937"/>
                </a:solidFill>
                <a:latin typeface="Arial"/>
              </a:rPr>
              <a:t>30.1 t/h, z 8.9, CO/CH₄ 0.54 → decay, not fire</a:t>
            </a:r>
          </a:p>
        </p:txBody>
      </p:sp>
      <p:sp>
        <p:nvSpPr>
          <p:cNvPr id="33" name="Oval 32"/>
          <p:cNvSpPr/>
          <p:nvPr/>
        </p:nvSpPr>
        <p:spPr>
          <a:xfrm>
            <a:off x="10515600" y="7260336"/>
            <a:ext cx="365760" cy="365760"/>
          </a:xfrm>
          <a:prstGeom prst="ellipse">
            <a:avLst/>
          </a:prstGeom>
          <a:solidFill>
            <a:srgbClr val="F9CE26"/>
          </a:solidFill>
          <a:ln>
            <a:noFill/>
          </a:ln>
          <a:effectLst/>
        </p:spPr>
        <p:txBody>
          <a:bodyPr rtlCol="0" anchor="ctr" wrap="square" lIns="0" rIns="0" tIns="18288" bIns="18288"/>
          <a:lstStyle/>
          <a:p>
            <a:pPr algn="ctr"/>
            <a:r>
              <a:rPr sz="1400" b="1" i="0">
                <a:solidFill>
                  <a:srgbClr val="1B3A7A"/>
                </a:solidFill>
                <a:latin typeface="Arial"/>
              </a:rPr>
              <a:t>5</a:t>
            </a:r>
          </a:p>
        </p:txBody>
      </p:sp>
      <p:sp>
        <p:nvSpPr>
          <p:cNvPr id="34" name="TextBox 33"/>
          <p:cNvSpPr txBox="1"/>
          <p:nvPr/>
        </p:nvSpPr>
        <p:spPr>
          <a:xfrm>
            <a:off x="11018520" y="7223760"/>
            <a:ext cx="6583680" cy="457200"/>
          </a:xfrm>
          <a:prstGeom prst="rect">
            <a:avLst/>
          </a:prstGeom>
          <a:noFill/>
        </p:spPr>
        <p:txBody>
          <a:bodyPr wrap="square" lIns="0" rIns="0" tIns="18288" bIns="18288" anchor="ctr">
            <a:spAutoFit/>
          </a:bodyPr>
          <a:lstStyle/>
          <a:p>
            <a:pPr algn="l"/>
            <a:r>
              <a:rPr sz="1400" b="1" i="0">
                <a:solidFill>
                  <a:srgbClr val="1B3A7A"/>
                </a:solidFill>
                <a:latin typeface="Arial"/>
              </a:rPr>
              <a:t>/partner sign-in  </a:t>
            </a:r>
            <a:r>
              <a:rPr sz="1400" b="0" i="0">
                <a:solidFill>
                  <a:srgbClr val="1F2937"/>
                </a:solidFill>
                <a:latin typeface="Arial"/>
              </a:rPr>
              <a:t>exact coordinates unlock; public stays at 25 km</a:t>
            </a:r>
          </a:p>
        </p:txBody>
      </p:sp>
      <p:sp>
        <p:nvSpPr>
          <p:cNvPr id="35" name="Rounded Rectangle 34"/>
          <p:cNvSpPr/>
          <p:nvPr/>
        </p:nvSpPr>
        <p:spPr>
          <a:xfrm>
            <a:off x="10515600" y="7818120"/>
            <a:ext cx="7086600" cy="1691640"/>
          </a:xfrm>
          <a:prstGeom prst="roundRect">
            <a:avLst>
              <a:gd name="adj" fmla="val 8000"/>
            </a:avLst>
          </a:prstGeom>
          <a:solidFill>
            <a:srgbClr val="EEF3FB"/>
          </a:solidFill>
          <a:ln>
            <a:noFill/>
          </a:ln>
          <a:effectLst/>
        </p:spPr>
        <p:txBody>
          <a:bodyPr rtlCol="0" anchor="ctr"/>
          <a:lstStyle/>
          <a:p/>
        </p:txBody>
      </p:sp>
      <p:pic>
        <p:nvPicPr>
          <p:cNvPr id="36" name="Picture 35" descr="qr.png"/>
          <p:cNvPicPr>
            <a:picLocks noChangeAspect="1"/>
          </p:cNvPicPr>
          <p:nvPr/>
        </p:nvPicPr>
        <p:blipFill>
          <a:blip r:embed="rId10"/>
          <a:stretch>
            <a:fillRect/>
          </a:stretch>
        </p:blipFill>
        <p:spPr>
          <a:xfrm>
            <a:off x="10652760" y="7936992"/>
            <a:ext cx="1463040" cy="1463040"/>
          </a:xfrm>
          <a:prstGeom prst="rect">
            <a:avLst/>
          </a:prstGeom>
        </p:spPr>
      </p:pic>
      <p:sp>
        <p:nvSpPr>
          <p:cNvPr id="37" name="TextBox 36"/>
          <p:cNvSpPr txBox="1"/>
          <p:nvPr/>
        </p:nvSpPr>
        <p:spPr>
          <a:xfrm>
            <a:off x="12298680" y="7882127"/>
            <a:ext cx="5212080" cy="1600200"/>
          </a:xfrm>
          <a:prstGeom prst="rect">
            <a:avLst/>
          </a:prstGeom>
          <a:noFill/>
        </p:spPr>
        <p:txBody>
          <a:bodyPr wrap="square" lIns="0" rIns="0" tIns="18288" bIns="18288" anchor="ctr">
            <a:spAutoFit/>
          </a:bodyPr>
          <a:lstStyle/>
          <a:p>
            <a:pPr algn="l"/>
            <a:r>
              <a:rPr sz="1600" b="1" i="0">
                <a:solidFill>
                  <a:srgbClr val="1B3A7A"/>
                </a:solidFill>
                <a:latin typeface="Arial"/>
              </a:rPr>
              <a:t>Scan to open the live site</a:t>
            </a:r>
          </a:p>
          <a:p>
            <a:pPr algn="l"/>
            <a:r>
              <a:rPr sz="1300" b="0" i="0">
                <a:solidFill>
                  <a:srgbClr val="1F2937"/>
                </a:solidFill>
                <a:latin typeface="Arial"/>
              </a:rPr>
              <a:t>Backup: full screen recording of this path on the laptop and a USB drive. Code and every result file: github.com/neurosyncx7/sustain-a-thon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IMPACT &amp; SUSTAINABILITY</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6</a:t>
            </a:r>
          </a:p>
        </p:txBody>
      </p:sp>
      <p:sp>
        <p:nvSpPr>
          <p:cNvPr id="17" name="TextBox 16"/>
          <p:cNvSpPr txBox="1"/>
          <p:nvPr/>
        </p:nvSpPr>
        <p:spPr>
          <a:xfrm>
            <a:off x="685800" y="2011680"/>
            <a:ext cx="5394960" cy="822960"/>
          </a:xfrm>
          <a:prstGeom prst="rect">
            <a:avLst/>
          </a:prstGeom>
          <a:noFill/>
        </p:spPr>
        <p:txBody>
          <a:bodyPr wrap="square" lIns="0" rIns="0" tIns="18288" bIns="18288" anchor="t">
            <a:spAutoFit/>
          </a:bodyPr>
          <a:lstStyle/>
          <a:p>
            <a:pPr algn="l"/>
            <a:r>
              <a:rPr sz="4400" b="1" i="0">
                <a:solidFill>
                  <a:srgbClr val="E0662B"/>
                </a:solidFill>
                <a:latin typeface="Arial"/>
              </a:rPr>
              <a:t>7</a:t>
            </a:r>
          </a:p>
        </p:txBody>
      </p:sp>
      <p:sp>
        <p:nvSpPr>
          <p:cNvPr id="18" name="TextBox 17"/>
          <p:cNvSpPr txBox="1"/>
          <p:nvPr/>
        </p:nvSpPr>
        <p:spPr>
          <a:xfrm>
            <a:off x="685800" y="2834640"/>
            <a:ext cx="5394960" cy="960120"/>
          </a:xfrm>
          <a:prstGeom prst="rect">
            <a:avLst/>
          </a:prstGeom>
          <a:noFill/>
        </p:spPr>
        <p:txBody>
          <a:bodyPr wrap="square" lIns="0" rIns="0" tIns="18288" bIns="18288" anchor="t">
            <a:spAutoFit/>
          </a:bodyPr>
          <a:lstStyle/>
          <a:p>
            <a:pPr algn="l"/>
            <a:r>
              <a:rPr sz="1350" b="0" i="0">
                <a:solidFill>
                  <a:srgbClr val="1F2937"/>
                </a:solidFill>
                <a:latin typeface="Arial"/>
              </a:rPr>
              <a:t>super-emitter clusters confirmed in India (5% false-discovery gate + an independent check)</a:t>
            </a:r>
          </a:p>
        </p:txBody>
      </p:sp>
      <p:sp>
        <p:nvSpPr>
          <p:cNvPr id="19" name="TextBox 18"/>
          <p:cNvSpPr txBox="1"/>
          <p:nvPr/>
        </p:nvSpPr>
        <p:spPr>
          <a:xfrm>
            <a:off x="685800" y="3913632"/>
            <a:ext cx="5394960" cy="822960"/>
          </a:xfrm>
          <a:prstGeom prst="rect">
            <a:avLst/>
          </a:prstGeom>
          <a:noFill/>
        </p:spPr>
        <p:txBody>
          <a:bodyPr wrap="square" lIns="0" rIns="0" tIns="18288" bIns="18288" anchor="t">
            <a:spAutoFit/>
          </a:bodyPr>
          <a:lstStyle/>
          <a:p>
            <a:pPr algn="l"/>
            <a:r>
              <a:rPr sz="4400" b="1" i="0">
                <a:solidFill>
                  <a:srgbClr val="1B3A7A"/>
                </a:solidFill>
                <a:latin typeface="Arial"/>
              </a:rPr>
              <a:t>187 t/h</a:t>
            </a:r>
          </a:p>
        </p:txBody>
      </p:sp>
      <p:sp>
        <p:nvSpPr>
          <p:cNvPr id="20" name="TextBox 19"/>
          <p:cNvSpPr txBox="1"/>
          <p:nvPr/>
        </p:nvSpPr>
        <p:spPr>
          <a:xfrm>
            <a:off x="685800" y="4736592"/>
            <a:ext cx="5394960" cy="960120"/>
          </a:xfrm>
          <a:prstGeom prst="rect">
            <a:avLst/>
          </a:prstGeom>
          <a:noFill/>
        </p:spPr>
        <p:txBody>
          <a:bodyPr wrap="square" lIns="0" rIns="0" tIns="18288" bIns="18288" anchor="t">
            <a:spAutoFit/>
          </a:bodyPr>
          <a:lstStyle/>
          <a:p>
            <a:pPr algn="l"/>
            <a:r>
              <a:rPr sz="1350" b="0" i="0">
                <a:solidFill>
                  <a:srgbClr val="1F2937"/>
                </a:solidFill>
                <a:latin typeface="Arial"/>
              </a:rPr>
              <a:t>of methane from those 7 places combined: about 1.6 Mt a year (20 km cluster totals)</a:t>
            </a:r>
          </a:p>
        </p:txBody>
      </p:sp>
      <p:sp>
        <p:nvSpPr>
          <p:cNvPr id="21" name="TextBox 20"/>
          <p:cNvSpPr txBox="1"/>
          <p:nvPr/>
        </p:nvSpPr>
        <p:spPr>
          <a:xfrm>
            <a:off x="685800" y="5815584"/>
            <a:ext cx="5394960" cy="822960"/>
          </a:xfrm>
          <a:prstGeom prst="rect">
            <a:avLst/>
          </a:prstGeom>
          <a:noFill/>
        </p:spPr>
        <p:txBody>
          <a:bodyPr wrap="square" lIns="0" rIns="0" tIns="18288" bIns="18288" anchor="t">
            <a:spAutoFit/>
          </a:bodyPr>
          <a:lstStyle/>
          <a:p>
            <a:pPr algn="l"/>
            <a:r>
              <a:rPr sz="4400" b="1" i="0">
                <a:solidFill>
                  <a:srgbClr val="1F9D63"/>
                </a:solidFill>
                <a:latin typeface="Arial"/>
              </a:rPr>
              <a:t>₹160</a:t>
            </a:r>
          </a:p>
        </p:txBody>
      </p:sp>
      <p:sp>
        <p:nvSpPr>
          <p:cNvPr id="22" name="TextBox 21"/>
          <p:cNvSpPr txBox="1"/>
          <p:nvPr/>
        </p:nvSpPr>
        <p:spPr>
          <a:xfrm>
            <a:off x="685800" y="6638544"/>
            <a:ext cx="5394960" cy="960120"/>
          </a:xfrm>
          <a:prstGeom prst="rect">
            <a:avLst/>
          </a:prstGeom>
          <a:noFill/>
        </p:spPr>
        <p:txBody>
          <a:bodyPr wrap="square" lIns="0" rIns="0" tIns="18288" bIns="18288" anchor="t">
            <a:spAutoFit/>
          </a:bodyPr>
          <a:lstStyle/>
          <a:p>
            <a:pPr algn="l"/>
            <a:r>
              <a:rPr sz="1350" b="0" i="0">
                <a:solidFill>
                  <a:srgbClr val="1F2937"/>
                </a:solidFill>
                <a:latin typeface="Arial"/>
              </a:rPr>
              <a:t>per tonne CO₂e (20-yr) to abate at landfills: about 620 t avoided per ₹ lakh (EPA cost curve, IPCC AR6)</a:t>
            </a:r>
          </a:p>
        </p:txBody>
      </p:sp>
      <p:sp>
        <p:nvSpPr>
          <p:cNvPr id="23" name="TextBox 22"/>
          <p:cNvSpPr txBox="1"/>
          <p:nvPr/>
        </p:nvSpPr>
        <p:spPr>
          <a:xfrm>
            <a:off x="685800" y="7717536"/>
            <a:ext cx="5394960" cy="822960"/>
          </a:xfrm>
          <a:prstGeom prst="rect">
            <a:avLst/>
          </a:prstGeom>
          <a:noFill/>
        </p:spPr>
        <p:txBody>
          <a:bodyPr wrap="square" lIns="0" rIns="0" tIns="18288" bIns="18288" anchor="t">
            <a:spAutoFit/>
          </a:bodyPr>
          <a:lstStyle/>
          <a:p>
            <a:pPr algn="l"/>
            <a:r>
              <a:rPr sz="4400" b="1" i="0">
                <a:solidFill>
                  <a:srgbClr val="1E6FD9"/>
                </a:solidFill>
                <a:latin typeface="Arial"/>
              </a:rPr>
              <a:t>84 Mt</a:t>
            </a:r>
          </a:p>
        </p:txBody>
      </p:sp>
      <p:sp>
        <p:nvSpPr>
          <p:cNvPr id="24" name="TextBox 23"/>
          <p:cNvSpPr txBox="1"/>
          <p:nvPr/>
        </p:nvSpPr>
        <p:spPr>
          <a:xfrm>
            <a:off x="685800" y="8540496"/>
            <a:ext cx="5394960" cy="960120"/>
          </a:xfrm>
          <a:prstGeom prst="rect">
            <a:avLst/>
          </a:prstGeom>
          <a:noFill/>
        </p:spPr>
        <p:txBody>
          <a:bodyPr wrap="square" lIns="0" rIns="0" tIns="18288" bIns="18288" anchor="t">
            <a:spAutoFit/>
          </a:bodyPr>
          <a:lstStyle/>
          <a:p>
            <a:pPr algn="l"/>
            <a:r>
              <a:rPr sz="1350" b="0" i="0">
                <a:solidFill>
                  <a:srgbClr val="1F2937"/>
                </a:solidFill>
                <a:latin typeface="Arial"/>
              </a:rPr>
              <a:t>CO₂e (20-yr) a year avoidable at these 7 if 50-85% of their methane is captured</a:t>
            </a:r>
          </a:p>
        </p:txBody>
      </p:sp>
      <p:graphicFrame>
        <p:nvGraphicFramePr>
          <p:cNvPr id="25" name="Chart 24"/>
          <p:cNvGraphicFramePr>
            <a:graphicFrameLocks noGrp="1"/>
          </p:cNvGraphicFramePr>
          <p:nvPr/>
        </p:nvGraphicFramePr>
        <p:xfrm>
          <a:off x="6309360" y="2011680"/>
          <a:ext cx="6035040" cy="5349240"/>
        </p:xfrm>
        <a:graphic>
          <a:graphicData uri="http://schemas.openxmlformats.org/drawingml/2006/chart">
            <c:chart xmlns:c="http://schemas.openxmlformats.org/drawingml/2006/chart" r:id="rId7"/>
          </a:graphicData>
        </a:graphic>
      </p:graphicFrame>
      <p:sp>
        <p:nvSpPr>
          <p:cNvPr id="26" name="TextBox 25"/>
          <p:cNvSpPr txBox="1"/>
          <p:nvPr/>
        </p:nvSpPr>
        <p:spPr>
          <a:xfrm>
            <a:off x="6400800" y="7269480"/>
            <a:ext cx="5852160" cy="320040"/>
          </a:xfrm>
          <a:prstGeom prst="rect">
            <a:avLst/>
          </a:prstGeom>
          <a:noFill/>
        </p:spPr>
        <p:txBody>
          <a:bodyPr wrap="square" lIns="0" rIns="0" tIns="18288" bIns="18288" anchor="t">
            <a:spAutoFit/>
          </a:bodyPr>
          <a:lstStyle/>
          <a:p>
            <a:pPr algn="l"/>
            <a:r>
              <a:rPr sz="1100" b="0" i="0">
                <a:solidFill>
                  <a:srgbClr val="5B6B8C"/>
                </a:solidFill>
                <a:latin typeface="Arial"/>
              </a:rPr>
              <a:t>Navy: landfill · grey: coal · blue: *found by the blind screen, sector unknown</a:t>
            </a:r>
          </a:p>
        </p:txBody>
      </p:sp>
      <p:sp>
        <p:nvSpPr>
          <p:cNvPr id="27" name="Rounded Rectangle 26"/>
          <p:cNvSpPr/>
          <p:nvPr/>
        </p:nvSpPr>
        <p:spPr>
          <a:xfrm>
            <a:off x="6309360" y="7680960"/>
            <a:ext cx="6035040" cy="1828800"/>
          </a:xfrm>
          <a:prstGeom prst="roundRect">
            <a:avLst>
              <a:gd name="adj" fmla="val 7000"/>
            </a:avLst>
          </a:prstGeom>
          <a:solidFill>
            <a:srgbClr val="FFF7D6"/>
          </a:solidFill>
          <a:ln>
            <a:noFill/>
          </a:ln>
          <a:effectLst/>
        </p:spPr>
        <p:txBody>
          <a:bodyPr rtlCol="0" anchor="ctr"/>
          <a:lstStyle/>
          <a:p/>
        </p:txBody>
      </p:sp>
      <p:sp>
        <p:nvSpPr>
          <p:cNvPr id="28" name="TextBox 27"/>
          <p:cNvSpPr txBox="1"/>
          <p:nvPr/>
        </p:nvSpPr>
        <p:spPr>
          <a:xfrm>
            <a:off x="6492240" y="7726679"/>
            <a:ext cx="5715000" cy="1737360"/>
          </a:xfrm>
          <a:prstGeom prst="rect">
            <a:avLst/>
          </a:prstGeom>
          <a:noFill/>
        </p:spPr>
        <p:txBody>
          <a:bodyPr wrap="square" lIns="0" rIns="0" tIns="18288" bIns="18288" anchor="ctr">
            <a:spAutoFit/>
          </a:bodyPr>
          <a:lstStyle/>
          <a:p>
            <a:pPr algn="l"/>
            <a:r>
              <a:rPr sz="1400" b="1" i="0">
                <a:solidFill>
                  <a:srgbClr val="1B3A7A"/>
                </a:solidFill>
                <a:latin typeface="Arial"/>
              </a:rPr>
              <a:t>Independent check. </a:t>
            </a:r>
            <a:r>
              <a:rPr sz="1400" b="0" i="0">
                <a:solidFill>
                  <a:srgbClr val="1F2937"/>
                </a:solidFill>
                <a:latin typeface="Arial"/>
              </a:rPr>
              <a:t>Carbon Mapper's 2025 survey named landfills in Hyderabad (Secunderabad) and Mumbai among the world's 25 largest methane emitters. We flag both from free public data alone.</a:t>
            </a:r>
          </a:p>
        </p:txBody>
      </p:sp>
      <p:sp>
        <p:nvSpPr>
          <p:cNvPr id="29" name="Rounded Rectangle 28"/>
          <p:cNvSpPr/>
          <p:nvPr/>
        </p:nvSpPr>
        <p:spPr>
          <a:xfrm>
            <a:off x="12618720" y="2011680"/>
            <a:ext cx="1188720" cy="1188720"/>
          </a:xfrm>
          <a:prstGeom prst="roundRect">
            <a:avLst>
              <a:gd name="adj" fmla="val 10000"/>
            </a:avLst>
          </a:prstGeom>
          <a:solidFill>
            <a:srgbClr val="3F7E44"/>
          </a:solidFill>
          <a:ln>
            <a:noFill/>
          </a:ln>
          <a:effectLst/>
        </p:spPr>
        <p:txBody>
          <a:bodyPr rtlCol="0" anchor="ctr" wrap="square" lIns="0" rIns="0" tIns="18288" bIns="18288"/>
          <a:lstStyle/>
          <a:p>
            <a:pPr algn="ctr"/>
            <a:r>
              <a:rPr sz="1200" b="1" i="0">
                <a:solidFill>
                  <a:srgbClr val="FFFFFF"/>
                </a:solidFill>
                <a:latin typeface="Arial"/>
              </a:rPr>
              <a:t>SDG</a:t>
            </a:r>
          </a:p>
          <a:p>
            <a:pPr algn="ctr"/>
            <a:r>
              <a:rPr sz="3000" b="1" i="0">
                <a:solidFill>
                  <a:srgbClr val="FFFFFF"/>
                </a:solidFill>
                <a:latin typeface="Arial"/>
              </a:rPr>
              <a:t>13</a:t>
            </a:r>
          </a:p>
        </p:txBody>
      </p:sp>
      <p:sp>
        <p:nvSpPr>
          <p:cNvPr id="30" name="TextBox 29"/>
          <p:cNvSpPr txBox="1"/>
          <p:nvPr/>
        </p:nvSpPr>
        <p:spPr>
          <a:xfrm>
            <a:off x="13990320" y="2011680"/>
            <a:ext cx="3611880" cy="1188720"/>
          </a:xfrm>
          <a:prstGeom prst="rect">
            <a:avLst/>
          </a:prstGeom>
          <a:noFill/>
        </p:spPr>
        <p:txBody>
          <a:bodyPr wrap="square" lIns="0" rIns="0" tIns="18288" bIns="18288" anchor="ctr">
            <a:spAutoFit/>
          </a:bodyPr>
          <a:lstStyle/>
          <a:p>
            <a:pPr algn="l"/>
            <a:r>
              <a:rPr sz="1700" b="1" i="0">
                <a:solidFill>
                  <a:srgbClr val="1B3A7A"/>
                </a:solidFill>
                <a:latin typeface="Arial"/>
              </a:rPr>
              <a:t>Climate Action</a:t>
            </a:r>
          </a:p>
          <a:p>
            <a:pPr algn="l"/>
            <a:r>
              <a:rPr sz="1300" b="0" i="0">
                <a:solidFill>
                  <a:srgbClr val="1F2937"/>
                </a:solidFill>
                <a:latin typeface="Arial"/>
              </a:rPr>
              <a:t>the fastest lever on near-term warming (13.2, 13.3)</a:t>
            </a:r>
          </a:p>
        </p:txBody>
      </p:sp>
      <p:sp>
        <p:nvSpPr>
          <p:cNvPr id="31" name="Rounded Rectangle 30"/>
          <p:cNvSpPr/>
          <p:nvPr/>
        </p:nvSpPr>
        <p:spPr>
          <a:xfrm>
            <a:off x="12618720" y="3383280"/>
            <a:ext cx="1188720" cy="1188720"/>
          </a:xfrm>
          <a:prstGeom prst="roundRect">
            <a:avLst>
              <a:gd name="adj" fmla="val 10000"/>
            </a:avLst>
          </a:prstGeom>
          <a:solidFill>
            <a:srgbClr val="FD9D24"/>
          </a:solidFill>
          <a:ln>
            <a:noFill/>
          </a:ln>
          <a:effectLst/>
        </p:spPr>
        <p:txBody>
          <a:bodyPr rtlCol="0" anchor="ctr" wrap="square" lIns="0" rIns="0" tIns="18288" bIns="18288"/>
          <a:lstStyle/>
          <a:p>
            <a:pPr algn="ctr"/>
            <a:r>
              <a:rPr sz="1200" b="1" i="0">
                <a:solidFill>
                  <a:srgbClr val="FFFFFF"/>
                </a:solidFill>
                <a:latin typeface="Arial"/>
              </a:rPr>
              <a:t>SDG</a:t>
            </a:r>
          </a:p>
          <a:p>
            <a:pPr algn="ctr"/>
            <a:r>
              <a:rPr sz="3000" b="1" i="0">
                <a:solidFill>
                  <a:srgbClr val="FFFFFF"/>
                </a:solidFill>
                <a:latin typeface="Arial"/>
              </a:rPr>
              <a:t>11</a:t>
            </a:r>
          </a:p>
        </p:txBody>
      </p:sp>
      <p:sp>
        <p:nvSpPr>
          <p:cNvPr id="32" name="TextBox 31"/>
          <p:cNvSpPr txBox="1"/>
          <p:nvPr/>
        </p:nvSpPr>
        <p:spPr>
          <a:xfrm>
            <a:off x="13990320" y="3383280"/>
            <a:ext cx="3611880" cy="1188720"/>
          </a:xfrm>
          <a:prstGeom prst="rect">
            <a:avLst/>
          </a:prstGeom>
          <a:noFill/>
        </p:spPr>
        <p:txBody>
          <a:bodyPr wrap="square" lIns="0" rIns="0" tIns="18288" bIns="18288" anchor="ctr">
            <a:spAutoFit/>
          </a:bodyPr>
          <a:lstStyle/>
          <a:p>
            <a:pPr algn="l"/>
            <a:r>
              <a:rPr sz="1700" b="1" i="0">
                <a:solidFill>
                  <a:srgbClr val="1B3A7A"/>
                </a:solidFill>
                <a:latin typeface="Arial"/>
              </a:rPr>
              <a:t>Sustainable Cities</a:t>
            </a:r>
          </a:p>
          <a:p>
            <a:pPr algn="l"/>
            <a:r>
              <a:rPr sz="1300" b="0" i="0">
                <a:solidFill>
                  <a:srgbClr val="1F2937"/>
                </a:solidFill>
                <a:latin typeface="Arial"/>
              </a:rPr>
              <a:t>dumpsites of Delhi, Mumbai, Hyderabad, Ahmedabad, Surat (11.6)</a:t>
            </a:r>
          </a:p>
        </p:txBody>
      </p:sp>
      <p:sp>
        <p:nvSpPr>
          <p:cNvPr id="33" name="Rounded Rectangle 32"/>
          <p:cNvSpPr/>
          <p:nvPr/>
        </p:nvSpPr>
        <p:spPr>
          <a:xfrm>
            <a:off x="12618720" y="4754880"/>
            <a:ext cx="1188720" cy="1188720"/>
          </a:xfrm>
          <a:prstGeom prst="roundRect">
            <a:avLst>
              <a:gd name="adj" fmla="val 10000"/>
            </a:avLst>
          </a:prstGeom>
          <a:solidFill>
            <a:srgbClr val="4C9F38"/>
          </a:solidFill>
          <a:ln>
            <a:noFill/>
          </a:ln>
          <a:effectLst/>
        </p:spPr>
        <p:txBody>
          <a:bodyPr rtlCol="0" anchor="ctr" wrap="square" lIns="0" rIns="0" tIns="18288" bIns="18288"/>
          <a:lstStyle/>
          <a:p>
            <a:pPr algn="ctr"/>
            <a:r>
              <a:rPr sz="1200" b="1" i="0">
                <a:solidFill>
                  <a:srgbClr val="FFFFFF"/>
                </a:solidFill>
                <a:latin typeface="Arial"/>
              </a:rPr>
              <a:t>SDG</a:t>
            </a:r>
          </a:p>
          <a:p>
            <a:pPr algn="ctr"/>
            <a:r>
              <a:rPr sz="3000" b="1" i="0">
                <a:solidFill>
                  <a:srgbClr val="FFFFFF"/>
                </a:solidFill>
                <a:latin typeface="Arial"/>
              </a:rPr>
              <a:t>3</a:t>
            </a:r>
          </a:p>
        </p:txBody>
      </p:sp>
      <p:sp>
        <p:nvSpPr>
          <p:cNvPr id="34" name="TextBox 33"/>
          <p:cNvSpPr txBox="1"/>
          <p:nvPr/>
        </p:nvSpPr>
        <p:spPr>
          <a:xfrm>
            <a:off x="13990320" y="4754880"/>
            <a:ext cx="3611880" cy="1188720"/>
          </a:xfrm>
          <a:prstGeom prst="rect">
            <a:avLst/>
          </a:prstGeom>
          <a:noFill/>
        </p:spPr>
        <p:txBody>
          <a:bodyPr wrap="square" lIns="0" rIns="0" tIns="18288" bIns="18288" anchor="ctr">
            <a:spAutoFit/>
          </a:bodyPr>
          <a:lstStyle/>
          <a:p>
            <a:pPr algn="l"/>
            <a:r>
              <a:rPr sz="1700" b="1" i="0">
                <a:solidFill>
                  <a:srgbClr val="1B3A7A"/>
                </a:solidFill>
                <a:latin typeface="Arial"/>
              </a:rPr>
              <a:t>Good Health</a:t>
            </a:r>
          </a:p>
          <a:p>
            <a:pPr algn="l"/>
            <a:r>
              <a:rPr sz="1300" b="0" i="0">
                <a:solidFill>
                  <a:srgbClr val="1F2937"/>
                </a:solidFill>
                <a:latin typeface="Arial"/>
              </a:rPr>
              <a:t>landfill fires and air pollution near homes (3.9)</a:t>
            </a:r>
          </a:p>
        </p:txBody>
      </p:sp>
      <p:sp>
        <p:nvSpPr>
          <p:cNvPr id="35" name="Rounded Rectangle 34"/>
          <p:cNvSpPr/>
          <p:nvPr/>
        </p:nvSpPr>
        <p:spPr>
          <a:xfrm>
            <a:off x="12618720" y="6126480"/>
            <a:ext cx="1188720" cy="1188720"/>
          </a:xfrm>
          <a:prstGeom prst="roundRect">
            <a:avLst>
              <a:gd name="adj" fmla="val 10000"/>
            </a:avLst>
          </a:prstGeom>
          <a:solidFill>
            <a:srgbClr val="BF8B2E"/>
          </a:solidFill>
          <a:ln>
            <a:noFill/>
          </a:ln>
          <a:effectLst/>
        </p:spPr>
        <p:txBody>
          <a:bodyPr rtlCol="0" anchor="ctr" wrap="square" lIns="0" rIns="0" tIns="18288" bIns="18288"/>
          <a:lstStyle/>
          <a:p>
            <a:pPr algn="ctr"/>
            <a:r>
              <a:rPr sz="1200" b="1" i="0">
                <a:solidFill>
                  <a:srgbClr val="FFFFFF"/>
                </a:solidFill>
                <a:latin typeface="Arial"/>
              </a:rPr>
              <a:t>SDG</a:t>
            </a:r>
          </a:p>
          <a:p>
            <a:pPr algn="ctr"/>
            <a:r>
              <a:rPr sz="3000" b="1" i="0">
                <a:solidFill>
                  <a:srgbClr val="FFFFFF"/>
                </a:solidFill>
                <a:latin typeface="Arial"/>
              </a:rPr>
              <a:t>12</a:t>
            </a:r>
          </a:p>
        </p:txBody>
      </p:sp>
      <p:sp>
        <p:nvSpPr>
          <p:cNvPr id="36" name="TextBox 35"/>
          <p:cNvSpPr txBox="1"/>
          <p:nvPr/>
        </p:nvSpPr>
        <p:spPr>
          <a:xfrm>
            <a:off x="13990320" y="6126480"/>
            <a:ext cx="3611880" cy="1188720"/>
          </a:xfrm>
          <a:prstGeom prst="rect">
            <a:avLst/>
          </a:prstGeom>
          <a:noFill/>
        </p:spPr>
        <p:txBody>
          <a:bodyPr wrap="square" lIns="0" rIns="0" tIns="18288" bIns="18288" anchor="ctr">
            <a:spAutoFit/>
          </a:bodyPr>
          <a:lstStyle/>
          <a:p>
            <a:pPr algn="l"/>
            <a:r>
              <a:rPr sz="1700" b="1" i="0">
                <a:solidFill>
                  <a:srgbClr val="1B3A7A"/>
                </a:solidFill>
                <a:latin typeface="Arial"/>
              </a:rPr>
              <a:t>Responsible Consumption</a:t>
            </a:r>
          </a:p>
          <a:p>
            <a:pPr algn="l"/>
            <a:r>
              <a:rPr sz="1300" b="0" i="0">
                <a:solidFill>
                  <a:srgbClr val="1F2937"/>
                </a:solidFill>
                <a:latin typeface="Arial"/>
              </a:rPr>
              <a:t>waste diversion and gas capture where it pays most (12.5)</a:t>
            </a:r>
          </a:p>
        </p:txBody>
      </p:sp>
      <p:sp>
        <p:nvSpPr>
          <p:cNvPr id="37" name="Rounded Rectangle 36"/>
          <p:cNvSpPr/>
          <p:nvPr/>
        </p:nvSpPr>
        <p:spPr>
          <a:xfrm>
            <a:off x="12618720" y="7680960"/>
            <a:ext cx="4983480" cy="1828800"/>
          </a:xfrm>
          <a:prstGeom prst="roundRect">
            <a:avLst>
              <a:gd name="adj" fmla="val 7000"/>
            </a:avLst>
          </a:prstGeom>
          <a:solidFill>
            <a:srgbClr val="1B3A7A"/>
          </a:solidFill>
          <a:ln>
            <a:noFill/>
          </a:ln>
          <a:effectLst/>
        </p:spPr>
        <p:txBody>
          <a:bodyPr rtlCol="0" anchor="ctr"/>
          <a:lstStyle/>
          <a:p/>
        </p:txBody>
      </p:sp>
      <p:sp>
        <p:nvSpPr>
          <p:cNvPr id="38" name="TextBox 37"/>
          <p:cNvSpPr txBox="1"/>
          <p:nvPr/>
        </p:nvSpPr>
        <p:spPr>
          <a:xfrm>
            <a:off x="12847320" y="7726679"/>
            <a:ext cx="4572000" cy="1737360"/>
          </a:xfrm>
          <a:prstGeom prst="rect">
            <a:avLst/>
          </a:prstGeom>
          <a:noFill/>
        </p:spPr>
        <p:txBody>
          <a:bodyPr wrap="square" lIns="0" rIns="0" tIns="18288" bIns="18288" anchor="ctr">
            <a:spAutoFit/>
          </a:bodyPr>
          <a:lstStyle/>
          <a:p>
            <a:pPr algn="l"/>
            <a:r>
              <a:rPr sz="1700" b="1" i="0">
                <a:solidFill>
                  <a:srgbClr val="F9CE26"/>
                </a:solidFill>
                <a:latin typeface="Arial"/>
              </a:rPr>
              <a:t>Sustainable by design</a:t>
            </a:r>
          </a:p>
          <a:p>
            <a:pPr algn="l"/>
            <a:r>
              <a:rPr sz="1400" b="0" i="0">
                <a:solidFill>
                  <a:srgbClr val="FFFFFF"/>
                </a:solidFill>
                <a:latin typeface="Arial"/>
              </a:rPr>
              <a:t>Free public data, free-tier compute, open code: running cost today is about ₹0 a month.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BUSINESS APPROACH</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7</a:t>
            </a:r>
          </a:p>
        </p:txBody>
      </p:sp>
      <p:sp>
        <p:nvSpPr>
          <p:cNvPr id="17" name="TextBox 16"/>
          <p:cNvSpPr txBox="1"/>
          <p:nvPr/>
        </p:nvSpPr>
        <p:spPr>
          <a:xfrm>
            <a:off x="685800" y="1965960"/>
            <a:ext cx="6035040" cy="411480"/>
          </a:xfrm>
          <a:prstGeom prst="rect">
            <a:avLst/>
          </a:prstGeom>
          <a:noFill/>
        </p:spPr>
        <p:txBody>
          <a:bodyPr wrap="square" lIns="0" rIns="0" tIns="18288" bIns="18288" anchor="t">
            <a:spAutoFit/>
          </a:bodyPr>
          <a:lstStyle/>
          <a:p>
            <a:pPr algn="l"/>
            <a:r>
              <a:rPr sz="1900" b="1" i="0">
                <a:solidFill>
                  <a:srgbClr val="1B3A7A"/>
                </a:solidFill>
                <a:latin typeface="Arial"/>
              </a:rPr>
              <a:t>Who uses it</a:t>
            </a:r>
          </a:p>
        </p:txBody>
      </p:sp>
      <p:sp>
        <p:nvSpPr>
          <p:cNvPr id="18" name="Rounded Rectangle 17"/>
          <p:cNvSpPr/>
          <p:nvPr/>
        </p:nvSpPr>
        <p:spPr>
          <a:xfrm>
            <a:off x="685800" y="2468880"/>
            <a:ext cx="6035040" cy="1600200"/>
          </a:xfrm>
          <a:prstGeom prst="roundRect">
            <a:avLst>
              <a:gd name="adj" fmla="val 7000"/>
            </a:avLst>
          </a:prstGeom>
          <a:solidFill>
            <a:srgbClr val="EEF3FB"/>
          </a:solidFill>
          <a:ln>
            <a:noFill/>
          </a:ln>
          <a:effectLst/>
        </p:spPr>
        <p:txBody>
          <a:bodyPr rtlCol="0" anchor="ctr"/>
          <a:lstStyle/>
          <a:p/>
        </p:txBody>
      </p:sp>
      <p:sp>
        <p:nvSpPr>
          <p:cNvPr id="19" name="Oval 18"/>
          <p:cNvSpPr/>
          <p:nvPr/>
        </p:nvSpPr>
        <p:spPr>
          <a:xfrm>
            <a:off x="868680" y="2834640"/>
            <a:ext cx="868680" cy="86868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REG</a:t>
            </a:r>
          </a:p>
        </p:txBody>
      </p:sp>
      <p:sp>
        <p:nvSpPr>
          <p:cNvPr id="20" name="TextBox 19"/>
          <p:cNvSpPr txBox="1"/>
          <p:nvPr/>
        </p:nvSpPr>
        <p:spPr>
          <a:xfrm>
            <a:off x="1920240" y="2560320"/>
            <a:ext cx="4663440" cy="1417320"/>
          </a:xfrm>
          <a:prstGeom prst="rect">
            <a:avLst/>
          </a:prstGeom>
          <a:noFill/>
        </p:spPr>
        <p:txBody>
          <a:bodyPr wrap="square" lIns="0" rIns="0" tIns="18288" bIns="18288" anchor="ctr">
            <a:spAutoFit/>
          </a:bodyPr>
          <a:lstStyle/>
          <a:p>
            <a:pPr algn="l"/>
            <a:r>
              <a:rPr sz="1800" b="1" i="0">
                <a:solidFill>
                  <a:srgbClr val="1B3A7A"/>
                </a:solidFill>
                <a:latin typeface="Arial"/>
              </a:rPr>
              <a:t>Regulators</a:t>
            </a:r>
          </a:p>
          <a:p>
            <a:pPr algn="l"/>
            <a:r>
              <a:rPr sz="1400" b="0" i="0">
                <a:solidFill>
                  <a:srgbClr val="1F2937"/>
                </a:solidFill>
                <a:latin typeface="Arial"/>
              </a:rPr>
              <a:t>CPCB, 28 SPCBs, MoEFCC: which sites to inspect first, with evidence</a:t>
            </a:r>
          </a:p>
        </p:txBody>
      </p:sp>
      <p:sp>
        <p:nvSpPr>
          <p:cNvPr id="21" name="Rounded Rectangle 20"/>
          <p:cNvSpPr/>
          <p:nvPr/>
        </p:nvSpPr>
        <p:spPr>
          <a:xfrm>
            <a:off x="685800" y="4233672"/>
            <a:ext cx="6035040" cy="1600200"/>
          </a:xfrm>
          <a:prstGeom prst="roundRect">
            <a:avLst>
              <a:gd name="adj" fmla="val 7000"/>
            </a:avLst>
          </a:prstGeom>
          <a:solidFill>
            <a:srgbClr val="EEF3FB"/>
          </a:solidFill>
          <a:ln>
            <a:noFill/>
          </a:ln>
          <a:effectLst/>
        </p:spPr>
        <p:txBody>
          <a:bodyPr rtlCol="0" anchor="ctr"/>
          <a:lstStyle/>
          <a:p/>
        </p:txBody>
      </p:sp>
      <p:sp>
        <p:nvSpPr>
          <p:cNvPr id="22" name="Oval 21"/>
          <p:cNvSpPr/>
          <p:nvPr/>
        </p:nvSpPr>
        <p:spPr>
          <a:xfrm>
            <a:off x="868680" y="4599432"/>
            <a:ext cx="868680" cy="86868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CITY</a:t>
            </a:r>
          </a:p>
        </p:txBody>
      </p:sp>
      <p:sp>
        <p:nvSpPr>
          <p:cNvPr id="23" name="TextBox 22"/>
          <p:cNvSpPr txBox="1"/>
          <p:nvPr/>
        </p:nvSpPr>
        <p:spPr>
          <a:xfrm>
            <a:off x="1920240" y="4325112"/>
            <a:ext cx="4663440" cy="1417320"/>
          </a:xfrm>
          <a:prstGeom prst="rect">
            <a:avLst/>
          </a:prstGeom>
          <a:noFill/>
        </p:spPr>
        <p:txBody>
          <a:bodyPr wrap="square" lIns="0" rIns="0" tIns="18288" bIns="18288" anchor="ctr">
            <a:spAutoFit/>
          </a:bodyPr>
          <a:lstStyle/>
          <a:p>
            <a:pPr algn="l"/>
            <a:r>
              <a:rPr sz="1800" b="1" i="0">
                <a:solidFill>
                  <a:srgbClr val="1B3A7A"/>
                </a:solidFill>
                <a:latin typeface="Arial"/>
              </a:rPr>
              <a:t>City corporations</a:t>
            </a:r>
          </a:p>
          <a:p>
            <a:pPr algn="l"/>
            <a:r>
              <a:rPr sz="1400" b="0" i="0">
                <a:solidFill>
                  <a:srgbClr val="1F2937"/>
                </a:solidFill>
                <a:latin typeface="Arial"/>
              </a:rPr>
              <a:t>2,438 legacy dumpsites: is remediation actually cutting methane?</a:t>
            </a:r>
          </a:p>
        </p:txBody>
      </p:sp>
      <p:sp>
        <p:nvSpPr>
          <p:cNvPr id="24" name="Rounded Rectangle 23"/>
          <p:cNvSpPr/>
          <p:nvPr/>
        </p:nvSpPr>
        <p:spPr>
          <a:xfrm>
            <a:off x="685800" y="5998464"/>
            <a:ext cx="6035040" cy="1600200"/>
          </a:xfrm>
          <a:prstGeom prst="roundRect">
            <a:avLst>
              <a:gd name="adj" fmla="val 7000"/>
            </a:avLst>
          </a:prstGeom>
          <a:solidFill>
            <a:srgbClr val="EEF3FB"/>
          </a:solidFill>
          <a:ln>
            <a:noFill/>
          </a:ln>
          <a:effectLst/>
        </p:spPr>
        <p:txBody>
          <a:bodyPr rtlCol="0" anchor="ctr"/>
          <a:lstStyle/>
          <a:p/>
        </p:txBody>
      </p:sp>
      <p:sp>
        <p:nvSpPr>
          <p:cNvPr id="25" name="Oval 24"/>
          <p:cNvSpPr/>
          <p:nvPr/>
        </p:nvSpPr>
        <p:spPr>
          <a:xfrm>
            <a:off x="868680" y="6364224"/>
            <a:ext cx="868680" cy="86868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PSU</a:t>
            </a:r>
          </a:p>
        </p:txBody>
      </p:sp>
      <p:sp>
        <p:nvSpPr>
          <p:cNvPr id="26" name="TextBox 25"/>
          <p:cNvSpPr txBox="1"/>
          <p:nvPr/>
        </p:nvSpPr>
        <p:spPr>
          <a:xfrm>
            <a:off x="1920240" y="6089904"/>
            <a:ext cx="4663440" cy="1417320"/>
          </a:xfrm>
          <a:prstGeom prst="rect">
            <a:avLst/>
          </a:prstGeom>
          <a:noFill/>
        </p:spPr>
        <p:txBody>
          <a:bodyPr wrap="square" lIns="0" rIns="0" tIns="18288" bIns="18288" anchor="ctr">
            <a:spAutoFit/>
          </a:bodyPr>
          <a:lstStyle/>
          <a:p>
            <a:pPr algn="l"/>
            <a:r>
              <a:rPr sz="1800" b="1" i="0">
                <a:solidFill>
                  <a:srgbClr val="1B3A7A"/>
                </a:solidFill>
                <a:latin typeface="Arial"/>
              </a:rPr>
              <a:t>Coal and oil &amp; gas</a:t>
            </a:r>
          </a:p>
          <a:p>
            <a:pPr algn="l"/>
            <a:r>
              <a:rPr sz="1400" b="0" i="0">
                <a:solidFill>
                  <a:srgbClr val="1F2937"/>
                </a:solidFill>
                <a:latin typeface="Arial"/>
              </a:rPr>
              <a:t>field-wide leak triage before sending ground crews</a:t>
            </a:r>
          </a:p>
        </p:txBody>
      </p:sp>
      <p:sp>
        <p:nvSpPr>
          <p:cNvPr id="27" name="Rounded Rectangle 26"/>
          <p:cNvSpPr/>
          <p:nvPr/>
        </p:nvSpPr>
        <p:spPr>
          <a:xfrm>
            <a:off x="685800" y="7763256"/>
            <a:ext cx="6035040" cy="1600200"/>
          </a:xfrm>
          <a:prstGeom prst="roundRect">
            <a:avLst>
              <a:gd name="adj" fmla="val 7000"/>
            </a:avLst>
          </a:prstGeom>
          <a:solidFill>
            <a:srgbClr val="EEF3FB"/>
          </a:solidFill>
          <a:ln>
            <a:noFill/>
          </a:ln>
          <a:effectLst/>
        </p:spPr>
        <p:txBody>
          <a:bodyPr rtlCol="0" anchor="ctr"/>
          <a:lstStyle/>
          <a:p/>
        </p:txBody>
      </p:sp>
      <p:sp>
        <p:nvSpPr>
          <p:cNvPr id="28" name="Oval 27"/>
          <p:cNvSpPr/>
          <p:nvPr/>
        </p:nvSpPr>
        <p:spPr>
          <a:xfrm>
            <a:off x="868680" y="8129016"/>
            <a:ext cx="868680" cy="86868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MRV</a:t>
            </a:r>
          </a:p>
        </p:txBody>
      </p:sp>
      <p:sp>
        <p:nvSpPr>
          <p:cNvPr id="29" name="TextBox 28"/>
          <p:cNvSpPr txBox="1"/>
          <p:nvPr/>
        </p:nvSpPr>
        <p:spPr>
          <a:xfrm>
            <a:off x="1920240" y="7854696"/>
            <a:ext cx="4663440" cy="1417320"/>
          </a:xfrm>
          <a:prstGeom prst="rect">
            <a:avLst/>
          </a:prstGeom>
          <a:noFill/>
        </p:spPr>
        <p:txBody>
          <a:bodyPr wrap="square" lIns="0" rIns="0" tIns="18288" bIns="18288" anchor="ctr">
            <a:spAutoFit/>
          </a:bodyPr>
          <a:lstStyle/>
          <a:p>
            <a:pPr algn="l"/>
            <a:r>
              <a:rPr sz="1800" b="1" i="0">
                <a:solidFill>
                  <a:srgbClr val="1B3A7A"/>
                </a:solidFill>
                <a:latin typeface="Arial"/>
              </a:rPr>
              <a:t>Carbon market and finance</a:t>
            </a:r>
          </a:p>
          <a:p>
            <a:pPr algn="l"/>
            <a:r>
              <a:rPr sz="1400" b="0" i="0">
                <a:solidFill>
                  <a:srgbClr val="1F2937"/>
                </a:solidFill>
                <a:latin typeface="Arial"/>
              </a:rPr>
              <a:t>CCTS project developers, verifiers, ESG lenders: independent evidence</a:t>
            </a:r>
          </a:p>
        </p:txBody>
      </p:sp>
      <p:sp>
        <p:nvSpPr>
          <p:cNvPr id="30" name="Rounded Rectangle 29"/>
          <p:cNvSpPr/>
          <p:nvPr/>
        </p:nvSpPr>
        <p:spPr>
          <a:xfrm>
            <a:off x="6995160" y="2011680"/>
            <a:ext cx="5349240" cy="1920240"/>
          </a:xfrm>
          <a:prstGeom prst="roundRect">
            <a:avLst>
              <a:gd name="adj" fmla="val 7000"/>
            </a:avLst>
          </a:prstGeom>
          <a:solidFill>
            <a:srgbClr val="1B3A7A"/>
          </a:solidFill>
          <a:ln>
            <a:noFill/>
          </a:ln>
          <a:effectLst/>
        </p:spPr>
        <p:txBody>
          <a:bodyPr rtlCol="0" anchor="ctr"/>
          <a:lstStyle/>
          <a:p/>
        </p:txBody>
      </p:sp>
      <p:sp>
        <p:nvSpPr>
          <p:cNvPr id="31" name="TextBox 30"/>
          <p:cNvSpPr txBox="1"/>
          <p:nvPr/>
        </p:nvSpPr>
        <p:spPr>
          <a:xfrm>
            <a:off x="7223760" y="2057400"/>
            <a:ext cx="4937760" cy="1828800"/>
          </a:xfrm>
          <a:prstGeom prst="rect">
            <a:avLst/>
          </a:prstGeom>
          <a:noFill/>
        </p:spPr>
        <p:txBody>
          <a:bodyPr wrap="square" lIns="0" rIns="0" tIns="18288" bIns="18288" anchor="ctr">
            <a:spAutoFit/>
          </a:bodyPr>
          <a:lstStyle/>
          <a:p>
            <a:pPr algn="l"/>
            <a:r>
              <a:rPr sz="1600" b="1" i="0">
                <a:solidFill>
                  <a:srgbClr val="F9CE26"/>
                </a:solidFill>
                <a:latin typeface="Arial"/>
              </a:rPr>
              <a:t>Value proposition</a:t>
            </a:r>
          </a:p>
          <a:p>
            <a:pPr algn="l"/>
            <a:r>
              <a:rPr sz="1500" b="0" i="0">
                <a:solidFill>
                  <a:srgbClr val="FFFFFF"/>
                </a:solidFill>
                <a:latin typeface="Arial"/>
              </a:rPr>
              <a:t>The cheapest first look: a free satellite screen says where to send a costly aircraft, drone or high-res satellite, and later proves the fix worked.</a:t>
            </a:r>
          </a:p>
        </p:txBody>
      </p:sp>
      <p:sp>
        <p:nvSpPr>
          <p:cNvPr id="32" name="Rounded Rectangle 31"/>
          <p:cNvSpPr/>
          <p:nvPr/>
        </p:nvSpPr>
        <p:spPr>
          <a:xfrm>
            <a:off x="6995160" y="4114800"/>
            <a:ext cx="5349240" cy="1097280"/>
          </a:xfrm>
          <a:prstGeom prst="roundRect">
            <a:avLst>
              <a:gd name="adj" fmla="val 7000"/>
            </a:avLst>
          </a:prstGeom>
          <a:solidFill>
            <a:srgbClr val="FFF7D6"/>
          </a:solidFill>
          <a:ln>
            <a:noFill/>
          </a:ln>
          <a:effectLst/>
        </p:spPr>
        <p:txBody>
          <a:bodyPr rtlCol="0" anchor="ctr"/>
          <a:lstStyle/>
          <a:p/>
        </p:txBody>
      </p:sp>
      <p:sp>
        <p:nvSpPr>
          <p:cNvPr id="33" name="TextBox 32"/>
          <p:cNvSpPr txBox="1"/>
          <p:nvPr/>
        </p:nvSpPr>
        <p:spPr>
          <a:xfrm>
            <a:off x="7178040" y="4114800"/>
            <a:ext cx="5029200" cy="1097280"/>
          </a:xfrm>
          <a:prstGeom prst="rect">
            <a:avLst/>
          </a:prstGeom>
          <a:noFill/>
        </p:spPr>
        <p:txBody>
          <a:bodyPr wrap="square" lIns="0" rIns="0" tIns="18288" bIns="18288" anchor="ctr">
            <a:spAutoFit/>
          </a:bodyPr>
          <a:lstStyle/>
          <a:p>
            <a:pPr algn="l"/>
            <a:r>
              <a:rPr sz="2000" b="1" i="0">
                <a:solidFill>
                  <a:srgbClr val="E0662B"/>
                </a:solidFill>
                <a:latin typeface="Arial"/>
              </a:rPr>
              <a:t>54% vs 18%  </a:t>
            </a:r>
            <a:r>
              <a:rPr sz="1300" b="0" i="0">
                <a:solidFill>
                  <a:srgbClr val="1F2937"/>
                </a:solidFill>
                <a:latin typeface="Arial"/>
              </a:rPr>
              <a:t>re-detection of the sites VOIT ranks top vs the rest (backtest, p = 0.025)</a:t>
            </a:r>
          </a:p>
        </p:txBody>
      </p:sp>
      <p:sp>
        <p:nvSpPr>
          <p:cNvPr id="34" name="Rounded Rectangle 33"/>
          <p:cNvSpPr/>
          <p:nvPr/>
        </p:nvSpPr>
        <p:spPr>
          <a:xfrm>
            <a:off x="6995160" y="5394960"/>
            <a:ext cx="5349240" cy="914400"/>
          </a:xfrm>
          <a:prstGeom prst="roundRect">
            <a:avLst>
              <a:gd name="adj" fmla="val 10000"/>
            </a:avLst>
          </a:prstGeom>
          <a:solidFill>
            <a:srgbClr val="FFFFFF"/>
          </a:solidFill>
          <a:ln w="12700">
            <a:solidFill>
              <a:srgbClr val="D5DEEE"/>
            </a:solidFill>
          </a:ln>
          <a:effectLst/>
        </p:spPr>
        <p:txBody>
          <a:bodyPr rtlCol="0" anchor="ctr"/>
          <a:lstStyle/>
          <a:p/>
        </p:txBody>
      </p:sp>
      <p:sp>
        <p:nvSpPr>
          <p:cNvPr id="35" name="TextBox 34"/>
          <p:cNvSpPr txBox="1"/>
          <p:nvPr/>
        </p:nvSpPr>
        <p:spPr>
          <a:xfrm>
            <a:off x="7178040" y="5394960"/>
            <a:ext cx="5029200" cy="914400"/>
          </a:xfrm>
          <a:prstGeom prst="rect">
            <a:avLst/>
          </a:prstGeom>
          <a:noFill/>
        </p:spPr>
        <p:txBody>
          <a:bodyPr wrap="square" lIns="0" rIns="0" tIns="18288" bIns="18288" anchor="ctr">
            <a:spAutoFit/>
          </a:bodyPr>
          <a:lstStyle/>
          <a:p>
            <a:pPr algn="l"/>
            <a:r>
              <a:rPr sz="1600" b="1" i="0">
                <a:solidFill>
                  <a:srgbClr val="1B3A7A"/>
                </a:solidFill>
                <a:latin typeface="Arial"/>
              </a:rPr>
              <a:t>Public  </a:t>
            </a:r>
            <a:r>
              <a:rPr sz="1600" b="1" i="0">
                <a:solidFill>
                  <a:srgbClr val="1F9D63"/>
                </a:solidFill>
                <a:latin typeface="Arial"/>
              </a:rPr>
              <a:t>Free</a:t>
            </a:r>
          </a:p>
          <a:p>
            <a:pPr algn="l"/>
            <a:r>
              <a:rPr sz="1250" b="0" i="0">
                <a:solidFill>
                  <a:srgbClr val="1F2937"/>
                </a:solidFill>
                <a:latin typeface="Arial"/>
              </a:rPr>
              <a:t>ranked ledger, rates, checks; locations rounded to 25 km</a:t>
            </a:r>
          </a:p>
        </p:txBody>
      </p:sp>
      <p:sp>
        <p:nvSpPr>
          <p:cNvPr id="36" name="Rounded Rectangle 35"/>
          <p:cNvSpPr/>
          <p:nvPr/>
        </p:nvSpPr>
        <p:spPr>
          <a:xfrm>
            <a:off x="7269480" y="6437376"/>
            <a:ext cx="5074920" cy="914400"/>
          </a:xfrm>
          <a:prstGeom prst="roundRect">
            <a:avLst>
              <a:gd name="adj" fmla="val 10000"/>
            </a:avLst>
          </a:prstGeom>
          <a:solidFill>
            <a:srgbClr val="FFFFFF"/>
          </a:solidFill>
          <a:ln w="12700">
            <a:solidFill>
              <a:srgbClr val="D5DEEE"/>
            </a:solidFill>
          </a:ln>
          <a:effectLst/>
        </p:spPr>
        <p:txBody>
          <a:bodyPr rtlCol="0" anchor="ctr"/>
          <a:lstStyle/>
          <a:p/>
        </p:txBody>
      </p:sp>
      <p:sp>
        <p:nvSpPr>
          <p:cNvPr id="37" name="TextBox 36"/>
          <p:cNvSpPr txBox="1"/>
          <p:nvPr/>
        </p:nvSpPr>
        <p:spPr>
          <a:xfrm>
            <a:off x="7452360" y="6437376"/>
            <a:ext cx="4754880" cy="914400"/>
          </a:xfrm>
          <a:prstGeom prst="rect">
            <a:avLst/>
          </a:prstGeom>
          <a:noFill/>
        </p:spPr>
        <p:txBody>
          <a:bodyPr wrap="square" lIns="0" rIns="0" tIns="18288" bIns="18288" anchor="ctr">
            <a:spAutoFit/>
          </a:bodyPr>
          <a:lstStyle/>
          <a:p>
            <a:pPr algn="l"/>
            <a:r>
              <a:rPr sz="1600" b="1" i="0">
                <a:solidFill>
                  <a:srgbClr val="1B3A7A"/>
                </a:solidFill>
                <a:latin typeface="Arial"/>
              </a:rPr>
              <a:t>Partner  </a:t>
            </a:r>
            <a:r>
              <a:rPr sz="1600" b="1" i="0">
                <a:solidFill>
                  <a:srgbClr val="1F9D63"/>
                </a:solidFill>
                <a:latin typeface="Arial"/>
              </a:rPr>
              <a:t>₹8 L / board / yr</a:t>
            </a:r>
          </a:p>
          <a:p>
            <a:pPr algn="l"/>
            <a:r>
              <a:rPr sz="1250" b="0" i="0">
                <a:solidFill>
                  <a:srgbClr val="1F2937"/>
                </a:solidFill>
                <a:latin typeface="Arial"/>
              </a:rPr>
              <a:t>exact coordinates, plume stacks, orbit lists, alerts</a:t>
            </a:r>
          </a:p>
        </p:txBody>
      </p:sp>
      <p:sp>
        <p:nvSpPr>
          <p:cNvPr id="38" name="Rounded Rectangle 37"/>
          <p:cNvSpPr/>
          <p:nvPr/>
        </p:nvSpPr>
        <p:spPr>
          <a:xfrm>
            <a:off x="7543800" y="7479792"/>
            <a:ext cx="4800600" cy="914400"/>
          </a:xfrm>
          <a:prstGeom prst="roundRect">
            <a:avLst>
              <a:gd name="adj" fmla="val 10000"/>
            </a:avLst>
          </a:prstGeom>
          <a:solidFill>
            <a:srgbClr val="FFFFFF"/>
          </a:solidFill>
          <a:ln w="12700">
            <a:solidFill>
              <a:srgbClr val="D5DEEE"/>
            </a:solidFill>
          </a:ln>
          <a:effectLst/>
        </p:spPr>
        <p:txBody>
          <a:bodyPr rtlCol="0" anchor="ctr"/>
          <a:lstStyle/>
          <a:p/>
        </p:txBody>
      </p:sp>
      <p:sp>
        <p:nvSpPr>
          <p:cNvPr id="39" name="TextBox 38"/>
          <p:cNvSpPr txBox="1"/>
          <p:nvPr/>
        </p:nvSpPr>
        <p:spPr>
          <a:xfrm>
            <a:off x="7726679" y="7479792"/>
            <a:ext cx="4480560" cy="914400"/>
          </a:xfrm>
          <a:prstGeom prst="rect">
            <a:avLst/>
          </a:prstGeom>
          <a:noFill/>
        </p:spPr>
        <p:txBody>
          <a:bodyPr wrap="square" lIns="0" rIns="0" tIns="18288" bIns="18288" anchor="ctr">
            <a:spAutoFit/>
          </a:bodyPr>
          <a:lstStyle/>
          <a:p>
            <a:pPr algn="l"/>
            <a:r>
              <a:rPr sz="1600" b="1" i="0">
                <a:solidFill>
                  <a:srgbClr val="1B3A7A"/>
                </a:solidFill>
                <a:latin typeface="Arial"/>
              </a:rPr>
              <a:t>Verification  </a:t>
            </a:r>
            <a:r>
              <a:rPr sz="1600" b="1" i="0">
                <a:solidFill>
                  <a:srgbClr val="1F9D63"/>
                </a:solidFill>
                <a:latin typeface="Arial"/>
              </a:rPr>
              <a:t>₹2 L / site / yr</a:t>
            </a:r>
          </a:p>
          <a:p>
            <a:pPr algn="l"/>
            <a:r>
              <a:rPr sz="1250" b="0" i="0">
                <a:solidFill>
                  <a:srgbClr val="1F2937"/>
                </a:solidFill>
                <a:latin typeface="Arial"/>
              </a:rPr>
              <a:t>before/after MRV report for a capture or remediation project</a:t>
            </a:r>
          </a:p>
        </p:txBody>
      </p:sp>
      <p:sp>
        <p:nvSpPr>
          <p:cNvPr id="40" name="Rounded Rectangle 39"/>
          <p:cNvSpPr/>
          <p:nvPr/>
        </p:nvSpPr>
        <p:spPr>
          <a:xfrm>
            <a:off x="7818120" y="8522208"/>
            <a:ext cx="4526279" cy="914400"/>
          </a:xfrm>
          <a:prstGeom prst="roundRect">
            <a:avLst>
              <a:gd name="adj" fmla="val 10000"/>
            </a:avLst>
          </a:prstGeom>
          <a:solidFill>
            <a:srgbClr val="FFFFFF"/>
          </a:solidFill>
          <a:ln w="12700">
            <a:solidFill>
              <a:srgbClr val="D5DEEE"/>
            </a:solidFill>
          </a:ln>
          <a:effectLst/>
        </p:spPr>
        <p:txBody>
          <a:bodyPr rtlCol="0" anchor="ctr"/>
          <a:lstStyle/>
          <a:p/>
        </p:txBody>
      </p:sp>
      <p:sp>
        <p:nvSpPr>
          <p:cNvPr id="41" name="TextBox 40"/>
          <p:cNvSpPr txBox="1"/>
          <p:nvPr/>
        </p:nvSpPr>
        <p:spPr>
          <a:xfrm>
            <a:off x="8001000" y="8522208"/>
            <a:ext cx="4206240" cy="914400"/>
          </a:xfrm>
          <a:prstGeom prst="rect">
            <a:avLst/>
          </a:prstGeom>
          <a:noFill/>
        </p:spPr>
        <p:txBody>
          <a:bodyPr wrap="square" lIns="0" rIns="0" tIns="18288" bIns="18288" anchor="ctr">
            <a:spAutoFit/>
          </a:bodyPr>
          <a:lstStyle/>
          <a:p>
            <a:pPr algn="l"/>
            <a:r>
              <a:rPr sz="1600" b="1" i="0">
                <a:solidFill>
                  <a:srgbClr val="1B3A7A"/>
                </a:solidFill>
                <a:latin typeface="Arial"/>
              </a:rPr>
              <a:t>Tasking  </a:t>
            </a:r>
            <a:r>
              <a:rPr sz="1600" b="1" i="0">
                <a:solidFill>
                  <a:srgbClr val="1F9D63"/>
                </a:solidFill>
                <a:latin typeface="Arial"/>
              </a:rPr>
              <a:t>brokered</a:t>
            </a:r>
          </a:p>
          <a:p>
            <a:pPr algn="l"/>
            <a:r>
              <a:rPr sz="1250" b="0" i="0">
                <a:solidFill>
                  <a:srgbClr val="1F2937"/>
                </a:solidFill>
                <a:latin typeface="Arial"/>
              </a:rPr>
              <a:t>VOIT-ranked targets for commercial high-res satellites</a:t>
            </a:r>
          </a:p>
        </p:txBody>
      </p:sp>
      <p:graphicFrame>
        <p:nvGraphicFramePr>
          <p:cNvPr id="42" name="Chart 41"/>
          <p:cNvGraphicFramePr>
            <a:graphicFrameLocks noGrp="1"/>
          </p:cNvGraphicFramePr>
          <p:nvPr/>
        </p:nvGraphicFramePr>
        <p:xfrm>
          <a:off x="12618720" y="2011680"/>
          <a:ext cx="4983480" cy="4480560"/>
        </p:xfrm>
        <a:graphic>
          <a:graphicData uri="http://schemas.openxmlformats.org/drawingml/2006/chart">
            <c:chart xmlns:c="http://schemas.openxmlformats.org/drawingml/2006/chart" r:id="rId7"/>
          </a:graphicData>
        </a:graphic>
      </p:graphicFrame>
      <p:sp>
        <p:nvSpPr>
          <p:cNvPr id="43" name="Rounded Rectangle 42"/>
          <p:cNvSpPr/>
          <p:nvPr/>
        </p:nvSpPr>
        <p:spPr>
          <a:xfrm>
            <a:off x="12618720" y="6629400"/>
            <a:ext cx="4983480" cy="2880360"/>
          </a:xfrm>
          <a:prstGeom prst="roundRect">
            <a:avLst>
              <a:gd name="adj" fmla="val 6000"/>
            </a:avLst>
          </a:prstGeom>
          <a:solidFill>
            <a:srgbClr val="EEF3FB"/>
          </a:solidFill>
          <a:ln>
            <a:noFill/>
          </a:ln>
          <a:effectLst/>
        </p:spPr>
        <p:txBody>
          <a:bodyPr rtlCol="0" anchor="ctr"/>
          <a:lstStyle/>
          <a:p/>
        </p:txBody>
      </p:sp>
      <p:sp>
        <p:nvSpPr>
          <p:cNvPr id="44" name="TextBox 43"/>
          <p:cNvSpPr txBox="1"/>
          <p:nvPr/>
        </p:nvSpPr>
        <p:spPr>
          <a:xfrm>
            <a:off x="12801600" y="6675120"/>
            <a:ext cx="4663440" cy="2788920"/>
          </a:xfrm>
          <a:prstGeom prst="rect">
            <a:avLst/>
          </a:prstGeom>
          <a:noFill/>
        </p:spPr>
        <p:txBody>
          <a:bodyPr wrap="square" lIns="0" rIns="0" tIns="18288" bIns="18288" anchor="t">
            <a:spAutoFit/>
          </a:bodyPr>
          <a:lstStyle/>
          <a:p>
            <a:pPr algn="l">
              <a:spcAft>
                <a:spcPts val="500"/>
              </a:spcAft>
            </a:pPr>
            <a:r>
              <a:rPr sz="1400" b="1" i="0">
                <a:solidFill>
                  <a:srgbClr val="1B3A7A"/>
                </a:solidFill>
                <a:latin typeface="Arial"/>
              </a:rPr>
              <a:t>How we got these (planning estimates)</a:t>
            </a:r>
          </a:p>
          <a:p>
            <a:pPr algn="l">
              <a:spcAft>
                <a:spcPts val="500"/>
              </a:spcAft>
            </a:pPr>
            <a:r>
              <a:rPr sz="1250" b="1" i="0">
                <a:solidFill>
                  <a:srgbClr val="1F2937"/>
                </a:solidFill>
                <a:latin typeface="Arial"/>
              </a:rPr>
              <a:t>Y1  </a:t>
            </a:r>
            <a:r>
              <a:rPr sz="1250" b="0" i="0">
                <a:solidFill>
                  <a:srgbClr val="1F2937"/>
                </a:solidFill>
                <a:latin typeface="Arial"/>
              </a:rPr>
              <a:t>6 boards × ₹8 L + 10 cities × ₹3 L + 10 site-yrs × ₹2 L = ₹0.98 Cr</a:t>
            </a:r>
          </a:p>
          <a:p>
            <a:pPr algn="l">
              <a:spcAft>
                <a:spcPts val="500"/>
              </a:spcAft>
            </a:pPr>
            <a:r>
              <a:rPr sz="1250" b="1" i="0">
                <a:solidFill>
                  <a:srgbClr val="1F2937"/>
                </a:solidFill>
                <a:latin typeface="Arial"/>
              </a:rPr>
              <a:t>Y2  </a:t>
            </a:r>
            <a:r>
              <a:rPr sz="1250" b="0" i="0">
                <a:solidFill>
                  <a:srgbClr val="1F2937"/>
                </a:solidFill>
                <a:latin typeface="Arial"/>
              </a:rPr>
              <a:t>15 boards, 40 cities, 50 site-yrs = ₹3.4 Cr</a:t>
            </a:r>
          </a:p>
          <a:p>
            <a:pPr algn="l">
              <a:spcAft>
                <a:spcPts val="500"/>
              </a:spcAft>
            </a:pPr>
            <a:r>
              <a:rPr sz="1250" b="1" i="0">
                <a:solidFill>
                  <a:srgbClr val="1F2937"/>
                </a:solidFill>
                <a:latin typeface="Arial"/>
              </a:rPr>
              <a:t>Y3  </a:t>
            </a:r>
            <a:r>
              <a:rPr sz="1250" b="0" i="0">
                <a:solidFill>
                  <a:srgbClr val="1F2937"/>
                </a:solidFill>
                <a:latin typeface="Arial"/>
              </a:rPr>
              <a:t>25 boards, 100 cities, 150 site-yrs = ₹8.0 Cr</a:t>
            </a:r>
          </a:p>
          <a:p>
            <a:pPr algn="l">
              <a:spcAft>
                <a:spcPts val="500"/>
              </a:spcAft>
            </a:pPr>
            <a:r>
              <a:rPr sz="1200" b="0" i="0">
                <a:solidFill>
                  <a:srgbClr val="5B6B8C"/>
                </a:solidFill>
                <a:latin typeface="Arial"/>
              </a:rPr>
              <a:t>Year 3 still reaches under 5% of India's legacy dumpsites. Infra cost stays near zero: public data, serverless hosting.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grpSp>
        <p:nvGrpSpPr>
          <p:cNvPr name="Group 3" id="3"/>
          <p:cNvGrpSpPr/>
          <p:nvPr/>
        </p:nvGrpSpPr>
        <p:grpSpPr>
          <a:xfrm rot="0">
            <a:off x="12755880" y="411480"/>
            <a:ext cx="2743200" cy="1138428"/>
            <a:chOff x="0" y="0"/>
            <a:chExt cx="3657600" cy="1517904"/>
          </a:xfrm>
        </p:grpSpPr>
        <p:sp>
          <p:nvSpPr>
            <p:cNvPr name="Freeform 4" id="4" descr="assets/logo_sat.png"/>
            <p:cNvSpPr/>
            <p:nvPr/>
          </p:nvSpPr>
          <p:spPr>
            <a:xfrm flipH="false" flipV="false" rot="0">
              <a:off x="0" y="0"/>
              <a:ext cx="3657600" cy="1517904"/>
            </a:xfrm>
            <a:custGeom>
              <a:avLst/>
              <a:gdLst/>
              <a:ahLst/>
              <a:cxnLst/>
              <a:rect r="r" b="b" t="t" l="l"/>
              <a:pathLst>
                <a:path h="1517904" w="3657600">
                  <a:moveTo>
                    <a:pt x="0" y="0"/>
                  </a:moveTo>
                  <a:lnTo>
                    <a:pt x="3657600" y="0"/>
                  </a:lnTo>
                  <a:lnTo>
                    <a:pt x="3657600" y="1517904"/>
                  </a:lnTo>
                  <a:lnTo>
                    <a:pt x="0" y="1517904"/>
                  </a:lnTo>
                  <a:lnTo>
                    <a:pt x="0" y="0"/>
                  </a:lnTo>
                  <a:close/>
                </a:path>
              </a:pathLst>
            </a:custGeom>
            <a:blipFill>
              <a:blip r:embed="rId4"/>
              <a:stretch>
                <a:fillRect l="-34" t="0" r="-34" b="0"/>
              </a:stretch>
            </a:blipFill>
          </p:spPr>
          <p:txBody>
            <a:bodyPr/>
            <a:p/>
          </p:txBody>
        </p:sp>
      </p:grpSp>
      <p:grpSp>
        <p:nvGrpSpPr>
          <p:cNvPr name="Group 5" id="5"/>
          <p:cNvGrpSpPr/>
          <p:nvPr/>
        </p:nvGrpSpPr>
        <p:grpSpPr>
          <a:xfrm rot="0">
            <a:off x="438912" y="411480"/>
            <a:ext cx="9326880" cy="1344168"/>
            <a:chOff x="0" y="0"/>
            <a:chExt cx="12435840" cy="1792224"/>
          </a:xfrm>
        </p:grpSpPr>
        <p:sp>
          <p:nvSpPr>
            <p:cNvPr name="Freeform 6" id="6" descr="assets/brush_yellow.png"/>
            <p:cNvSpPr/>
            <p:nvPr/>
          </p:nvSpPr>
          <p:spPr>
            <a:xfrm flipH="false" flipV="false" rot="0">
              <a:off x="0" y="0"/>
              <a:ext cx="12435840" cy="1792224"/>
            </a:xfrm>
            <a:custGeom>
              <a:avLst/>
              <a:gdLst/>
              <a:ahLst/>
              <a:cxnLst/>
              <a:rect r="r" b="b" t="t" l="l"/>
              <a:pathLst>
                <a:path h="1792224" w="12435840">
                  <a:moveTo>
                    <a:pt x="0" y="0"/>
                  </a:moveTo>
                  <a:lnTo>
                    <a:pt x="12435840" y="0"/>
                  </a:lnTo>
                  <a:lnTo>
                    <a:pt x="12435840" y="1792224"/>
                  </a:lnTo>
                  <a:lnTo>
                    <a:pt x="0" y="1792224"/>
                  </a:lnTo>
                  <a:lnTo>
                    <a:pt x="0" y="0"/>
                  </a:lnTo>
                  <a:close/>
                </a:path>
              </a:pathLst>
            </a:custGeom>
            <a:blipFill>
              <a:blip r:embed="rId5"/>
              <a:stretch>
                <a:fillRect l="0" t="-113" r="0" b="-113"/>
              </a:stretch>
            </a:blipFill>
          </p:spPr>
          <p:txBody>
            <a:bodyPr/>
            <a:p/>
          </p:txBody>
        </p:sp>
      </p:grpSp>
      <p:grpSp>
        <p:nvGrpSpPr>
          <p:cNvPr name="Group 7" id="7"/>
          <p:cNvGrpSpPr/>
          <p:nvPr/>
        </p:nvGrpSpPr>
        <p:grpSpPr>
          <a:xfrm rot="0">
            <a:off x="1069848" y="411480"/>
            <a:ext cx="8229600" cy="1344168"/>
            <a:chOff x="0" y="0"/>
            <a:chExt cx="10972800" cy="1792224"/>
          </a:xfrm>
        </p:grpSpPr>
        <p:sp>
          <p:nvSpPr>
            <p:cNvPr name="Freeform 8" id="8"/>
            <p:cNvSpPr/>
            <p:nvPr/>
          </p:nvSpPr>
          <p:spPr>
            <a:xfrm flipH="false" flipV="false" rot="0">
              <a:off x="0" y="0"/>
              <a:ext cx="10972800" cy="1792224"/>
            </a:xfrm>
            <a:custGeom>
              <a:avLst/>
              <a:gdLst/>
              <a:ahLst/>
              <a:cxnLst/>
              <a:rect r="r" b="b" t="t" l="l"/>
              <a:pathLst>
                <a:path h="1792224" w="10972800">
                  <a:moveTo>
                    <a:pt x="0" y="0"/>
                  </a:moveTo>
                  <a:lnTo>
                    <a:pt x="10972800" y="0"/>
                  </a:lnTo>
                  <a:lnTo>
                    <a:pt x="10972800" y="1792224"/>
                  </a:lnTo>
                  <a:lnTo>
                    <a:pt x="0" y="1792224"/>
                  </a:lnTo>
                  <a:close/>
                </a:path>
              </a:pathLst>
            </a:custGeom>
            <a:blipFill>
              <a:blip r:embed="rId6">
                <a:alphaModFix amt="0"/>
              </a:blip>
              <a:stretch>
                <a:fillRect l="0" t="-69296" r="0" b="-69296"/>
              </a:stretch>
            </a:blipFill>
          </p:spPr>
          <p:txBody>
            <a:bodyPr/>
            <a:p/>
          </p:txBody>
        </p:sp>
        <p:sp>
          <p:nvSpPr>
            <p:cNvPr name="TextBox 9" id="9"/>
            <p:cNvSpPr txBox="true"/>
            <p:nvPr/>
          </p:nvSpPr>
          <p:spPr>
            <a:xfrm>
              <a:off x="0" y="-19050"/>
              <a:ext cx="10972800" cy="1811274"/>
            </a:xfrm>
            <a:prstGeom prst="rect">
              <a:avLst/>
            </a:prstGeom>
          </p:spPr>
          <p:txBody>
            <a:bodyPr anchor="ctr" rtlCol="false" tIns="0" lIns="0" bIns="0" rIns="0"/>
            <a:lstStyle/>
            <a:p>
              <a:pPr algn="l">
                <a:lnSpc>
                  <a:spcPts val="4680"/>
                </a:lnSpc>
              </a:pPr>
              <a:r>
                <a:rPr lang="en-US" sz="3900" b="true">
                  <a:solidFill>
                    <a:srgbClr val="1B3A7A"/>
                  </a:solidFill>
                  <a:latin typeface="Arial Bold"/>
                  <a:ea typeface="Arial Bold"/>
                  <a:cs typeface="Arial Bold"/>
                  <a:sym typeface="Arial Bold"/>
                </a:rPr>
                <a:t>FEASIBILITY &amp; ROADMAP</a:t>
              </a:r>
            </a:p>
          </p:txBody>
        </p:sp>
      </p:grpSp>
      <p:grpSp>
        <p:nvGrpSpPr>
          <p:cNvPr name="Group 10" id="10"/>
          <p:cNvGrpSpPr/>
          <p:nvPr/>
        </p:nvGrpSpPr>
        <p:grpSpPr>
          <a:xfrm rot="0">
            <a:off x="685800" y="9793224"/>
            <a:ext cx="7543800" cy="411480"/>
            <a:chOff x="0" y="0"/>
            <a:chExt cx="10058400" cy="548640"/>
          </a:xfrm>
        </p:grpSpPr>
        <p:sp>
          <p:nvSpPr>
            <p:cNvPr name="Freeform 11" id="11"/>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txBody>
            <a:bodyPr/>
            <a:p/>
          </p:txBody>
        </p:sp>
        <p:sp>
          <p:nvSpPr>
            <p:cNvPr name="TextBox 12" id="12"/>
            <p:cNvSpPr txBox="true"/>
            <p:nvPr/>
          </p:nvSpPr>
          <p:spPr>
            <a:xfrm>
              <a:off x="0" y="-19050"/>
              <a:ext cx="10058400" cy="567690"/>
            </a:xfrm>
            <a:prstGeom prst="rect">
              <a:avLst/>
            </a:prstGeom>
          </p:spPr>
          <p:txBody>
            <a:bodyPr anchor="ctr" rtlCol="false" tIns="0" lIns="0" bIns="0" rIns="0"/>
            <a:lstStyle/>
            <a:p>
              <a:pPr algn="l">
                <a:lnSpc>
                  <a:spcPts val="1980"/>
                </a:lnSpc>
              </a:pPr>
              <a:r>
                <a:rPr lang="en-US" sz="1650" b="true">
                  <a:solidFill>
                    <a:srgbClr val="F9CE26"/>
                  </a:solidFill>
                  <a:latin typeface="Arial Bold"/>
                  <a:ea typeface="Arial Bold"/>
                  <a:cs typeface="Arial Bold"/>
                  <a:sym typeface="Arial Bold"/>
                </a:rPr>
                <a:t>TEAM ID: </a:t>
              </a:r>
              <a:r>
                <a:rPr lang="en-US" sz="1650" b="true">
                  <a:solidFill>
                    <a:srgbClr val="FFFFFF"/>
                  </a:solidFill>
                  <a:latin typeface="Arial Bold"/>
                  <a:ea typeface="Arial Bold"/>
                  <a:cs typeface="Arial Bold"/>
                  <a:sym typeface="Arial Bold"/>
                </a:rPr>
                <a:t>ST-911</a:t>
              </a:r>
              <a:r>
                <a:rPr lang="en-US" sz="1650">
                  <a:solidFill>
                    <a:srgbClr val="FFFFFF"/>
                  </a:solidFill>
                  <a:latin typeface="Arial"/>
                  <a:ea typeface="Arial"/>
                  <a:cs typeface="Arial"/>
                  <a:sym typeface="Arial"/>
                </a:rPr>
                <a:t>   |   Team Prahari</a:t>
              </a:r>
            </a:p>
          </p:txBody>
        </p:sp>
      </p:grpSp>
      <p:grpSp>
        <p:nvGrpSpPr>
          <p:cNvPr name="Group 13" id="13"/>
          <p:cNvGrpSpPr/>
          <p:nvPr/>
        </p:nvGrpSpPr>
        <p:grpSpPr>
          <a:xfrm rot="0">
            <a:off x="8641080" y="9793224"/>
            <a:ext cx="7955280" cy="411480"/>
            <a:chOff x="0" y="0"/>
            <a:chExt cx="10607040" cy="548640"/>
          </a:xfrm>
        </p:grpSpPr>
        <p:sp>
          <p:nvSpPr>
            <p:cNvPr name="Freeform 14" id="14"/>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6">
                <a:alphaModFix amt="0"/>
              </a:blip>
              <a:stretch>
                <a:fillRect l="0" t="-326710" r="0" b="-326710"/>
              </a:stretch>
            </a:blipFill>
          </p:spPr>
          <p:txBody>
            <a:bodyPr/>
            <a:p/>
          </p:txBody>
        </p:sp>
        <p:sp>
          <p:nvSpPr>
            <p:cNvPr name="TextBox 15" id="15"/>
            <p:cNvSpPr txBox="true"/>
            <p:nvPr/>
          </p:nvSpPr>
          <p:spPr>
            <a:xfrm>
              <a:off x="0" y="-9525"/>
              <a:ext cx="10607040" cy="558165"/>
            </a:xfrm>
            <a:prstGeom prst="rect">
              <a:avLst/>
            </a:prstGeom>
          </p:spPr>
          <p:txBody>
            <a:bodyPr anchor="ctr" rtlCol="false" tIns="0" lIns="0" bIns="0" rIns="0"/>
            <a:lstStyle/>
            <a:p>
              <a:pPr algn="r">
                <a:lnSpc>
                  <a:spcPts val="1889"/>
                </a:lnSpc>
              </a:pPr>
              <a:r>
                <a:rPr lang="en-US" sz="1575">
                  <a:solidFill>
                    <a:srgbClr val="C9D6EE"/>
                  </a:solidFill>
                  <a:latin typeface="Arial"/>
                  <a:ea typeface="Arial"/>
                  <a:cs typeface="Arial"/>
                  <a:sym typeface="Arial"/>
                </a:rPr>
                <a:t>Sustain-a-thon 2026  ·  Panimalar Engineering College</a:t>
              </a:r>
            </a:p>
          </p:txBody>
        </p:sp>
      </p:grpSp>
      <p:sp>
        <p:nvSpPr>
          <p:cNvPr name="TextBox 16" id="16"/>
          <p:cNvSpPr txBox="true"/>
          <p:nvPr/>
        </p:nvSpPr>
        <p:spPr>
          <a:xfrm rot="0">
            <a:off x="17003268" y="9819894"/>
            <a:ext cx="502920" cy="266700"/>
          </a:xfrm>
          <a:prstGeom prst="rect">
            <a:avLst/>
          </a:prstGeom>
        </p:spPr>
        <p:txBody>
          <a:bodyPr anchor="t" rtlCol="false" tIns="0" lIns="0" bIns="0" rIns="0">
            <a:spAutoFit/>
          </a:bodyPr>
          <a:lstStyle/>
          <a:p>
            <a:pPr algn="r">
              <a:lnSpc>
                <a:spcPts val="1980"/>
              </a:lnSpc>
            </a:pPr>
            <a:r>
              <a:rPr lang="en-US" sz="1650" b="true">
                <a:solidFill>
                  <a:srgbClr val="FFFFFF"/>
                </a:solidFill>
                <a:latin typeface="Arial Bold"/>
                <a:ea typeface="Arial Bold"/>
                <a:cs typeface="Arial Bold"/>
                <a:sym typeface="Arial Bold"/>
              </a:rPr>
              <a:t>8</a:t>
            </a:r>
          </a:p>
        </p:txBody>
      </p:sp>
      <p:sp>
        <p:nvSpPr>
          <p:cNvPr id="17" name="TextBox 16"/>
          <p:cNvSpPr txBox="1"/>
          <p:nvPr/>
        </p:nvSpPr>
        <p:spPr>
          <a:xfrm>
            <a:off x="685800" y="1965960"/>
            <a:ext cx="8229600" cy="411480"/>
          </a:xfrm>
          <a:prstGeom prst="rect">
            <a:avLst/>
          </a:prstGeom>
          <a:noFill/>
        </p:spPr>
        <p:txBody>
          <a:bodyPr wrap="square" lIns="0" rIns="0" tIns="18288" bIns="18288" anchor="t">
            <a:spAutoFit/>
          </a:bodyPr>
          <a:lstStyle/>
          <a:p>
            <a:pPr algn="l"/>
            <a:r>
              <a:rPr sz="1900" b="1" i="0">
                <a:solidFill>
                  <a:srgbClr val="1B3A7A"/>
                </a:solidFill>
                <a:latin typeface="Arial"/>
              </a:rPr>
              <a:t>Feasible because it already runs</a:t>
            </a:r>
          </a:p>
        </p:txBody>
      </p:sp>
      <p:sp>
        <p:nvSpPr>
          <p:cNvPr id="18" name="Oval 17"/>
          <p:cNvSpPr/>
          <p:nvPr/>
        </p:nvSpPr>
        <p:spPr>
          <a:xfrm>
            <a:off x="685800" y="2523744"/>
            <a:ext cx="329184" cy="329184"/>
          </a:xfrm>
          <a:prstGeom prst="ellipse">
            <a:avLst/>
          </a:prstGeom>
          <a:solidFill>
            <a:srgbClr val="1F9D63"/>
          </a:solidFill>
          <a:ln>
            <a:noFill/>
          </a:ln>
          <a:effectLst/>
        </p:spPr>
        <p:txBody>
          <a:bodyPr rtlCol="0" anchor="ctr" wrap="square" lIns="0" rIns="0" tIns="18288" bIns="18288"/>
          <a:lstStyle/>
          <a:p>
            <a:pPr algn="ctr"/>
            <a:r>
              <a:rPr sz="1200" b="1" i="0">
                <a:solidFill>
                  <a:srgbClr val="FFFFFF"/>
                </a:solidFill>
                <a:latin typeface="Arial"/>
              </a:rPr>
              <a:t>✓</a:t>
            </a:r>
          </a:p>
        </p:txBody>
      </p:sp>
      <p:sp>
        <p:nvSpPr>
          <p:cNvPr id="19" name="TextBox 18"/>
          <p:cNvSpPr txBox="1"/>
          <p:nvPr/>
        </p:nvSpPr>
        <p:spPr>
          <a:xfrm>
            <a:off x="1143000" y="2468880"/>
            <a:ext cx="7680960" cy="438912"/>
          </a:xfrm>
          <a:prstGeom prst="rect">
            <a:avLst/>
          </a:prstGeom>
          <a:noFill/>
        </p:spPr>
        <p:txBody>
          <a:bodyPr wrap="square" lIns="0" rIns="0" tIns="18288" bIns="18288" anchor="ctr">
            <a:spAutoFit/>
          </a:bodyPr>
          <a:lstStyle/>
          <a:p>
            <a:pPr algn="l"/>
            <a:r>
              <a:rPr sz="1450" b="0" i="0">
                <a:solidFill>
                  <a:srgbClr val="1F2937"/>
                </a:solidFill>
                <a:latin typeface="Arial"/>
              </a:rPr>
              <a:t>Live on Vercel; the pipeline runs every 3 hours on GitHub Actions</a:t>
            </a:r>
          </a:p>
        </p:txBody>
      </p:sp>
      <p:sp>
        <p:nvSpPr>
          <p:cNvPr id="20" name="Oval 19"/>
          <p:cNvSpPr/>
          <p:nvPr/>
        </p:nvSpPr>
        <p:spPr>
          <a:xfrm>
            <a:off x="685800" y="2980944"/>
            <a:ext cx="329184" cy="329184"/>
          </a:xfrm>
          <a:prstGeom prst="ellipse">
            <a:avLst/>
          </a:prstGeom>
          <a:solidFill>
            <a:srgbClr val="1F9D63"/>
          </a:solidFill>
          <a:ln>
            <a:noFill/>
          </a:ln>
          <a:effectLst/>
        </p:spPr>
        <p:txBody>
          <a:bodyPr rtlCol="0" anchor="ctr" wrap="square" lIns="0" rIns="0" tIns="18288" bIns="18288"/>
          <a:lstStyle/>
          <a:p>
            <a:pPr algn="ctr"/>
            <a:r>
              <a:rPr sz="1200" b="1" i="0">
                <a:solidFill>
                  <a:srgbClr val="FFFFFF"/>
                </a:solidFill>
                <a:latin typeface="Arial"/>
              </a:rPr>
              <a:t>✓</a:t>
            </a:r>
          </a:p>
        </p:txBody>
      </p:sp>
      <p:sp>
        <p:nvSpPr>
          <p:cNvPr id="21" name="TextBox 20"/>
          <p:cNvSpPr txBox="1"/>
          <p:nvPr/>
        </p:nvSpPr>
        <p:spPr>
          <a:xfrm>
            <a:off x="1143000" y="2926080"/>
            <a:ext cx="7680960" cy="438912"/>
          </a:xfrm>
          <a:prstGeom prst="rect">
            <a:avLst/>
          </a:prstGeom>
          <a:noFill/>
        </p:spPr>
        <p:txBody>
          <a:bodyPr wrap="square" lIns="0" rIns="0" tIns="18288" bIns="18288" anchor="ctr">
            <a:spAutoFit/>
          </a:bodyPr>
          <a:lstStyle/>
          <a:p>
            <a:pPr algn="l"/>
            <a:r>
              <a:rPr sz="1450" b="0" i="0">
                <a:solidFill>
                  <a:srgbClr val="1F2937"/>
                </a:solidFill>
                <a:latin typeface="Arial"/>
              </a:rPr>
              <a:t>₹0 data cost: Copernicus, ERA5 and OpenStreetMap are free and open</a:t>
            </a:r>
          </a:p>
        </p:txBody>
      </p:sp>
      <p:sp>
        <p:nvSpPr>
          <p:cNvPr id="22" name="Oval 21"/>
          <p:cNvSpPr/>
          <p:nvPr/>
        </p:nvSpPr>
        <p:spPr>
          <a:xfrm>
            <a:off x="685800" y="3438144"/>
            <a:ext cx="329184" cy="329184"/>
          </a:xfrm>
          <a:prstGeom prst="ellipse">
            <a:avLst/>
          </a:prstGeom>
          <a:solidFill>
            <a:srgbClr val="1F9D63"/>
          </a:solidFill>
          <a:ln>
            <a:noFill/>
          </a:ln>
          <a:effectLst/>
        </p:spPr>
        <p:txBody>
          <a:bodyPr rtlCol="0" anchor="ctr" wrap="square" lIns="0" rIns="0" tIns="18288" bIns="18288"/>
          <a:lstStyle/>
          <a:p>
            <a:pPr algn="ctr"/>
            <a:r>
              <a:rPr sz="1200" b="1" i="0">
                <a:solidFill>
                  <a:srgbClr val="FFFFFF"/>
                </a:solidFill>
                <a:latin typeface="Arial"/>
              </a:rPr>
              <a:t>✓</a:t>
            </a:r>
          </a:p>
        </p:txBody>
      </p:sp>
      <p:sp>
        <p:nvSpPr>
          <p:cNvPr id="23" name="TextBox 22"/>
          <p:cNvSpPr txBox="1"/>
          <p:nvPr/>
        </p:nvSpPr>
        <p:spPr>
          <a:xfrm>
            <a:off x="1143000" y="3383280"/>
            <a:ext cx="7680960" cy="438912"/>
          </a:xfrm>
          <a:prstGeom prst="rect">
            <a:avLst/>
          </a:prstGeom>
          <a:noFill/>
        </p:spPr>
        <p:txBody>
          <a:bodyPr wrap="square" lIns="0" rIns="0" tIns="18288" bIns="18288" anchor="ctr">
            <a:spAutoFit/>
          </a:bodyPr>
          <a:lstStyle/>
          <a:p>
            <a:pPr algn="l"/>
            <a:r>
              <a:rPr sz="1450" b="0" i="0">
                <a:solidFill>
                  <a:srgbClr val="1F2937"/>
                </a:solidFill>
                <a:latin typeface="Arial"/>
              </a:rPr>
              <a:t>3.4 years, 2,597 files, 17.3 M clear pixels already processed</a:t>
            </a:r>
          </a:p>
        </p:txBody>
      </p:sp>
      <p:sp>
        <p:nvSpPr>
          <p:cNvPr id="24" name="Oval 23"/>
          <p:cNvSpPr/>
          <p:nvPr/>
        </p:nvSpPr>
        <p:spPr>
          <a:xfrm>
            <a:off x="685800" y="3895344"/>
            <a:ext cx="329184" cy="329184"/>
          </a:xfrm>
          <a:prstGeom prst="ellipse">
            <a:avLst/>
          </a:prstGeom>
          <a:solidFill>
            <a:srgbClr val="1F9D63"/>
          </a:solidFill>
          <a:ln>
            <a:noFill/>
          </a:ln>
          <a:effectLst/>
        </p:spPr>
        <p:txBody>
          <a:bodyPr rtlCol="0" anchor="ctr" wrap="square" lIns="0" rIns="0" tIns="18288" bIns="18288"/>
          <a:lstStyle/>
          <a:p>
            <a:pPr algn="ctr"/>
            <a:r>
              <a:rPr sz="1200" b="1" i="0">
                <a:solidFill>
                  <a:srgbClr val="FFFFFF"/>
                </a:solidFill>
                <a:latin typeface="Arial"/>
              </a:rPr>
              <a:t>✓</a:t>
            </a:r>
          </a:p>
        </p:txBody>
      </p:sp>
      <p:sp>
        <p:nvSpPr>
          <p:cNvPr id="25" name="TextBox 24"/>
          <p:cNvSpPr txBox="1"/>
          <p:nvPr/>
        </p:nvSpPr>
        <p:spPr>
          <a:xfrm>
            <a:off x="1143000" y="3840480"/>
            <a:ext cx="7680960" cy="438912"/>
          </a:xfrm>
          <a:prstGeom prst="rect">
            <a:avLst/>
          </a:prstGeom>
          <a:noFill/>
        </p:spPr>
        <p:txBody>
          <a:bodyPr wrap="square" lIns="0" rIns="0" tIns="18288" bIns="18288" anchor="ctr">
            <a:spAutoFit/>
          </a:bodyPr>
          <a:lstStyle/>
          <a:p>
            <a:pPr algn="l"/>
            <a:r>
              <a:rPr sz="1450" b="0" i="0">
                <a:solidFill>
                  <a:srgbClr val="1F2937"/>
                </a:solidFill>
                <a:latin typeface="Arial"/>
              </a:rPr>
              <a:t>10 of 19 algorithm designs passed pre-set tests; 5 failures published</a:t>
            </a:r>
          </a:p>
        </p:txBody>
      </p:sp>
      <p:sp>
        <p:nvSpPr>
          <p:cNvPr id="26" name="Oval 25"/>
          <p:cNvSpPr/>
          <p:nvPr/>
        </p:nvSpPr>
        <p:spPr>
          <a:xfrm>
            <a:off x="685800" y="4352544"/>
            <a:ext cx="329184" cy="329184"/>
          </a:xfrm>
          <a:prstGeom prst="ellipse">
            <a:avLst/>
          </a:prstGeom>
          <a:solidFill>
            <a:srgbClr val="1F9D63"/>
          </a:solidFill>
          <a:ln>
            <a:noFill/>
          </a:ln>
          <a:effectLst/>
        </p:spPr>
        <p:txBody>
          <a:bodyPr rtlCol="0" anchor="ctr" wrap="square" lIns="0" rIns="0" tIns="18288" bIns="18288"/>
          <a:lstStyle/>
          <a:p>
            <a:pPr algn="ctr"/>
            <a:r>
              <a:rPr sz="1200" b="1" i="0">
                <a:solidFill>
                  <a:srgbClr val="FFFFFF"/>
                </a:solidFill>
                <a:latin typeface="Arial"/>
              </a:rPr>
              <a:t>✓</a:t>
            </a:r>
          </a:p>
        </p:txBody>
      </p:sp>
      <p:sp>
        <p:nvSpPr>
          <p:cNvPr id="27" name="TextBox 26"/>
          <p:cNvSpPr txBox="1"/>
          <p:nvPr/>
        </p:nvSpPr>
        <p:spPr>
          <a:xfrm>
            <a:off x="1143000" y="4297680"/>
            <a:ext cx="7680960" cy="438912"/>
          </a:xfrm>
          <a:prstGeom prst="rect">
            <a:avLst/>
          </a:prstGeom>
          <a:noFill/>
        </p:spPr>
        <p:txBody>
          <a:bodyPr wrap="square" lIns="0" rIns="0" tIns="18288" bIns="18288" anchor="ctr">
            <a:spAutoFit/>
          </a:bodyPr>
          <a:lstStyle/>
          <a:p>
            <a:pPr algn="l"/>
            <a:r>
              <a:rPr sz="1450" b="0" i="0">
                <a:solidFill>
                  <a:srgbClr val="1F2937"/>
                </a:solidFill>
                <a:latin typeface="Arial"/>
              </a:rPr>
              <a:t>Tiered access and human review built in, not bolted on</a:t>
            </a:r>
          </a:p>
        </p:txBody>
      </p:sp>
      <p:sp>
        <p:nvSpPr>
          <p:cNvPr id="28" name="TextBox 27"/>
          <p:cNvSpPr txBox="1"/>
          <p:nvPr/>
        </p:nvSpPr>
        <p:spPr>
          <a:xfrm>
            <a:off x="685800" y="4892040"/>
            <a:ext cx="8229600" cy="411480"/>
          </a:xfrm>
          <a:prstGeom prst="rect">
            <a:avLst/>
          </a:prstGeom>
          <a:noFill/>
        </p:spPr>
        <p:txBody>
          <a:bodyPr wrap="square" lIns="0" rIns="0" tIns="18288" bIns="18288" anchor="t">
            <a:spAutoFit/>
          </a:bodyPr>
          <a:lstStyle/>
          <a:p>
            <a:pPr algn="l"/>
            <a:r>
              <a:rPr sz="1900" b="1" i="0">
                <a:solidFill>
                  <a:srgbClr val="1B3A7A"/>
                </a:solidFill>
                <a:latin typeface="Arial"/>
              </a:rPr>
              <a:t>Risks, and what we do about them</a:t>
            </a:r>
          </a:p>
        </p:txBody>
      </p:sp>
      <p:sp>
        <p:nvSpPr>
          <p:cNvPr id="29" name="Rounded Rectangle 28"/>
          <p:cNvSpPr/>
          <p:nvPr/>
        </p:nvSpPr>
        <p:spPr>
          <a:xfrm>
            <a:off x="685800" y="5376672"/>
            <a:ext cx="3886200" cy="731520"/>
          </a:xfrm>
          <a:prstGeom prst="roundRect">
            <a:avLst>
              <a:gd name="adj" fmla="val 10000"/>
            </a:avLst>
          </a:prstGeom>
          <a:solidFill>
            <a:srgbClr val="FDECEA"/>
          </a:solidFill>
          <a:ln>
            <a:noFill/>
          </a:ln>
          <a:effectLst/>
        </p:spPr>
        <p:txBody>
          <a:bodyPr rtlCol="0" anchor="ctr"/>
          <a:lstStyle/>
          <a:p/>
        </p:txBody>
      </p:sp>
      <p:sp>
        <p:nvSpPr>
          <p:cNvPr id="30" name="TextBox 29"/>
          <p:cNvSpPr txBox="1"/>
          <p:nvPr/>
        </p:nvSpPr>
        <p:spPr>
          <a:xfrm>
            <a:off x="822960" y="5376672"/>
            <a:ext cx="3657600" cy="731520"/>
          </a:xfrm>
          <a:prstGeom prst="rect">
            <a:avLst/>
          </a:prstGeom>
          <a:noFill/>
        </p:spPr>
        <p:txBody>
          <a:bodyPr wrap="square" lIns="0" rIns="0" tIns="18288" bIns="18288" anchor="ctr">
            <a:spAutoFit/>
          </a:bodyPr>
          <a:lstStyle/>
          <a:p>
            <a:pPr algn="l"/>
            <a:r>
              <a:rPr sz="1300" b="1" i="0">
                <a:solidFill>
                  <a:srgbClr val="8A2D12"/>
                </a:solidFill>
                <a:latin typeface="Arial"/>
              </a:rPr>
              <a:t>7 km pixels see clusters, not single facilities</a:t>
            </a:r>
          </a:p>
        </p:txBody>
      </p:sp>
      <p:sp>
        <p:nvSpPr>
          <p:cNvPr id="31" name="Right Arrow 30"/>
          <p:cNvSpPr/>
          <p:nvPr/>
        </p:nvSpPr>
        <p:spPr>
          <a:xfrm>
            <a:off x="4645152" y="5614416"/>
            <a:ext cx="274320" cy="256032"/>
          </a:xfrm>
          <a:prstGeom prst="rightArrow">
            <a:avLst/>
          </a:prstGeom>
          <a:solidFill>
            <a:srgbClr val="1F9D63"/>
          </a:solidFill>
          <a:ln>
            <a:noFill/>
          </a:ln>
          <a:effectLst/>
        </p:spPr>
        <p:txBody>
          <a:bodyPr rtlCol="0" anchor="ctr"/>
          <a:lstStyle/>
          <a:p/>
        </p:txBody>
      </p:sp>
      <p:sp>
        <p:nvSpPr>
          <p:cNvPr id="32" name="Rounded Rectangle 31"/>
          <p:cNvSpPr/>
          <p:nvPr/>
        </p:nvSpPr>
        <p:spPr>
          <a:xfrm>
            <a:off x="4983480" y="5376672"/>
            <a:ext cx="3886200" cy="731520"/>
          </a:xfrm>
          <a:prstGeom prst="roundRect">
            <a:avLst>
              <a:gd name="adj" fmla="val 10000"/>
            </a:avLst>
          </a:prstGeom>
          <a:solidFill>
            <a:srgbClr val="E6F5EE"/>
          </a:solidFill>
          <a:ln>
            <a:noFill/>
          </a:ln>
          <a:effectLst/>
        </p:spPr>
        <p:txBody>
          <a:bodyPr rtlCol="0" anchor="ctr"/>
          <a:lstStyle/>
          <a:p/>
        </p:txBody>
      </p:sp>
      <p:sp>
        <p:nvSpPr>
          <p:cNvPr id="33" name="TextBox 32"/>
          <p:cNvSpPr txBox="1"/>
          <p:nvPr/>
        </p:nvSpPr>
        <p:spPr>
          <a:xfrm>
            <a:off x="5120640" y="5376672"/>
            <a:ext cx="3657600" cy="731520"/>
          </a:xfrm>
          <a:prstGeom prst="rect">
            <a:avLst/>
          </a:prstGeom>
          <a:noFill/>
        </p:spPr>
        <p:txBody>
          <a:bodyPr wrap="square" lIns="0" rIns="0" tIns="18288" bIns="18288" anchor="ctr">
            <a:spAutoFit/>
          </a:bodyPr>
          <a:lstStyle/>
          <a:p>
            <a:pPr algn="l"/>
            <a:r>
              <a:rPr sz="1300" b="0" i="0">
                <a:solidFill>
                  <a:srgbClr val="12603C"/>
                </a:solidFill>
                <a:latin typeface="Arial"/>
              </a:rPr>
              <a:t>VOIT sends the top 5 to Carbon Mapper, EMIT or GHGSat</a:t>
            </a:r>
          </a:p>
        </p:txBody>
      </p:sp>
      <p:sp>
        <p:nvSpPr>
          <p:cNvPr id="34" name="Rounded Rectangle 33"/>
          <p:cNvSpPr/>
          <p:nvPr/>
        </p:nvSpPr>
        <p:spPr>
          <a:xfrm>
            <a:off x="685800" y="6208776"/>
            <a:ext cx="3886200" cy="731520"/>
          </a:xfrm>
          <a:prstGeom prst="roundRect">
            <a:avLst>
              <a:gd name="adj" fmla="val 10000"/>
            </a:avLst>
          </a:prstGeom>
          <a:solidFill>
            <a:srgbClr val="FDECEA"/>
          </a:solidFill>
          <a:ln>
            <a:noFill/>
          </a:ln>
          <a:effectLst/>
        </p:spPr>
        <p:txBody>
          <a:bodyPr rtlCol="0" anchor="ctr"/>
          <a:lstStyle/>
          <a:p/>
        </p:txBody>
      </p:sp>
      <p:sp>
        <p:nvSpPr>
          <p:cNvPr id="35" name="TextBox 34"/>
          <p:cNvSpPr txBox="1"/>
          <p:nvPr/>
        </p:nvSpPr>
        <p:spPr>
          <a:xfrm>
            <a:off x="822960" y="6208776"/>
            <a:ext cx="3657600" cy="731520"/>
          </a:xfrm>
          <a:prstGeom prst="rect">
            <a:avLst/>
          </a:prstGeom>
          <a:noFill/>
        </p:spPr>
        <p:txBody>
          <a:bodyPr wrap="square" lIns="0" rIns="0" tIns="18288" bIns="18288" anchor="ctr">
            <a:spAutoFit/>
          </a:bodyPr>
          <a:lstStyle/>
          <a:p>
            <a:pPr algn="l"/>
            <a:r>
              <a:rPr sz="1300" b="1" i="0">
                <a:solidFill>
                  <a:srgbClr val="8A2D12"/>
                </a:solidFill>
                <a:latin typeface="Arial"/>
              </a:rPr>
              <a:t>Monsoon hides India June to September</a:t>
            </a:r>
          </a:p>
        </p:txBody>
      </p:sp>
      <p:sp>
        <p:nvSpPr>
          <p:cNvPr id="36" name="Right Arrow 35"/>
          <p:cNvSpPr/>
          <p:nvPr/>
        </p:nvSpPr>
        <p:spPr>
          <a:xfrm>
            <a:off x="4645152" y="6446520"/>
            <a:ext cx="274320" cy="256032"/>
          </a:xfrm>
          <a:prstGeom prst="rightArrow">
            <a:avLst/>
          </a:prstGeom>
          <a:solidFill>
            <a:srgbClr val="1F9D63"/>
          </a:solidFill>
          <a:ln>
            <a:noFill/>
          </a:ln>
          <a:effectLst/>
        </p:spPr>
        <p:txBody>
          <a:bodyPr rtlCol="0" anchor="ctr"/>
          <a:lstStyle/>
          <a:p/>
        </p:txBody>
      </p:sp>
      <p:sp>
        <p:nvSpPr>
          <p:cNvPr id="37" name="Rounded Rectangle 36"/>
          <p:cNvSpPr/>
          <p:nvPr/>
        </p:nvSpPr>
        <p:spPr>
          <a:xfrm>
            <a:off x="4983480" y="6208776"/>
            <a:ext cx="3886200" cy="731520"/>
          </a:xfrm>
          <a:prstGeom prst="roundRect">
            <a:avLst>
              <a:gd name="adj" fmla="val 10000"/>
            </a:avLst>
          </a:prstGeom>
          <a:solidFill>
            <a:srgbClr val="E6F5EE"/>
          </a:solidFill>
          <a:ln>
            <a:noFill/>
          </a:ln>
          <a:effectLst/>
        </p:spPr>
        <p:txBody>
          <a:bodyPr rtlCol="0" anchor="ctr"/>
          <a:lstStyle/>
          <a:p/>
        </p:txBody>
      </p:sp>
      <p:sp>
        <p:nvSpPr>
          <p:cNvPr id="38" name="TextBox 37"/>
          <p:cNvSpPr txBox="1"/>
          <p:nvPr/>
        </p:nvSpPr>
        <p:spPr>
          <a:xfrm>
            <a:off x="5120640" y="6208776"/>
            <a:ext cx="3657600" cy="731520"/>
          </a:xfrm>
          <a:prstGeom prst="rect">
            <a:avLst/>
          </a:prstGeom>
          <a:noFill/>
        </p:spPr>
        <p:txBody>
          <a:bodyPr wrap="square" lIns="0" rIns="0" tIns="18288" bIns="18288" anchor="ctr">
            <a:spAutoFit/>
          </a:bodyPr>
          <a:lstStyle/>
          <a:p>
            <a:pPr algn="l"/>
            <a:r>
              <a:rPr sz="1300" b="0" i="0">
                <a:solidFill>
                  <a:srgbClr val="12603C"/>
                </a:solidFill>
                <a:latin typeface="Arial"/>
              </a:rPr>
              <a:t>reported as unobserved, never guessed; more passes each year</a:t>
            </a:r>
          </a:p>
        </p:txBody>
      </p:sp>
      <p:sp>
        <p:nvSpPr>
          <p:cNvPr id="39" name="Rounded Rectangle 38"/>
          <p:cNvSpPr/>
          <p:nvPr/>
        </p:nvSpPr>
        <p:spPr>
          <a:xfrm>
            <a:off x="685800" y="7040880"/>
            <a:ext cx="3886200" cy="731520"/>
          </a:xfrm>
          <a:prstGeom prst="roundRect">
            <a:avLst>
              <a:gd name="adj" fmla="val 10000"/>
            </a:avLst>
          </a:prstGeom>
          <a:solidFill>
            <a:srgbClr val="FDECEA"/>
          </a:solidFill>
          <a:ln>
            <a:noFill/>
          </a:ln>
          <a:effectLst/>
        </p:spPr>
        <p:txBody>
          <a:bodyPr rtlCol="0" anchor="ctr"/>
          <a:lstStyle/>
          <a:p/>
        </p:txBody>
      </p:sp>
      <p:sp>
        <p:nvSpPr>
          <p:cNvPr id="40" name="TextBox 39"/>
          <p:cNvSpPr txBox="1"/>
          <p:nvPr/>
        </p:nvSpPr>
        <p:spPr>
          <a:xfrm>
            <a:off x="822960" y="7040880"/>
            <a:ext cx="3657600" cy="731520"/>
          </a:xfrm>
          <a:prstGeom prst="rect">
            <a:avLst/>
          </a:prstGeom>
          <a:noFill/>
        </p:spPr>
        <p:txBody>
          <a:bodyPr wrap="square" lIns="0" rIns="0" tIns="18288" bIns="18288" anchor="ctr">
            <a:spAutoFit/>
          </a:bodyPr>
          <a:lstStyle/>
          <a:p>
            <a:pPr algn="l"/>
            <a:r>
              <a:rPr sz="1300" b="1" i="0">
                <a:solidFill>
                  <a:srgbClr val="8A2D12"/>
                </a:solidFill>
                <a:latin typeface="Arial"/>
              </a:rPr>
              <a:t>A wrong accusation</a:t>
            </a:r>
          </a:p>
        </p:txBody>
      </p:sp>
      <p:sp>
        <p:nvSpPr>
          <p:cNvPr id="41" name="Right Arrow 40"/>
          <p:cNvSpPr/>
          <p:nvPr/>
        </p:nvSpPr>
        <p:spPr>
          <a:xfrm>
            <a:off x="4645152" y="7278624"/>
            <a:ext cx="274320" cy="256032"/>
          </a:xfrm>
          <a:prstGeom prst="rightArrow">
            <a:avLst/>
          </a:prstGeom>
          <a:solidFill>
            <a:srgbClr val="1F9D63"/>
          </a:solidFill>
          <a:ln>
            <a:noFill/>
          </a:ln>
          <a:effectLst/>
        </p:spPr>
        <p:txBody>
          <a:bodyPr rtlCol="0" anchor="ctr"/>
          <a:lstStyle/>
          <a:p/>
        </p:txBody>
      </p:sp>
      <p:sp>
        <p:nvSpPr>
          <p:cNvPr id="42" name="Rounded Rectangle 41"/>
          <p:cNvSpPr/>
          <p:nvPr/>
        </p:nvSpPr>
        <p:spPr>
          <a:xfrm>
            <a:off x="4983480" y="7040880"/>
            <a:ext cx="3886200" cy="731520"/>
          </a:xfrm>
          <a:prstGeom prst="roundRect">
            <a:avLst>
              <a:gd name="adj" fmla="val 10000"/>
            </a:avLst>
          </a:prstGeom>
          <a:solidFill>
            <a:srgbClr val="E6F5EE"/>
          </a:solidFill>
          <a:ln>
            <a:noFill/>
          </a:ln>
          <a:effectLst/>
        </p:spPr>
        <p:txBody>
          <a:bodyPr rtlCol="0" anchor="ctr"/>
          <a:lstStyle/>
          <a:p/>
        </p:txBody>
      </p:sp>
      <p:sp>
        <p:nvSpPr>
          <p:cNvPr id="43" name="TextBox 42"/>
          <p:cNvSpPr txBox="1"/>
          <p:nvPr/>
        </p:nvSpPr>
        <p:spPr>
          <a:xfrm>
            <a:off x="5120640" y="7040880"/>
            <a:ext cx="3657600" cy="731520"/>
          </a:xfrm>
          <a:prstGeom prst="rect">
            <a:avLst/>
          </a:prstGeom>
          <a:noFill/>
        </p:spPr>
        <p:txBody>
          <a:bodyPr wrap="square" lIns="0" rIns="0" tIns="18288" bIns="18288" anchor="ctr">
            <a:spAutoFit/>
          </a:bodyPr>
          <a:lstStyle/>
          <a:p>
            <a:pPr algn="l"/>
            <a:r>
              <a:rPr sz="1300" b="0" i="0">
                <a:solidFill>
                  <a:srgbClr val="12603C"/>
                </a:solidFill>
                <a:latin typeface="Arial"/>
              </a:rPr>
              <a:t>5% FDR + independent check + human sign-off; public coordinates rounded</a:t>
            </a:r>
          </a:p>
        </p:txBody>
      </p:sp>
      <p:sp>
        <p:nvSpPr>
          <p:cNvPr id="44" name="Rounded Rectangle 43"/>
          <p:cNvSpPr/>
          <p:nvPr/>
        </p:nvSpPr>
        <p:spPr>
          <a:xfrm>
            <a:off x="685800" y="7872983"/>
            <a:ext cx="3886200" cy="731520"/>
          </a:xfrm>
          <a:prstGeom prst="roundRect">
            <a:avLst>
              <a:gd name="adj" fmla="val 10000"/>
            </a:avLst>
          </a:prstGeom>
          <a:solidFill>
            <a:srgbClr val="FDECEA"/>
          </a:solidFill>
          <a:ln>
            <a:noFill/>
          </a:ln>
          <a:effectLst/>
        </p:spPr>
        <p:txBody>
          <a:bodyPr rtlCol="0" anchor="ctr"/>
          <a:lstStyle/>
          <a:p/>
        </p:txBody>
      </p:sp>
      <p:sp>
        <p:nvSpPr>
          <p:cNvPr id="45" name="TextBox 44"/>
          <p:cNvSpPr txBox="1"/>
          <p:nvPr/>
        </p:nvSpPr>
        <p:spPr>
          <a:xfrm>
            <a:off x="822960" y="7872983"/>
            <a:ext cx="3657600" cy="731520"/>
          </a:xfrm>
          <a:prstGeom prst="rect">
            <a:avLst/>
          </a:prstGeom>
          <a:noFill/>
        </p:spPr>
        <p:txBody>
          <a:bodyPr wrap="square" lIns="0" rIns="0" tIns="18288" bIns="18288" anchor="ctr">
            <a:spAutoFit/>
          </a:bodyPr>
          <a:lstStyle/>
          <a:p>
            <a:pPr algn="l"/>
            <a:r>
              <a:rPr sz="1300" b="1" i="0">
                <a:solidFill>
                  <a:srgbClr val="8A2D12"/>
                </a:solidFill>
                <a:latin typeface="Arial"/>
              </a:rPr>
              <a:t>OpenStreetMap too thin to name the sector</a:t>
            </a:r>
          </a:p>
        </p:txBody>
      </p:sp>
      <p:sp>
        <p:nvSpPr>
          <p:cNvPr id="46" name="Right Arrow 45"/>
          <p:cNvSpPr/>
          <p:nvPr/>
        </p:nvSpPr>
        <p:spPr>
          <a:xfrm>
            <a:off x="4645152" y="8110727"/>
            <a:ext cx="274320" cy="256032"/>
          </a:xfrm>
          <a:prstGeom prst="rightArrow">
            <a:avLst/>
          </a:prstGeom>
          <a:solidFill>
            <a:srgbClr val="1F9D63"/>
          </a:solidFill>
          <a:ln>
            <a:noFill/>
          </a:ln>
          <a:effectLst/>
        </p:spPr>
        <p:txBody>
          <a:bodyPr rtlCol="0" anchor="ctr"/>
          <a:lstStyle/>
          <a:p/>
        </p:txBody>
      </p:sp>
      <p:sp>
        <p:nvSpPr>
          <p:cNvPr id="47" name="Rounded Rectangle 46"/>
          <p:cNvSpPr/>
          <p:nvPr/>
        </p:nvSpPr>
        <p:spPr>
          <a:xfrm>
            <a:off x="4983480" y="7872983"/>
            <a:ext cx="3886200" cy="731520"/>
          </a:xfrm>
          <a:prstGeom prst="roundRect">
            <a:avLst>
              <a:gd name="adj" fmla="val 10000"/>
            </a:avLst>
          </a:prstGeom>
          <a:solidFill>
            <a:srgbClr val="E6F5EE"/>
          </a:solidFill>
          <a:ln>
            <a:noFill/>
          </a:ln>
          <a:effectLst/>
        </p:spPr>
        <p:txBody>
          <a:bodyPr rtlCol="0" anchor="ctr"/>
          <a:lstStyle/>
          <a:p/>
        </p:txBody>
      </p:sp>
      <p:sp>
        <p:nvSpPr>
          <p:cNvPr id="48" name="TextBox 47"/>
          <p:cNvSpPr txBox="1"/>
          <p:nvPr/>
        </p:nvSpPr>
        <p:spPr>
          <a:xfrm>
            <a:off x="5120640" y="7872983"/>
            <a:ext cx="3657600" cy="731520"/>
          </a:xfrm>
          <a:prstGeom prst="rect">
            <a:avLst/>
          </a:prstGeom>
          <a:noFill/>
        </p:spPr>
        <p:txBody>
          <a:bodyPr wrap="square" lIns="0" rIns="0" tIns="18288" bIns="18288" anchor="ctr">
            <a:spAutoFit/>
          </a:bodyPr>
          <a:lstStyle/>
          <a:p>
            <a:pPr algn="l"/>
            <a:r>
              <a:rPr sz="1300" b="0" i="0">
                <a:solidFill>
                  <a:srgbClr val="12603C"/>
                </a:solidFill>
                <a:latin typeface="Arial"/>
              </a:rPr>
              <a:t>EFA failed its test (5 of 7), so it stays off; next: SPCB facility lists</a:t>
            </a:r>
          </a:p>
        </p:txBody>
      </p:sp>
      <p:sp>
        <p:nvSpPr>
          <p:cNvPr id="49" name="Rounded Rectangle 48"/>
          <p:cNvSpPr/>
          <p:nvPr/>
        </p:nvSpPr>
        <p:spPr>
          <a:xfrm>
            <a:off x="685800" y="8705088"/>
            <a:ext cx="3886200" cy="731520"/>
          </a:xfrm>
          <a:prstGeom prst="roundRect">
            <a:avLst>
              <a:gd name="adj" fmla="val 10000"/>
            </a:avLst>
          </a:prstGeom>
          <a:solidFill>
            <a:srgbClr val="FDECEA"/>
          </a:solidFill>
          <a:ln>
            <a:noFill/>
          </a:ln>
          <a:effectLst/>
        </p:spPr>
        <p:txBody>
          <a:bodyPr rtlCol="0" anchor="ctr"/>
          <a:lstStyle/>
          <a:p/>
        </p:txBody>
      </p:sp>
      <p:sp>
        <p:nvSpPr>
          <p:cNvPr id="50" name="TextBox 49"/>
          <p:cNvSpPr txBox="1"/>
          <p:nvPr/>
        </p:nvSpPr>
        <p:spPr>
          <a:xfrm>
            <a:off x="822960" y="8705088"/>
            <a:ext cx="3657600" cy="731520"/>
          </a:xfrm>
          <a:prstGeom prst="rect">
            <a:avLst/>
          </a:prstGeom>
          <a:noFill/>
        </p:spPr>
        <p:txBody>
          <a:bodyPr wrap="square" lIns="0" rIns="0" tIns="18288" bIns="18288" anchor="ctr">
            <a:spAutoFit/>
          </a:bodyPr>
          <a:lstStyle/>
          <a:p>
            <a:pPr algn="l"/>
            <a:r>
              <a:rPr sz="1300" b="1" i="0">
                <a:solidFill>
                  <a:srgbClr val="8A2D12"/>
                </a:solidFill>
                <a:latin typeface="Arial"/>
              </a:rPr>
              <a:t>A data source goes down</a:t>
            </a:r>
          </a:p>
        </p:txBody>
      </p:sp>
      <p:sp>
        <p:nvSpPr>
          <p:cNvPr id="51" name="Right Arrow 50"/>
          <p:cNvSpPr/>
          <p:nvPr/>
        </p:nvSpPr>
        <p:spPr>
          <a:xfrm>
            <a:off x="4645152" y="8942832"/>
            <a:ext cx="274320" cy="256032"/>
          </a:xfrm>
          <a:prstGeom prst="rightArrow">
            <a:avLst/>
          </a:prstGeom>
          <a:solidFill>
            <a:srgbClr val="1F9D63"/>
          </a:solidFill>
          <a:ln>
            <a:noFill/>
          </a:ln>
          <a:effectLst/>
        </p:spPr>
        <p:txBody>
          <a:bodyPr rtlCol="0" anchor="ctr"/>
          <a:lstStyle/>
          <a:p/>
        </p:txBody>
      </p:sp>
      <p:sp>
        <p:nvSpPr>
          <p:cNvPr id="52" name="Rounded Rectangle 51"/>
          <p:cNvSpPr/>
          <p:nvPr/>
        </p:nvSpPr>
        <p:spPr>
          <a:xfrm>
            <a:off x="4983480" y="8705088"/>
            <a:ext cx="3886200" cy="731520"/>
          </a:xfrm>
          <a:prstGeom prst="roundRect">
            <a:avLst>
              <a:gd name="adj" fmla="val 10000"/>
            </a:avLst>
          </a:prstGeom>
          <a:solidFill>
            <a:srgbClr val="E6F5EE"/>
          </a:solidFill>
          <a:ln>
            <a:noFill/>
          </a:ln>
          <a:effectLst/>
        </p:spPr>
        <p:txBody>
          <a:bodyPr rtlCol="0" anchor="ctr"/>
          <a:lstStyle/>
          <a:p/>
        </p:txBody>
      </p:sp>
      <p:sp>
        <p:nvSpPr>
          <p:cNvPr id="53" name="TextBox 52"/>
          <p:cNvSpPr txBox="1"/>
          <p:nvPr/>
        </p:nvSpPr>
        <p:spPr>
          <a:xfrm>
            <a:off x="5120640" y="8705088"/>
            <a:ext cx="3657600" cy="731520"/>
          </a:xfrm>
          <a:prstGeom prst="rect">
            <a:avLst/>
          </a:prstGeom>
          <a:noFill/>
        </p:spPr>
        <p:txBody>
          <a:bodyPr wrap="square" lIns="0" rIns="0" tIns="18288" bIns="18288" anchor="ctr">
            <a:spAutoFit/>
          </a:bodyPr>
          <a:lstStyle/>
          <a:p>
            <a:pPr algn="l"/>
            <a:r>
              <a:rPr sz="1300" b="0" i="0">
                <a:solidFill>
                  <a:srgbClr val="12603C"/>
                </a:solidFill>
                <a:latin typeface="Arial"/>
              </a:rPr>
              <a:t>checksum-verified mirror, daily backfill; the last good output stays live</a:t>
            </a:r>
          </a:p>
        </p:txBody>
      </p:sp>
      <p:graphicFrame>
        <p:nvGraphicFramePr>
          <p:cNvPr id="54" name="Chart 53"/>
          <p:cNvGraphicFramePr>
            <a:graphicFrameLocks noGrp="1"/>
          </p:cNvGraphicFramePr>
          <p:nvPr/>
        </p:nvGraphicFramePr>
        <p:xfrm>
          <a:off x="9326880" y="2011680"/>
          <a:ext cx="8275320" cy="3520440"/>
        </p:xfrm>
        <a:graphic>
          <a:graphicData uri="http://schemas.openxmlformats.org/drawingml/2006/chart">
            <c:chart xmlns:c="http://schemas.openxmlformats.org/drawingml/2006/chart" r:id="rId7"/>
          </a:graphicData>
        </a:graphic>
      </p:graphicFrame>
      <p:sp>
        <p:nvSpPr>
          <p:cNvPr id="55" name="TextBox 54"/>
          <p:cNvSpPr txBox="1"/>
          <p:nvPr/>
        </p:nvSpPr>
        <p:spPr>
          <a:xfrm>
            <a:off x="9326880" y="5715000"/>
            <a:ext cx="8275320" cy="411480"/>
          </a:xfrm>
          <a:prstGeom prst="rect">
            <a:avLst/>
          </a:prstGeom>
          <a:noFill/>
        </p:spPr>
        <p:txBody>
          <a:bodyPr wrap="square" lIns="0" rIns="0" tIns="18288" bIns="18288" anchor="t">
            <a:spAutoFit/>
          </a:bodyPr>
          <a:lstStyle/>
          <a:p>
            <a:pPr algn="l"/>
            <a:r>
              <a:rPr sz="1900" b="1" i="0">
                <a:solidFill>
                  <a:srgbClr val="1B3A7A"/>
                </a:solidFill>
                <a:latin typeface="Arial"/>
              </a:rPr>
              <a:t>Roadmap</a:t>
            </a:r>
          </a:p>
        </p:txBody>
      </p:sp>
      <p:cxnSp>
        <p:nvCxnSpPr>
          <p:cNvPr id="56" name="Connector 55"/>
          <p:cNvCxnSpPr/>
          <p:nvPr/>
        </p:nvCxnSpPr>
        <p:spPr>
          <a:xfrm>
            <a:off x="9692640" y="6537960"/>
            <a:ext cx="7589520" cy="0"/>
          </a:xfrm>
          <a:prstGeom prst="line">
            <a:avLst/>
          </a:prstGeom>
          <a:ln w="38100">
            <a:solidFill>
              <a:srgbClr val="D5DEEE"/>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9555480" y="6355080"/>
            <a:ext cx="365760" cy="365760"/>
          </a:xfrm>
          <a:prstGeom prst="ellipse">
            <a:avLst/>
          </a:prstGeom>
          <a:solidFill>
            <a:srgbClr val="E0662B"/>
          </a:solidFill>
          <a:ln>
            <a:noFill/>
          </a:ln>
          <a:effectLst/>
        </p:spPr>
        <p:txBody>
          <a:bodyPr rtlCol="0" anchor="ctr" wrap="square" lIns="0" rIns="0" tIns="18288" bIns="18288"/>
          <a:lstStyle/>
          <a:p>
            <a:pPr algn="ctr"/>
            <a:r>
              <a:rPr sz="1300" b="1" i="0">
                <a:solidFill>
                  <a:srgbClr val="FFFFFF"/>
                </a:solidFill>
                <a:latin typeface="Arial"/>
              </a:rPr>
              <a:t>1</a:t>
            </a:r>
          </a:p>
        </p:txBody>
      </p:sp>
      <p:sp>
        <p:nvSpPr>
          <p:cNvPr id="58" name="TextBox 57"/>
          <p:cNvSpPr txBox="1"/>
          <p:nvPr/>
        </p:nvSpPr>
        <p:spPr>
          <a:xfrm>
            <a:off x="9326880" y="6812280"/>
            <a:ext cx="2011680" cy="365760"/>
          </a:xfrm>
          <a:prstGeom prst="rect">
            <a:avLst/>
          </a:prstGeom>
          <a:noFill/>
        </p:spPr>
        <p:txBody>
          <a:bodyPr wrap="square" lIns="0" rIns="0" tIns="18288" bIns="18288" anchor="t">
            <a:spAutoFit/>
          </a:bodyPr>
          <a:lstStyle/>
          <a:p>
            <a:pPr algn="l"/>
            <a:r>
              <a:rPr sz="1400" b="1" i="0">
                <a:solidFill>
                  <a:srgbClr val="E0662B"/>
                </a:solidFill>
                <a:latin typeface="Arial"/>
              </a:rPr>
              <a:t>Now · Sep 2026</a:t>
            </a:r>
          </a:p>
        </p:txBody>
      </p:sp>
      <p:sp>
        <p:nvSpPr>
          <p:cNvPr id="59" name="TextBox 58"/>
          <p:cNvSpPr txBox="1"/>
          <p:nvPr/>
        </p:nvSpPr>
        <p:spPr>
          <a:xfrm>
            <a:off x="9326880" y="7178040"/>
            <a:ext cx="2011680" cy="1463040"/>
          </a:xfrm>
          <a:prstGeom prst="rect">
            <a:avLst/>
          </a:prstGeom>
          <a:noFill/>
        </p:spPr>
        <p:txBody>
          <a:bodyPr wrap="square" lIns="0" rIns="0" tIns="18288" bIns="18288" anchor="t">
            <a:spAutoFit/>
          </a:bodyPr>
          <a:lstStyle/>
          <a:p>
            <a:pPr algn="l"/>
            <a:r>
              <a:rPr sz="1400" b="0" i="0">
                <a:solidFill>
                  <a:srgbClr val="1F2937"/>
                </a:solidFill>
                <a:latin typeface="Arial"/>
              </a:rPr>
              <a:t>10 algorithms live · 54 sites · public ledger and partner view</a:t>
            </a:r>
          </a:p>
        </p:txBody>
      </p:sp>
      <p:sp>
        <p:nvSpPr>
          <p:cNvPr id="60" name="Oval 59"/>
          <p:cNvSpPr/>
          <p:nvPr/>
        </p:nvSpPr>
        <p:spPr>
          <a:xfrm>
            <a:off x="11658600" y="6355080"/>
            <a:ext cx="365760" cy="36576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2</a:t>
            </a:r>
          </a:p>
        </p:txBody>
      </p:sp>
      <p:sp>
        <p:nvSpPr>
          <p:cNvPr id="61" name="TextBox 60"/>
          <p:cNvSpPr txBox="1"/>
          <p:nvPr/>
        </p:nvSpPr>
        <p:spPr>
          <a:xfrm>
            <a:off x="11430000" y="6812280"/>
            <a:ext cx="2011680" cy="365760"/>
          </a:xfrm>
          <a:prstGeom prst="rect">
            <a:avLst/>
          </a:prstGeom>
          <a:noFill/>
        </p:spPr>
        <p:txBody>
          <a:bodyPr wrap="square" lIns="0" rIns="0" tIns="18288" bIns="18288" anchor="t">
            <a:spAutoFit/>
          </a:bodyPr>
          <a:lstStyle/>
          <a:p>
            <a:pPr algn="l"/>
            <a:r>
              <a:rPr sz="1400" b="1" i="0">
                <a:solidFill>
                  <a:srgbClr val="1B3A7A"/>
                </a:solidFill>
                <a:latin typeface="Arial"/>
              </a:rPr>
              <a:t>Q1 2027</a:t>
            </a:r>
          </a:p>
        </p:txBody>
      </p:sp>
      <p:sp>
        <p:nvSpPr>
          <p:cNvPr id="62" name="TextBox 61"/>
          <p:cNvSpPr txBox="1"/>
          <p:nvPr/>
        </p:nvSpPr>
        <p:spPr>
          <a:xfrm>
            <a:off x="11430000" y="7178040"/>
            <a:ext cx="2011680" cy="1463040"/>
          </a:xfrm>
          <a:prstGeom prst="rect">
            <a:avLst/>
          </a:prstGeom>
          <a:noFill/>
        </p:spPr>
        <p:txBody>
          <a:bodyPr wrap="square" lIns="0" rIns="0" tIns="18288" bIns="18288" anchor="t">
            <a:spAutoFit/>
          </a:bodyPr>
          <a:lstStyle/>
          <a:p>
            <a:pPr algn="l"/>
            <a:r>
              <a:rPr sz="1400" b="0" i="0">
                <a:solidFill>
                  <a:srgbClr val="1F2937"/>
                </a:solidFill>
                <a:latin typeface="Arial"/>
              </a:rPr>
              <a:t>Pilot with one State PCB; first human-reviewed entries</a:t>
            </a:r>
          </a:p>
        </p:txBody>
      </p:sp>
      <p:sp>
        <p:nvSpPr>
          <p:cNvPr id="63" name="Oval 62"/>
          <p:cNvSpPr/>
          <p:nvPr/>
        </p:nvSpPr>
        <p:spPr>
          <a:xfrm>
            <a:off x="13761719" y="6355080"/>
            <a:ext cx="365760" cy="36576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3</a:t>
            </a:r>
          </a:p>
        </p:txBody>
      </p:sp>
      <p:sp>
        <p:nvSpPr>
          <p:cNvPr id="64" name="TextBox 63"/>
          <p:cNvSpPr txBox="1"/>
          <p:nvPr/>
        </p:nvSpPr>
        <p:spPr>
          <a:xfrm>
            <a:off x="13533119" y="6812280"/>
            <a:ext cx="2011680" cy="365760"/>
          </a:xfrm>
          <a:prstGeom prst="rect">
            <a:avLst/>
          </a:prstGeom>
          <a:noFill/>
        </p:spPr>
        <p:txBody>
          <a:bodyPr wrap="square" lIns="0" rIns="0" tIns="18288" bIns="18288" anchor="t">
            <a:spAutoFit/>
          </a:bodyPr>
          <a:lstStyle/>
          <a:p>
            <a:pPr algn="l"/>
            <a:r>
              <a:rPr sz="1400" b="1" i="0">
                <a:solidFill>
                  <a:srgbClr val="1B3A7A"/>
                </a:solidFill>
                <a:latin typeface="Arial"/>
              </a:rPr>
              <a:t>Q2-Q3 2027</a:t>
            </a:r>
          </a:p>
        </p:txBody>
      </p:sp>
      <p:sp>
        <p:nvSpPr>
          <p:cNvPr id="65" name="TextBox 64"/>
          <p:cNvSpPr txBox="1"/>
          <p:nvPr/>
        </p:nvSpPr>
        <p:spPr>
          <a:xfrm>
            <a:off x="13533119" y="7178040"/>
            <a:ext cx="2011680" cy="1463040"/>
          </a:xfrm>
          <a:prstGeom prst="rect">
            <a:avLst/>
          </a:prstGeom>
          <a:noFill/>
        </p:spPr>
        <p:txBody>
          <a:bodyPr wrap="square" lIns="0" rIns="0" tIns="18288" bIns="18288" anchor="t">
            <a:spAutoFit/>
          </a:bodyPr>
          <a:lstStyle/>
          <a:p>
            <a:pPr algn="l"/>
            <a:r>
              <a:rPr sz="1400" b="0" i="0">
                <a:solidFill>
                  <a:srgbClr val="1F2937"/>
                </a:solidFill>
                <a:latin typeface="Arial"/>
              </a:rPr>
              <a:t>Facility registry → EFA re-test; NO₂ leg; high-res tasking</a:t>
            </a:r>
          </a:p>
        </p:txBody>
      </p:sp>
      <p:sp>
        <p:nvSpPr>
          <p:cNvPr id="66" name="Oval 65"/>
          <p:cNvSpPr/>
          <p:nvPr/>
        </p:nvSpPr>
        <p:spPr>
          <a:xfrm>
            <a:off x="15864839" y="6355080"/>
            <a:ext cx="365760" cy="365760"/>
          </a:xfrm>
          <a:prstGeom prst="ellipse">
            <a:avLst/>
          </a:prstGeom>
          <a:solidFill>
            <a:srgbClr val="1B3A7A"/>
          </a:solidFill>
          <a:ln>
            <a:noFill/>
          </a:ln>
          <a:effectLst/>
        </p:spPr>
        <p:txBody>
          <a:bodyPr rtlCol="0" anchor="ctr" wrap="square" lIns="0" rIns="0" tIns="18288" bIns="18288"/>
          <a:lstStyle/>
          <a:p>
            <a:pPr algn="ctr"/>
            <a:r>
              <a:rPr sz="1300" b="1" i="0">
                <a:solidFill>
                  <a:srgbClr val="FFFFFF"/>
                </a:solidFill>
                <a:latin typeface="Arial"/>
              </a:rPr>
              <a:t>4</a:t>
            </a:r>
          </a:p>
        </p:txBody>
      </p:sp>
      <p:sp>
        <p:nvSpPr>
          <p:cNvPr id="67" name="TextBox 66"/>
          <p:cNvSpPr txBox="1"/>
          <p:nvPr/>
        </p:nvSpPr>
        <p:spPr>
          <a:xfrm>
            <a:off x="15636239" y="6812280"/>
            <a:ext cx="2011680" cy="365760"/>
          </a:xfrm>
          <a:prstGeom prst="rect">
            <a:avLst/>
          </a:prstGeom>
          <a:noFill/>
        </p:spPr>
        <p:txBody>
          <a:bodyPr wrap="square" lIns="0" rIns="0" tIns="18288" bIns="18288" anchor="t">
            <a:spAutoFit/>
          </a:bodyPr>
          <a:lstStyle/>
          <a:p>
            <a:pPr algn="l"/>
            <a:r>
              <a:rPr sz="1400" b="1" i="0">
                <a:solidFill>
                  <a:srgbClr val="1B3A7A"/>
                </a:solidFill>
                <a:latin typeface="Arial"/>
              </a:rPr>
              <a:t>2028</a:t>
            </a:r>
          </a:p>
        </p:txBody>
      </p:sp>
      <p:sp>
        <p:nvSpPr>
          <p:cNvPr id="68" name="TextBox 67"/>
          <p:cNvSpPr txBox="1"/>
          <p:nvPr/>
        </p:nvSpPr>
        <p:spPr>
          <a:xfrm>
            <a:off x="15636239" y="7178040"/>
            <a:ext cx="2011680" cy="1463040"/>
          </a:xfrm>
          <a:prstGeom prst="rect">
            <a:avLst/>
          </a:prstGeom>
          <a:noFill/>
        </p:spPr>
        <p:txBody>
          <a:bodyPr wrap="square" lIns="0" rIns="0" tIns="18288" bIns="18288" anchor="t">
            <a:spAutoFit/>
          </a:bodyPr>
          <a:lstStyle/>
          <a:p>
            <a:pPr algn="l"/>
            <a:r>
              <a:rPr sz="1400" b="0" i="0">
                <a:solidFill>
                  <a:srgbClr val="1F2937"/>
                </a:solidFill>
                <a:latin typeface="Arial"/>
              </a:rPr>
              <a:t>MRV layer for India's carbon market (CCTS); Sentinel-5 data</a:t>
            </a:r>
          </a:p>
        </p:txBody>
      </p:sp>
      <p:sp>
        <p:nvSpPr>
          <p:cNvPr id="69" name="Rounded Rectangle 68"/>
          <p:cNvSpPr/>
          <p:nvPr/>
        </p:nvSpPr>
        <p:spPr>
          <a:xfrm>
            <a:off x="9326880" y="8549640"/>
            <a:ext cx="8275320" cy="960120"/>
          </a:xfrm>
          <a:prstGeom prst="roundRect">
            <a:avLst>
              <a:gd name="adj" fmla="val 20000"/>
            </a:avLst>
          </a:prstGeom>
          <a:solidFill>
            <a:srgbClr val="FFF7D6"/>
          </a:solidFill>
          <a:ln>
            <a:noFill/>
          </a:ln>
          <a:effectLst/>
        </p:spPr>
        <p:txBody>
          <a:bodyPr rtlCol="0" anchor="ctr"/>
          <a:lstStyle/>
          <a:p/>
        </p:txBody>
      </p:sp>
      <p:sp>
        <p:nvSpPr>
          <p:cNvPr id="70" name="TextBox 69"/>
          <p:cNvSpPr txBox="1"/>
          <p:nvPr/>
        </p:nvSpPr>
        <p:spPr>
          <a:xfrm>
            <a:off x="9509760" y="8549640"/>
            <a:ext cx="7955279" cy="960120"/>
          </a:xfrm>
          <a:prstGeom prst="rect">
            <a:avLst/>
          </a:prstGeom>
          <a:noFill/>
        </p:spPr>
        <p:txBody>
          <a:bodyPr wrap="square" lIns="0" rIns="0" tIns="18288" bIns="18288" anchor="ctr">
            <a:spAutoFit/>
          </a:bodyPr>
          <a:lstStyle/>
          <a:p>
            <a:pPr algn="l"/>
            <a:r>
              <a:rPr sz="1500" b="1" i="0">
                <a:solidFill>
                  <a:srgbClr val="1B3A7A"/>
                </a:solidFill>
                <a:latin typeface="Arial"/>
              </a:rPr>
              <a:t>Our ask: </a:t>
            </a:r>
            <a:r>
              <a:rPr sz="1500" b="0" i="0">
                <a:solidFill>
                  <a:srgbClr val="1F2937"/>
                </a:solidFill>
                <a:latin typeface="Arial"/>
              </a:rPr>
              <a:t>one pilot partner (a State PCB or city) to review our first entries with 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DAHWTMiBfKU</dc:identifier>
  <dcterms:modified xsi:type="dcterms:W3CDTF">2011-08-01T06:04:30Z</dcterms:modified>
  <cp:revision>1</cp:revision>
  <dc:title>Sustainathon_2026_PPT_Template.pptx</dc:title>
</cp:coreProperties>
</file>